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787" r:id="rId2"/>
    <p:sldId id="4082" r:id="rId3"/>
    <p:sldId id="257" r:id="rId4"/>
    <p:sldId id="640" r:id="rId5"/>
    <p:sldId id="745" r:id="rId6"/>
    <p:sldId id="537" r:id="rId7"/>
    <p:sldId id="1026" r:id="rId8"/>
    <p:sldId id="4080" r:id="rId9"/>
    <p:sldId id="4078" r:id="rId10"/>
    <p:sldId id="4079" r:id="rId11"/>
    <p:sldId id="730" r:id="rId12"/>
    <p:sldId id="794" r:id="rId13"/>
    <p:sldId id="4081" r:id="rId14"/>
    <p:sldId id="4083" r:id="rId15"/>
    <p:sldId id="4084" r:id="rId16"/>
    <p:sldId id="310" r:id="rId17"/>
    <p:sldId id="267" r:id="rId18"/>
    <p:sldId id="740" r:id="rId19"/>
    <p:sldId id="732" r:id="rId20"/>
    <p:sldId id="7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9557A-A792-41B4-AA88-69763C986AD6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D0731-0998-4C4E-B842-AC1ADE9F96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906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28612D-4A24-43EE-A96C-C9D690378834}" type="slidenum">
              <a:rPr lang="en-US" altLang="en-US" smtClean="0">
                <a:latin typeface="Tahoma" panose="020B0604030504040204" pitchFamily="34" charset="0"/>
              </a:rPr>
              <a:pPr/>
              <a:t>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301363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F4FE75-46C7-4E5A-8A85-ADBEE0043BA4}" type="slidenum">
              <a:rPr lang="en-US" altLang="en-US" smtClean="0">
                <a:latin typeface="Tahoma" panose="020B0604030504040204" pitchFamily="34" charset="0"/>
              </a:rPr>
              <a:pPr/>
              <a:t>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643406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DF47-4F5F-623D-52C4-6F9B6DCA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2A492D9-8287-D577-C630-20B1A6EBE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F4FE75-46C7-4E5A-8A85-ADBEE0043BA4}" type="slidenum">
              <a:rPr lang="en-US" altLang="en-US" smtClean="0">
                <a:latin typeface="Tahoma" panose="020B0604030504040204" pitchFamily="34" charset="0"/>
              </a:rPr>
              <a:pPr/>
              <a:t>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F28C5A27-3341-116C-339D-19EC7FFBDF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6EA990B-023C-C0CA-37F1-23C10B7B5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26533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AB79-D4C1-8382-DCA1-C55B4814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B69D6A7-214B-E710-90B6-EB5240E8AC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F4FE75-46C7-4E5A-8A85-ADBEE0043BA4}" type="slidenum">
              <a:rPr lang="en-US" altLang="en-US" smtClean="0">
                <a:latin typeface="Tahoma" panose="020B0604030504040204" pitchFamily="34" charset="0"/>
              </a:rPr>
              <a:pPr/>
              <a:t>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BF1881F-52FB-F799-4430-3CDE86829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13BE6D32-168A-0649-9820-0A67C7085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235797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A02E-9997-9AB8-A228-CEB35FB0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8CE555B-4698-6DF4-0154-1697F3AB3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F4FE75-46C7-4E5A-8A85-ADBEE0043BA4}" type="slidenum">
              <a:rPr lang="en-US" altLang="en-US" smtClean="0">
                <a:latin typeface="Tahoma" panose="020B0604030504040204" pitchFamily="34" charset="0"/>
              </a:rPr>
              <a:pPr/>
              <a:t>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EEEFB7C-83B0-EA3D-E0CF-0710A96FC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9C6878A-0D1D-2C7B-7FF3-7DB0C17E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03711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F4DB55-F5B1-46E7-A65B-3D28947EB854}" type="slidenum">
              <a:rPr lang="en-US" altLang="en-US" smtClean="0">
                <a:latin typeface="Tahoma" panose="020B0604030504040204" pitchFamily="34" charset="0"/>
              </a:rPr>
              <a:pPr/>
              <a:t>11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775" y="752475"/>
            <a:ext cx="6677025" cy="3756025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759325"/>
            <a:ext cx="5507038" cy="4506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924570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4D04C7-7CEC-4840-846D-9010640D5381}" type="slidenum">
              <a:rPr lang="en-US" altLang="en-US" smtClean="0">
                <a:latin typeface="Tahoma" panose="020B0604030504040204" pitchFamily="34" charset="0"/>
              </a:rPr>
              <a:pPr/>
              <a:t>12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1092174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8009E6-4E7E-4EA1-A155-EC78B16EB1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838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0A663D-5C62-4866-8783-16EF9C1E8229}" type="slidenum">
              <a:rPr kumimoji="0" lang="en-US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kumimoji="0" lang="en-US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799697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278706-E5BC-43C1-9D9C-92B50C3C4FD2}" type="slidenum">
              <a:rPr lang="en-US" altLang="en-US" smtClean="0">
                <a:solidFill>
                  <a:srgbClr val="000000"/>
                </a:solidFill>
                <a:latin typeface="Tahoma" panose="020B0604030504040204" pitchFamily="34" charset="0"/>
              </a:rPr>
              <a:pPr/>
              <a:t>19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75" name="Rectangle 7"/>
          <p:cNvSpPr txBox="1">
            <a:spLocks noGrp="1" noChangeArrowheads="1"/>
          </p:cNvSpPr>
          <p:nvPr/>
        </p:nvSpPr>
        <p:spPr bwMode="auto">
          <a:xfrm>
            <a:off x="3884613" y="9518650"/>
            <a:ext cx="297021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596" tIns="46799" rIns="93596" bIns="46799" anchor="b"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A280EB6-8348-45CD-AF90-F421EFED3330}" type="slidenum">
              <a:rPr lang="en-US" altLang="en-US" sz="1300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19</a:t>
            </a:fld>
            <a:endParaRPr lang="en-US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1469371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 noChangeArrowheads="1"/>
          </p:cNvSpPr>
          <p:nvPr/>
        </p:nvSpPr>
        <p:spPr bwMode="auto">
          <a:xfrm>
            <a:off x="3884613" y="9518650"/>
            <a:ext cx="297021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596" tIns="46799" rIns="93596" bIns="46799" anchor="b"/>
          <a:lstStyle>
            <a:lvl1pPr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50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5CC4357-4F50-453A-9EBE-BDAA74CF3372}" type="slidenum">
              <a:rPr lang="en-US" altLang="en-US" sz="1300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20</a:t>
            </a:fld>
            <a:endParaRPr lang="en-US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14375"/>
            <a:ext cx="6767513" cy="3806825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68091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1C14-B4D5-4C80-2771-23871C349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CBF84-2093-9699-F598-709177CB8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B779B-75FA-4BA5-5406-D2CDE727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1252-E92D-748C-92A8-AF462D2E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A8F7A-4FBF-1E7B-CE69-EA7C0D62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823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2863-5B8C-93BB-2F51-02F236F4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7959-0E5F-FFF6-D31A-A00CFEBC8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F2CE0-D6EE-88F0-DE96-17D11DDC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A43FB-D115-08C1-3248-D70E09D6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E35A3-D3F0-43A6-9A61-4C140B2D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458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A10C-D96C-6166-6102-9AC7EFE1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E0507-B31E-9F3B-2280-44E015075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3073A-3E8B-534D-79A6-37C5F261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D638-166A-9B76-7087-E145A231E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B2D4-FFD8-2954-6281-D96E7F90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839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4C78-08BF-DB0F-57D4-8F93191A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259F-2B04-5008-E23A-9379D1EEF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52EAA-5246-ACA2-D702-79DD4973C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74B06-19FB-8B82-8484-3C3BDE06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3E335-ACF0-2BF2-12D1-0438B4BC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A9476-4BEB-5011-9DA6-37D4827D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802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BF0C-F601-C485-98A8-66340C45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9EA1-494B-4DAB-8F0E-090BF3ABE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C2E15-BDD6-1BD2-C3B1-06866B72C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E513C-513A-7A6D-58CB-2D9B14BFD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9AF0F-E8FA-4494-9464-15BB98DB0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C92EE-D28D-E892-9930-88F003CD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FBC17-077E-ECF1-2594-0B3A9A56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B9CFD-75D8-6B30-C390-0C73A51A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517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D00D-A9BE-F124-0E28-08459240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C70E7-0039-C303-4D39-8EDDD575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8A93B-A604-A6DD-F105-310A5074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99A24-7385-A6A9-CE9C-F45D8073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246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A118E-3A50-8CAD-424C-C43D97AF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4D02B-B5F3-F869-2761-1BC57BE3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45EFE-CA8A-BAB1-936B-CD995F2D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8689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B462-5955-D064-D806-361055BF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B0BC2-C77E-923B-57B1-8F3DCDF24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A6FB9-7A53-54B1-5BFC-888027964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5C56-22CE-92C3-47C7-44BCC56CB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4C793-398D-53C4-C35E-CD0D6B6D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B29AC-86BE-0275-E115-559C63D7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819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41F9-A0F6-0FC6-7BC3-38CF8FE2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38CA6-4B86-BD18-4B6B-AABF755B4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A3A9F-4542-AF07-05B7-859E41032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05F19-1EA2-21E8-6771-73CBDAAE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F1C47-8D52-E01E-C497-43689BC0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62A1E-FCAD-F835-E2BA-E2AB0652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590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093B-25F1-6A4E-A3C4-42B06EC0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B0071-F60C-32FC-B845-A60B129E7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63D14-BF87-09C7-6B97-39A81867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5CE0E-9786-0EE1-6BAC-E33D118B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8779-CFC6-1D04-DDD2-677CBA54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855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12373-D1CF-3805-BB82-2C5F50C90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1EB8A-AF5A-3FE1-3776-EA52770A4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A5787-EDD2-2E63-B4DA-5D64F59D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57C7-3E67-B4FD-5C57-478F97C1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3E05D-9916-D795-7BF2-016EC515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407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41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E8F38-F46B-1674-C2D0-4A08449C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789A9-CF25-3D75-B147-69803206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F9C4A-9B8C-F904-0498-AECD2391F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52FC2-459D-4F37-BC73-224797A53530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18E43-863E-5049-38DB-B5219BFD5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4EC53-A41B-6ACD-8B22-F0FEF8C11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4382A-6963-419B-A9FD-DEE3F3AF5AB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139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.png"/><Relationship Id="rId2" Type="http://schemas.openxmlformats.org/officeDocument/2006/relationships/hyperlink" Target="https://www.tedpella.com/calibration_html/SEM_Resolution_Test_Specimens_Tin_on_Carbon.aspx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jpeg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0339" y="1936297"/>
            <a:ext cx="12160102" cy="2091447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altLang="en-US" sz="4800" b="1" dirty="0">
                <a:solidFill>
                  <a:srgbClr val="FF0000"/>
                </a:solidFill>
              </a:rPr>
              <a:t>Unique </a:t>
            </a:r>
            <a:r>
              <a:rPr lang="en-US" altLang="en-US" sz="4800" b="1" dirty="0"/>
              <a:t>Resolution Standard Kit </a:t>
            </a:r>
            <a:br>
              <a:rPr lang="en-US" altLang="en-US" sz="4800" b="1" dirty="0"/>
            </a:br>
            <a:r>
              <a:rPr lang="en-US" altLang="en-US" sz="4800" b="1" dirty="0"/>
              <a:t>Fabricated by Proton Beam</a:t>
            </a:r>
            <a:br>
              <a:rPr lang="en-US" altLang="en-US" sz="4800" b="1" dirty="0"/>
            </a:br>
            <a:r>
              <a:rPr lang="en-US" altLang="en-US" sz="4800" b="1" dirty="0"/>
              <a:t> </a:t>
            </a:r>
            <a:br>
              <a:rPr lang="en-US" altLang="en-US" sz="4800" b="1" dirty="0"/>
            </a:br>
            <a:r>
              <a:rPr lang="en-US" altLang="en-US" sz="4800" b="1" dirty="0"/>
              <a:t>-Facilitates</a:t>
            </a:r>
            <a:r>
              <a:rPr lang="en-US" altLang="en-US" sz="4800" b="1" dirty="0">
                <a:solidFill>
                  <a:srgbClr val="FF0000"/>
                </a:solidFill>
              </a:rPr>
              <a:t> </a:t>
            </a:r>
            <a:r>
              <a:rPr lang="en-US" altLang="en-US" sz="4800" b="1" dirty="0"/>
              <a:t>Accurate &amp; Fast Beam Size Measurements</a:t>
            </a:r>
            <a:endParaRPr lang="en-US" altLang="en-US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442C8-AB4D-7C91-7B82-57905E50E90E}"/>
              </a:ext>
            </a:extLst>
          </p:cNvPr>
          <p:cNvSpPr txBox="1"/>
          <p:nvPr/>
        </p:nvSpPr>
        <p:spPr>
          <a:xfrm>
            <a:off x="3161212" y="5179780"/>
            <a:ext cx="6357257" cy="39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 b="1" u="sng" dirty="0"/>
              <a:t>Prof Jeroen van Kan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24AECE-39FB-58EA-B792-68CB46B1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06" r="12821"/>
          <a:stretch>
            <a:fillRect/>
          </a:stretch>
        </p:blipFill>
        <p:spPr>
          <a:xfrm>
            <a:off x="9033738" y="4713"/>
            <a:ext cx="3107923" cy="174148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EEC2FCC-C58F-D242-916B-61A08EEC6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840"/>
          <a:stretch>
            <a:fillRect/>
          </a:stretch>
        </p:blipFill>
        <p:spPr>
          <a:xfrm>
            <a:off x="23553" y="-9144"/>
            <a:ext cx="3267003" cy="1746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A169-BF28-2C3E-634B-98287881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Background Inventor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E0A3D-20E8-1067-9B11-1BE404C624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48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 b="1" u="sng" dirty="0"/>
              <a:t>Prof Jeroen van Kan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en-US" sz="24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Director of Centre for Ion Beam Applications a collaborative Center to the IAEA 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Vice President of the Microscopy Society Singapore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Deputy Director for the Engineering Science Programme, NUS 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Member of the editorial board of Microelectronic Engineering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Department of Physics 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National University of Singapore (NUS)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dirty="0"/>
              <a:t>E-mail: Phyjavk@nus.edu.sg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C18932-A429-3BDA-2C59-AC0C67517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D59953-BDDA-A10E-1AD3-1A375C93B8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395B6A74-827A-BA68-FD10-A2232D06EE41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753610E-DCF7-9DE1-ACCD-933B196CBC9F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63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AC24-2215-A9C9-7504-8B25EAE1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D15EEA-2E9E-AB3C-D4C2-8132A8671EB0}"/>
              </a:ext>
            </a:extLst>
          </p:cNvPr>
          <p:cNvSpPr/>
          <p:nvPr/>
        </p:nvSpPr>
        <p:spPr>
          <a:xfrm>
            <a:off x="130802" y="946806"/>
            <a:ext cx="4635426" cy="50446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F336F96-927A-C8F8-E7B8-C7BC4A995CA0}"/>
              </a:ext>
            </a:extLst>
          </p:cNvPr>
          <p:cNvSpPr>
            <a:spLocks noGrp="1"/>
          </p:cNvSpPr>
          <p:nvPr/>
        </p:nvSpPr>
        <p:spPr>
          <a:xfrm>
            <a:off x="2999232" y="93464"/>
            <a:ext cx="6484401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4000" b="1" dirty="0"/>
              <a:t>Resolution Standard  Kit</a:t>
            </a:r>
            <a:endParaRPr lang="en-US" sz="4000" b="1" dirty="0"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9928754B-4795-919D-4AB4-6503E5CABEC1}"/>
              </a:ext>
            </a:extLst>
          </p:cNvPr>
          <p:cNvSpPr txBox="1"/>
          <p:nvPr/>
        </p:nvSpPr>
        <p:spPr>
          <a:xfrm>
            <a:off x="146164" y="6389418"/>
            <a:ext cx="1180504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[1] </a:t>
            </a:r>
            <a:r>
              <a:rPr lang="en-SG" sz="1000" dirty="0">
                <a:hlinkClick r:id="rId2"/>
              </a:rPr>
              <a:t>https://www.tedpella.com/calibration_html/SEM_Resolution_Test_Specimens_Tin_on_Carbon.aspx</a:t>
            </a:r>
            <a:endParaRPr lang="en-SG" sz="1000" dirty="0"/>
          </a:p>
          <a:p>
            <a:r>
              <a:rPr lang="en-SG" sz="1000" dirty="0"/>
              <a:t>[2] Y. Yao et al. Improved beam spot measurements in the 2nd generation proton beam writing system (2013)</a:t>
            </a: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44C41015-94F9-F19B-7090-4E2D2FECB427}"/>
              </a:ext>
            </a:extLst>
          </p:cNvPr>
          <p:cNvSpPr txBox="1"/>
          <p:nvPr/>
        </p:nvSpPr>
        <p:spPr>
          <a:xfrm>
            <a:off x="241436" y="946806"/>
            <a:ext cx="45727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000" b="1" u="sng" dirty="0"/>
              <a:t>Overview</a:t>
            </a:r>
          </a:p>
          <a:p>
            <a:pPr algn="ctr"/>
            <a:endParaRPr lang="en-SG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Used for calibrating and characterising spatial resolution and scan dimensions of imaging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Requirements for charged-particles imaging include high spatial resolution, precise beam spot size measurement with low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Two kinds of resolution standards: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2000" b="1" dirty="0"/>
              <a:t>Spherical</a:t>
            </a:r>
            <a:r>
              <a:rPr lang="en-SG" sz="2000" dirty="0"/>
              <a:t> with sizes ranging from a few nm to hundreds of nm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2000" b="1" dirty="0"/>
              <a:t>Grid</a:t>
            </a:r>
            <a:r>
              <a:rPr lang="en-SG" sz="2000" dirty="0"/>
              <a:t> with periodic patterns</a:t>
            </a:r>
          </a:p>
        </p:txBody>
      </p:sp>
      <p:pic>
        <p:nvPicPr>
          <p:cNvPr id="1026" name="Picture 2" descr="tin on carbon standard">
            <a:extLst>
              <a:ext uri="{FF2B5EF4-FFF2-40B4-BE49-F238E27FC236}">
                <a16:creationId xmlns:a16="http://schemas.microsoft.com/office/drawing/2014/main" id="{93B1CC83-12C1-15FF-F641-C0B742831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540" y="973259"/>
            <a:ext cx="2391256" cy="171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6DD2310-F758-7861-7FA0-471B104F3D11}"/>
              </a:ext>
            </a:extLst>
          </p:cNvPr>
          <p:cNvSpPr txBox="1">
            <a:spLocks/>
          </p:cNvSpPr>
          <p:nvPr/>
        </p:nvSpPr>
        <p:spPr>
          <a:xfrm>
            <a:off x="4707060" y="2746825"/>
            <a:ext cx="265330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Commercial spherical tin balls [1]</a:t>
            </a:r>
            <a:endParaRPr lang="en-SG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95C9F6-F566-7AB7-4019-9CCDC1731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957" y="973630"/>
            <a:ext cx="4705147" cy="40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EF7BF4B-3913-5EF0-0B77-110FC5B1D488}"/>
              </a:ext>
            </a:extLst>
          </p:cNvPr>
          <p:cNvSpPr txBox="1">
            <a:spLocks/>
          </p:cNvSpPr>
          <p:nvPr/>
        </p:nvSpPr>
        <p:spPr>
          <a:xfrm>
            <a:off x="8276727" y="5223541"/>
            <a:ext cx="265330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Nickel grids [2]</a:t>
            </a:r>
            <a:endParaRPr lang="en-SG" sz="1200" dirty="0"/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99755135-9DB3-D1F4-B243-6FC43E3D3561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8B8AA77-41C4-53B2-BDD2-96310AD6F926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7B6DE3C4-6954-54BC-EC0E-311BADE339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F0730F2-0E39-E4A4-A67C-BFA9F97A52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5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ABA71BF0-36A1-0849-C1E5-C2FDE6AAA3D3}"/>
              </a:ext>
            </a:extLst>
          </p:cNvPr>
          <p:cNvSpPr txBox="1">
            <a:spLocks/>
          </p:cNvSpPr>
          <p:nvPr/>
        </p:nvSpPr>
        <p:spPr>
          <a:xfrm>
            <a:off x="1069848" y="134821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Interactions of MeV Light Ions With Matter</a:t>
            </a: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0B1AD6F2-62E9-16CA-F66D-180F1736AC56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EDAA4F5-D904-3B2D-E285-401D42AA7A3A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0" name="TextBox 64">
            <a:extLst>
              <a:ext uri="{FF2B5EF4-FFF2-40B4-BE49-F238E27FC236}">
                <a16:creationId xmlns:a16="http://schemas.microsoft.com/office/drawing/2014/main" id="{8D35741C-AB76-CC90-66CE-07DBD5C92E0E}"/>
              </a:ext>
            </a:extLst>
          </p:cNvPr>
          <p:cNvSpPr txBox="1"/>
          <p:nvPr/>
        </p:nvSpPr>
        <p:spPr>
          <a:xfrm>
            <a:off x="7378508" y="821032"/>
            <a:ext cx="504656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000" b="1" u="sng" dirty="0"/>
              <a:t>Advantages of Our Standards</a:t>
            </a:r>
            <a:endParaRPr lang="en-US" sz="2000" dirty="0"/>
          </a:p>
        </p:txBody>
      </p:sp>
      <p:sp>
        <p:nvSpPr>
          <p:cNvPr id="31" name="TextBox 65">
            <a:extLst>
              <a:ext uri="{FF2B5EF4-FFF2-40B4-BE49-F238E27FC236}">
                <a16:creationId xmlns:a16="http://schemas.microsoft.com/office/drawing/2014/main" id="{6AEF83F1-B786-1A26-8428-CEA538C2EC45}"/>
              </a:ext>
            </a:extLst>
          </p:cNvPr>
          <p:cNvSpPr txBox="1"/>
          <p:nvPr/>
        </p:nvSpPr>
        <p:spPr>
          <a:xfrm>
            <a:off x="7884306" y="3521596"/>
            <a:ext cx="4153599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CIBA’s Proton Beam Writing (PBW) able to produce grids with straight side walls [5]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Side wall angle </a:t>
            </a:r>
            <a:r>
              <a:rPr lang="en-SG" sz="2000" b="1" dirty="0"/>
              <a:t>~89.9°</a:t>
            </a:r>
            <a:r>
              <a:rPr lang="en-SG" sz="2000" dirty="0"/>
              <a:t>, much better than industry standard of </a:t>
            </a:r>
            <a:r>
              <a:rPr lang="en-SG" sz="2000" b="1" dirty="0"/>
              <a:t>~88.5° </a:t>
            </a:r>
            <a:r>
              <a:rPr lang="en-SG" sz="2000" dirty="0"/>
              <a:t>[1]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6909663-BD30-EF41-0017-0C9A733A1B17}"/>
              </a:ext>
            </a:extLst>
          </p:cNvPr>
          <p:cNvGrpSpPr/>
          <p:nvPr/>
        </p:nvGrpSpPr>
        <p:grpSpPr>
          <a:xfrm>
            <a:off x="8657548" y="1347894"/>
            <a:ext cx="2732299" cy="1837867"/>
            <a:chOff x="3687599" y="1448770"/>
            <a:chExt cx="4816802" cy="3240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7B3343-5EAF-1062-0A13-64A56B4BFC60}"/>
                </a:ext>
              </a:extLst>
            </p:cNvPr>
            <p:cNvSpPr/>
            <p:nvPr/>
          </p:nvSpPr>
          <p:spPr>
            <a:xfrm>
              <a:off x="3687599" y="2527978"/>
              <a:ext cx="4816800" cy="2160000"/>
            </a:xfrm>
            <a:prstGeom prst="rect">
              <a:avLst/>
            </a:prstGeom>
            <a:solidFill>
              <a:schemeClr val="bg1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40F744B-BA3D-9A44-0CAA-DC101F7C8040}"/>
                </a:ext>
              </a:extLst>
            </p:cNvPr>
            <p:cNvSpPr/>
            <p:nvPr/>
          </p:nvSpPr>
          <p:spPr>
            <a:xfrm>
              <a:off x="3687600" y="1448770"/>
              <a:ext cx="4816800" cy="1080000"/>
            </a:xfrm>
            <a:prstGeom prst="rect">
              <a:avLst/>
            </a:prstGeom>
            <a:solidFill>
              <a:srgbClr val="FAF8CB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11A6DD-ECB7-BA48-EB66-1BDBB753A37B}"/>
                </a:ext>
              </a:extLst>
            </p:cNvPr>
            <p:cNvSpPr txBox="1"/>
            <p:nvPr/>
          </p:nvSpPr>
          <p:spPr>
            <a:xfrm>
              <a:off x="4120735" y="1564703"/>
              <a:ext cx="1080153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2 MeV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Protons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6FC052-6DCB-7C38-DF33-68D1D7BE1F47}"/>
                </a:ext>
              </a:extLst>
            </p:cNvPr>
            <p:cNvSpPr/>
            <p:nvPr/>
          </p:nvSpPr>
          <p:spPr>
            <a:xfrm>
              <a:off x="3687601" y="1448770"/>
              <a:ext cx="4816800" cy="324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FE5C1F-22D8-A68E-BBC6-6DDC788E0D7E}"/>
                </a:ext>
              </a:extLst>
            </p:cNvPr>
            <p:cNvSpPr txBox="1"/>
            <p:nvPr/>
          </p:nvSpPr>
          <p:spPr>
            <a:xfrm>
              <a:off x="5404504" y="1564703"/>
              <a:ext cx="1383000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50 keV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Heavy Ions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F7BF1B-5615-0543-413E-8D8B6BF99764}"/>
                </a:ext>
              </a:extLst>
            </p:cNvPr>
            <p:cNvSpPr txBox="1"/>
            <p:nvPr/>
          </p:nvSpPr>
          <p:spPr>
            <a:xfrm>
              <a:off x="6911549" y="1564703"/>
              <a:ext cx="1245596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50 keV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Electrons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6158658-EC78-95C5-C414-1991F34DD20F}"/>
                </a:ext>
              </a:extLst>
            </p:cNvPr>
            <p:cNvSpPr/>
            <p:nvPr/>
          </p:nvSpPr>
          <p:spPr>
            <a:xfrm>
              <a:off x="5916000" y="2527979"/>
              <a:ext cx="360000" cy="180000"/>
            </a:xfrm>
            <a:prstGeom prst="rect">
              <a:avLst/>
            </a:prstGeom>
            <a:solidFill>
              <a:srgbClr val="FAF8CB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F4D891A-44EF-47DB-8AA6-BD3036281C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089700"/>
              <a:ext cx="0" cy="4320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B9D4F9-AB1A-D7A7-4CC5-334510FA5207}"/>
                </a:ext>
              </a:extLst>
            </p:cNvPr>
            <p:cNvSpPr/>
            <p:nvPr/>
          </p:nvSpPr>
          <p:spPr>
            <a:xfrm>
              <a:off x="6194965" y="2176086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B638077-4EF9-FAFF-A31C-32DEB36EC1A3}"/>
                </a:ext>
              </a:extLst>
            </p:cNvPr>
            <p:cNvSpPr/>
            <p:nvPr/>
          </p:nvSpPr>
          <p:spPr>
            <a:xfrm>
              <a:off x="6262278" y="228536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944155D-6A5E-5E23-582E-28427F696158}"/>
                </a:ext>
              </a:extLst>
            </p:cNvPr>
            <p:cNvSpPr/>
            <p:nvPr/>
          </p:nvSpPr>
          <p:spPr>
            <a:xfrm>
              <a:off x="6132000" y="2274290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F34879-4B7D-B292-E507-C1E2E1473ED0}"/>
                </a:ext>
              </a:extLst>
            </p:cNvPr>
            <p:cNvSpPr/>
            <p:nvPr/>
          </p:nvSpPr>
          <p:spPr>
            <a:xfrm>
              <a:off x="6204000" y="2413701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9FAD587-C5CE-76F1-979D-21F5D8E9B2C0}"/>
                </a:ext>
              </a:extLst>
            </p:cNvPr>
            <p:cNvCxnSpPr>
              <a:cxnSpLocks/>
            </p:cNvCxnSpPr>
            <p:nvPr/>
          </p:nvCxnSpPr>
          <p:spPr>
            <a:xfrm>
              <a:off x="4655827" y="2089700"/>
              <a:ext cx="0" cy="432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C233065-FDF9-C2FB-5547-3D3AFF2324E7}"/>
                </a:ext>
              </a:extLst>
            </p:cNvPr>
            <p:cNvCxnSpPr>
              <a:cxnSpLocks/>
            </p:cNvCxnSpPr>
            <p:nvPr/>
          </p:nvCxnSpPr>
          <p:spPr>
            <a:xfrm>
              <a:off x="7534347" y="2089700"/>
              <a:ext cx="0" cy="432000"/>
            </a:xfrm>
            <a:prstGeom prst="straightConnector1">
              <a:avLst/>
            </a:prstGeom>
            <a:ln w="28575">
              <a:solidFill>
                <a:srgbClr val="00339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">
              <a:extLst>
                <a:ext uri="{FF2B5EF4-FFF2-40B4-BE49-F238E27FC236}">
                  <a16:creationId xmlns:a16="http://schemas.microsoft.com/office/drawing/2014/main" id="{F90B1851-B286-4D8E-0ABF-AA5AB9A45B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6" t="1249" r="6866" b="5209"/>
            <a:stretch/>
          </p:blipFill>
          <p:spPr bwMode="auto">
            <a:xfrm>
              <a:off x="4331629" y="2523401"/>
              <a:ext cx="647693" cy="2086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5">
              <a:extLst>
                <a:ext uri="{FF2B5EF4-FFF2-40B4-BE49-F238E27FC236}">
                  <a16:creationId xmlns:a16="http://schemas.microsoft.com/office/drawing/2014/main" id="{52077488-1BA7-2CC6-B515-0A45D53B26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8" r="13303"/>
            <a:stretch/>
          </p:blipFill>
          <p:spPr bwMode="auto">
            <a:xfrm>
              <a:off x="6509930" y="2532158"/>
              <a:ext cx="1918269" cy="1591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8ABE9A6-6409-24A6-CBF8-07C6877880E5}"/>
                </a:ext>
              </a:extLst>
            </p:cNvPr>
            <p:cNvCxnSpPr>
              <a:cxnSpLocks/>
            </p:cNvCxnSpPr>
            <p:nvPr/>
          </p:nvCxnSpPr>
          <p:spPr>
            <a:xfrm>
              <a:off x="5916000" y="2715026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93268A-170C-31DE-7669-7B4416CA8855}"/>
                </a:ext>
              </a:extLst>
            </p:cNvPr>
            <p:cNvCxnSpPr>
              <a:cxnSpLocks/>
            </p:cNvCxnSpPr>
            <p:nvPr/>
          </p:nvCxnSpPr>
          <p:spPr>
            <a:xfrm>
              <a:off x="3687599" y="2527978"/>
              <a:ext cx="222840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5405D85-FE23-03E4-701B-8F88786B9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6000" y="2527978"/>
              <a:ext cx="0" cy="1881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5ACDAB8C-D4B0-7B8E-61D5-3DFF2EE7DE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000" y="2527978"/>
              <a:ext cx="0" cy="1881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FF43AD60-0BEA-95A2-C4BC-69B23EBD3178}"/>
                </a:ext>
              </a:extLst>
            </p:cNvPr>
            <p:cNvCxnSpPr>
              <a:cxnSpLocks/>
            </p:cNvCxnSpPr>
            <p:nvPr/>
          </p:nvCxnSpPr>
          <p:spPr>
            <a:xfrm>
              <a:off x="6275998" y="2527978"/>
              <a:ext cx="222840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D3E7C141-FCA7-1FC8-0BF3-5477CE5B646A}"/>
                </a:ext>
              </a:extLst>
            </p:cNvPr>
            <p:cNvCxnSpPr/>
            <p:nvPr/>
          </p:nvCxnSpPr>
          <p:spPr>
            <a:xfrm>
              <a:off x="4145281" y="2536920"/>
              <a:ext cx="0" cy="207335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1D335FC6-C7F1-F682-AA06-AEDD9F36E472}"/>
                </a:ext>
              </a:extLst>
            </p:cNvPr>
            <p:cNvSpPr txBox="1"/>
            <p:nvPr/>
          </p:nvSpPr>
          <p:spPr>
            <a:xfrm rot="16200000">
              <a:off x="3530725" y="3358238"/>
              <a:ext cx="925926" cy="430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60 µm</a:t>
              </a:r>
            </a:p>
          </p:txBody>
        </p:sp>
      </p:grpSp>
      <p:sp>
        <p:nvSpPr>
          <p:cNvPr id="1032" name="Text Placeholder 7">
            <a:extLst>
              <a:ext uri="{FF2B5EF4-FFF2-40B4-BE49-F238E27FC236}">
                <a16:creationId xmlns:a16="http://schemas.microsoft.com/office/drawing/2014/main" id="{53E44DEA-093F-2953-785C-3AC9A07EE0EE}"/>
              </a:ext>
            </a:extLst>
          </p:cNvPr>
          <p:cNvSpPr txBox="1">
            <a:spLocks/>
          </p:cNvSpPr>
          <p:nvPr/>
        </p:nvSpPr>
        <p:spPr>
          <a:xfrm>
            <a:off x="8147304" y="3227550"/>
            <a:ext cx="3474719" cy="283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Different particles interacting with medium [5]</a:t>
            </a:r>
            <a:endParaRPr lang="en-SG" sz="12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61B85A5-7778-C4A7-0F76-C9E7DD7664C0}"/>
              </a:ext>
            </a:extLst>
          </p:cNvPr>
          <p:cNvSpPr/>
          <p:nvPr/>
        </p:nvSpPr>
        <p:spPr>
          <a:xfrm>
            <a:off x="7745480" y="831377"/>
            <a:ext cx="4368018" cy="47131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1035" name="TextBox 17">
            <a:extLst>
              <a:ext uri="{FF2B5EF4-FFF2-40B4-BE49-F238E27FC236}">
                <a16:creationId xmlns:a16="http://schemas.microsoft.com/office/drawing/2014/main" id="{7C85700F-B361-67B8-D7BA-C69073D4722F}"/>
              </a:ext>
            </a:extLst>
          </p:cNvPr>
          <p:cNvSpPr txBox="1"/>
          <p:nvPr/>
        </p:nvSpPr>
        <p:spPr>
          <a:xfrm>
            <a:off x="142976" y="929353"/>
            <a:ext cx="599000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000" b="1" u="sng" dirty="0"/>
              <a:t>Resolution Determination Methods</a:t>
            </a:r>
          </a:p>
          <a:p>
            <a:pPr algn="ctr"/>
            <a:endParaRPr lang="en-SG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Edge Scanning</a:t>
            </a:r>
            <a:r>
              <a:rPr lang="en-SG" sz="2000" dirty="0"/>
              <a:t> scans edges of features, resulting line profile fitted using mathematical function to determine resolution [3]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2000" dirty="0"/>
              <a:t>Spherical RS relies on curvature at the side; Grids with </a:t>
            </a:r>
            <a:r>
              <a:rPr lang="en-SG" sz="2000" b="1" dirty="0">
                <a:solidFill>
                  <a:srgbClr val="FF0000"/>
                </a:solidFill>
              </a:rPr>
              <a:t>straight side-walls</a:t>
            </a:r>
            <a:r>
              <a:rPr lang="en-SG" sz="2000" b="1" dirty="0"/>
              <a:t> </a:t>
            </a:r>
            <a:r>
              <a:rPr lang="en-SG" sz="2000" dirty="0"/>
              <a:t>may perform better, eliminating error introduced by curvature of sphere</a:t>
            </a:r>
          </a:p>
          <a:p>
            <a:pPr lvl="1"/>
            <a:endParaRPr lang="en-SG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Gap Scanning </a:t>
            </a:r>
            <a:r>
              <a:rPr lang="en-SG" sz="2000" dirty="0"/>
              <a:t>scans gaps between adjacent features [4]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2000" dirty="0"/>
              <a:t>No fixed gap sizes for spherical RS, best resolution depends on smallest gap available; Edge Scanning with Grids only utilises </a:t>
            </a:r>
            <a:r>
              <a:rPr lang="en-SG" sz="2000" b="1" dirty="0">
                <a:solidFill>
                  <a:srgbClr val="FF0000"/>
                </a:solidFill>
              </a:rPr>
              <a:t>side-wall straightness</a:t>
            </a:r>
            <a:r>
              <a:rPr lang="en-SG" sz="2000" dirty="0"/>
              <a:t>, eliminating physical limits of gaps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064666-AE91-3732-A7AC-D04A7B0111B1}"/>
              </a:ext>
            </a:extLst>
          </p:cNvPr>
          <p:cNvSpPr/>
          <p:nvPr/>
        </p:nvSpPr>
        <p:spPr>
          <a:xfrm rot="5400000">
            <a:off x="6467301" y="2152870"/>
            <a:ext cx="473890" cy="1513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D075B1-548C-18FC-06AD-BD913B8CABEF}"/>
              </a:ext>
            </a:extLst>
          </p:cNvPr>
          <p:cNvCxnSpPr/>
          <p:nvPr/>
        </p:nvCxnSpPr>
        <p:spPr>
          <a:xfrm>
            <a:off x="6695130" y="2231042"/>
            <a:ext cx="2238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241716-401E-9A97-DC34-738D5A3C6130}"/>
              </a:ext>
            </a:extLst>
          </p:cNvPr>
          <p:cNvCxnSpPr/>
          <p:nvPr/>
        </p:nvCxnSpPr>
        <p:spPr>
          <a:xfrm>
            <a:off x="6534335" y="2999392"/>
            <a:ext cx="556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E801FA-E598-13A2-E011-75184CC0912E}"/>
              </a:ext>
            </a:extLst>
          </p:cNvPr>
          <p:cNvCxnSpPr>
            <a:cxnSpLocks/>
          </p:cNvCxnSpPr>
          <p:nvPr/>
        </p:nvCxnSpPr>
        <p:spPr>
          <a:xfrm flipV="1">
            <a:off x="6534335" y="2561242"/>
            <a:ext cx="0" cy="438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DED70A4-8757-F459-29DC-2011632CD0EB}"/>
              </a:ext>
            </a:extLst>
          </p:cNvPr>
          <p:cNvSpPr/>
          <p:nvPr/>
        </p:nvSpPr>
        <p:spPr>
          <a:xfrm>
            <a:off x="6534335" y="2699051"/>
            <a:ext cx="452438" cy="295578"/>
          </a:xfrm>
          <a:custGeom>
            <a:avLst/>
            <a:gdLst>
              <a:gd name="connsiteX0" fmla="*/ 0 w 452438"/>
              <a:gd name="connsiteY0" fmla="*/ 28878 h 295578"/>
              <a:gd name="connsiteX1" fmla="*/ 23813 w 452438"/>
              <a:gd name="connsiteY1" fmla="*/ 33641 h 295578"/>
              <a:gd name="connsiteX2" fmla="*/ 80963 w 452438"/>
              <a:gd name="connsiteY2" fmla="*/ 24116 h 295578"/>
              <a:gd name="connsiteX3" fmla="*/ 85725 w 452438"/>
              <a:gd name="connsiteY3" fmla="*/ 5066 h 295578"/>
              <a:gd name="connsiteX4" fmla="*/ 100013 w 452438"/>
              <a:gd name="connsiteY4" fmla="*/ 14591 h 295578"/>
              <a:gd name="connsiteX5" fmla="*/ 119063 w 452438"/>
              <a:gd name="connsiteY5" fmla="*/ 28878 h 295578"/>
              <a:gd name="connsiteX6" fmla="*/ 166688 w 452438"/>
              <a:gd name="connsiteY6" fmla="*/ 19353 h 295578"/>
              <a:gd name="connsiteX7" fmla="*/ 190500 w 452438"/>
              <a:gd name="connsiteY7" fmla="*/ 303 h 295578"/>
              <a:gd name="connsiteX8" fmla="*/ 228600 w 452438"/>
              <a:gd name="connsiteY8" fmla="*/ 9828 h 295578"/>
              <a:gd name="connsiteX9" fmla="*/ 238125 w 452438"/>
              <a:gd name="connsiteY9" fmla="*/ 166991 h 295578"/>
              <a:gd name="connsiteX10" fmla="*/ 242888 w 452438"/>
              <a:gd name="connsiteY10" fmla="*/ 286053 h 295578"/>
              <a:gd name="connsiteX11" fmla="*/ 261938 w 452438"/>
              <a:gd name="connsiteY11" fmla="*/ 290816 h 295578"/>
              <a:gd name="connsiteX12" fmla="*/ 280988 w 452438"/>
              <a:gd name="connsiteY12" fmla="*/ 286053 h 295578"/>
              <a:gd name="connsiteX13" fmla="*/ 295275 w 452438"/>
              <a:gd name="connsiteY13" fmla="*/ 281291 h 295578"/>
              <a:gd name="connsiteX14" fmla="*/ 319088 w 452438"/>
              <a:gd name="connsiteY14" fmla="*/ 290816 h 295578"/>
              <a:gd name="connsiteX15" fmla="*/ 338138 w 452438"/>
              <a:gd name="connsiteY15" fmla="*/ 295578 h 295578"/>
              <a:gd name="connsiteX16" fmla="*/ 352425 w 452438"/>
              <a:gd name="connsiteY16" fmla="*/ 281291 h 295578"/>
              <a:gd name="connsiteX17" fmla="*/ 419100 w 452438"/>
              <a:gd name="connsiteY17" fmla="*/ 281291 h 295578"/>
              <a:gd name="connsiteX18" fmla="*/ 452438 w 452438"/>
              <a:gd name="connsiteY18" fmla="*/ 290816 h 29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2438" h="295578">
                <a:moveTo>
                  <a:pt x="0" y="28878"/>
                </a:moveTo>
                <a:cubicBezTo>
                  <a:pt x="7938" y="30466"/>
                  <a:pt x="15718" y="33641"/>
                  <a:pt x="23813" y="33641"/>
                </a:cubicBezTo>
                <a:cubicBezTo>
                  <a:pt x="55710" y="33641"/>
                  <a:pt x="58609" y="31566"/>
                  <a:pt x="80963" y="24116"/>
                </a:cubicBezTo>
                <a:cubicBezTo>
                  <a:pt x="82550" y="17766"/>
                  <a:pt x="79871" y="7993"/>
                  <a:pt x="85725" y="5066"/>
                </a:cubicBezTo>
                <a:cubicBezTo>
                  <a:pt x="90845" y="2506"/>
                  <a:pt x="95355" y="11264"/>
                  <a:pt x="100013" y="14591"/>
                </a:cubicBezTo>
                <a:cubicBezTo>
                  <a:pt x="106472" y="19204"/>
                  <a:pt x="112713" y="24116"/>
                  <a:pt x="119063" y="28878"/>
                </a:cubicBezTo>
                <a:cubicBezTo>
                  <a:pt x="134938" y="25703"/>
                  <a:pt x="151657" y="25366"/>
                  <a:pt x="166688" y="19353"/>
                </a:cubicBezTo>
                <a:cubicBezTo>
                  <a:pt x="176126" y="15578"/>
                  <a:pt x="180453" y="1849"/>
                  <a:pt x="190500" y="303"/>
                </a:cubicBezTo>
                <a:cubicBezTo>
                  <a:pt x="203439" y="-1688"/>
                  <a:pt x="215900" y="6653"/>
                  <a:pt x="228600" y="9828"/>
                </a:cubicBezTo>
                <a:cubicBezTo>
                  <a:pt x="244598" y="73814"/>
                  <a:pt x="232703" y="20599"/>
                  <a:pt x="238125" y="166991"/>
                </a:cubicBezTo>
                <a:cubicBezTo>
                  <a:pt x="239595" y="206683"/>
                  <a:pt x="235387" y="247049"/>
                  <a:pt x="242888" y="286053"/>
                </a:cubicBezTo>
                <a:cubicBezTo>
                  <a:pt x="244124" y="292481"/>
                  <a:pt x="255588" y="289228"/>
                  <a:pt x="261938" y="290816"/>
                </a:cubicBezTo>
                <a:cubicBezTo>
                  <a:pt x="268288" y="289228"/>
                  <a:pt x="274694" y="287851"/>
                  <a:pt x="280988" y="286053"/>
                </a:cubicBezTo>
                <a:cubicBezTo>
                  <a:pt x="285815" y="284674"/>
                  <a:pt x="290294" y="280668"/>
                  <a:pt x="295275" y="281291"/>
                </a:cubicBezTo>
                <a:cubicBezTo>
                  <a:pt x="303758" y="282351"/>
                  <a:pt x="310978" y="288113"/>
                  <a:pt x="319088" y="290816"/>
                </a:cubicBezTo>
                <a:cubicBezTo>
                  <a:pt x="325298" y="292886"/>
                  <a:pt x="331788" y="293991"/>
                  <a:pt x="338138" y="295578"/>
                </a:cubicBezTo>
                <a:cubicBezTo>
                  <a:pt x="342900" y="290816"/>
                  <a:pt x="346577" y="284633"/>
                  <a:pt x="352425" y="281291"/>
                </a:cubicBezTo>
                <a:cubicBezTo>
                  <a:pt x="370425" y="271005"/>
                  <a:pt x="405248" y="279906"/>
                  <a:pt x="419100" y="281291"/>
                </a:cubicBezTo>
                <a:cubicBezTo>
                  <a:pt x="449181" y="291318"/>
                  <a:pt x="437635" y="290816"/>
                  <a:pt x="452438" y="2908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58D5D55-28A8-6810-D1E5-064FFEB47D8D}"/>
              </a:ext>
            </a:extLst>
          </p:cNvPr>
          <p:cNvSpPr/>
          <p:nvPr/>
        </p:nvSpPr>
        <p:spPr>
          <a:xfrm>
            <a:off x="6553795" y="4143185"/>
            <a:ext cx="387350" cy="3873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7EB7AD-6BCA-5CD9-9A22-7B76C7069833}"/>
              </a:ext>
            </a:extLst>
          </p:cNvPr>
          <p:cNvSpPr/>
          <p:nvPr/>
        </p:nvSpPr>
        <p:spPr>
          <a:xfrm>
            <a:off x="6711586" y="4545778"/>
            <a:ext cx="387350" cy="3873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3374DC-BFA0-1D41-2E47-7577BE138EB8}"/>
              </a:ext>
            </a:extLst>
          </p:cNvPr>
          <p:cNvCxnSpPr>
            <a:cxnSpLocks/>
          </p:cNvCxnSpPr>
          <p:nvPr/>
        </p:nvCxnSpPr>
        <p:spPr>
          <a:xfrm>
            <a:off x="6802458" y="4446268"/>
            <a:ext cx="72081" cy="189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0DFD1A-0A65-E9C6-0A1A-C76280490C25}"/>
              </a:ext>
            </a:extLst>
          </p:cNvPr>
          <p:cNvCxnSpPr/>
          <p:nvPr/>
        </p:nvCxnSpPr>
        <p:spPr>
          <a:xfrm>
            <a:off x="6632547" y="5441286"/>
            <a:ext cx="556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019A0C-1E64-5EDA-B824-6C24FBE35DFF}"/>
              </a:ext>
            </a:extLst>
          </p:cNvPr>
          <p:cNvCxnSpPr>
            <a:cxnSpLocks/>
          </p:cNvCxnSpPr>
          <p:nvPr/>
        </p:nvCxnSpPr>
        <p:spPr>
          <a:xfrm flipV="1">
            <a:off x="6632547" y="5003136"/>
            <a:ext cx="0" cy="438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CBFBC8E-4791-26C8-57F2-10DD884048DD}"/>
              </a:ext>
            </a:extLst>
          </p:cNvPr>
          <p:cNvSpPr/>
          <p:nvPr/>
        </p:nvSpPr>
        <p:spPr>
          <a:xfrm>
            <a:off x="6624123" y="5162552"/>
            <a:ext cx="482600" cy="273050"/>
          </a:xfrm>
          <a:custGeom>
            <a:avLst/>
            <a:gdLst>
              <a:gd name="connsiteX0" fmla="*/ 0 w 482600"/>
              <a:gd name="connsiteY0" fmla="*/ 15875 h 273050"/>
              <a:gd name="connsiteX1" fmla="*/ 28575 w 482600"/>
              <a:gd name="connsiteY1" fmla="*/ 12700 h 273050"/>
              <a:gd name="connsiteX2" fmla="*/ 38100 w 482600"/>
              <a:gd name="connsiteY2" fmla="*/ 9525 h 273050"/>
              <a:gd name="connsiteX3" fmla="*/ 57150 w 482600"/>
              <a:gd name="connsiteY3" fmla="*/ 19050 h 273050"/>
              <a:gd name="connsiteX4" fmla="*/ 76200 w 482600"/>
              <a:gd name="connsiteY4" fmla="*/ 0 h 273050"/>
              <a:gd name="connsiteX5" fmla="*/ 111125 w 482600"/>
              <a:gd name="connsiteY5" fmla="*/ 15875 h 273050"/>
              <a:gd name="connsiteX6" fmla="*/ 155575 w 482600"/>
              <a:gd name="connsiteY6" fmla="*/ 12700 h 273050"/>
              <a:gd name="connsiteX7" fmla="*/ 158750 w 482600"/>
              <a:gd name="connsiteY7" fmla="*/ 25400 h 273050"/>
              <a:gd name="connsiteX8" fmla="*/ 165100 w 482600"/>
              <a:gd name="connsiteY8" fmla="*/ 85725 h 273050"/>
              <a:gd name="connsiteX9" fmla="*/ 168275 w 482600"/>
              <a:gd name="connsiteY9" fmla="*/ 98425 h 273050"/>
              <a:gd name="connsiteX10" fmla="*/ 174625 w 482600"/>
              <a:gd name="connsiteY10" fmla="*/ 111125 h 273050"/>
              <a:gd name="connsiteX11" fmla="*/ 187325 w 482600"/>
              <a:gd name="connsiteY11" fmla="*/ 215900 h 273050"/>
              <a:gd name="connsiteX12" fmla="*/ 190500 w 482600"/>
              <a:gd name="connsiteY12" fmla="*/ 257175 h 273050"/>
              <a:gd name="connsiteX13" fmla="*/ 193675 w 482600"/>
              <a:gd name="connsiteY13" fmla="*/ 266700 h 273050"/>
              <a:gd name="connsiteX14" fmla="*/ 212725 w 482600"/>
              <a:gd name="connsiteY14" fmla="*/ 269875 h 273050"/>
              <a:gd name="connsiteX15" fmla="*/ 222250 w 482600"/>
              <a:gd name="connsiteY15" fmla="*/ 263525 h 273050"/>
              <a:gd name="connsiteX16" fmla="*/ 254000 w 482600"/>
              <a:gd name="connsiteY16" fmla="*/ 273050 h 273050"/>
              <a:gd name="connsiteX17" fmla="*/ 295275 w 482600"/>
              <a:gd name="connsiteY17" fmla="*/ 266700 h 273050"/>
              <a:gd name="connsiteX18" fmla="*/ 320675 w 482600"/>
              <a:gd name="connsiteY18" fmla="*/ 263525 h 273050"/>
              <a:gd name="connsiteX19" fmla="*/ 323850 w 482600"/>
              <a:gd name="connsiteY19" fmla="*/ 225425 h 273050"/>
              <a:gd name="connsiteX20" fmla="*/ 330200 w 482600"/>
              <a:gd name="connsiteY20" fmla="*/ 215900 h 273050"/>
              <a:gd name="connsiteX21" fmla="*/ 333375 w 482600"/>
              <a:gd name="connsiteY21" fmla="*/ 200025 h 273050"/>
              <a:gd name="connsiteX22" fmla="*/ 336550 w 482600"/>
              <a:gd name="connsiteY22" fmla="*/ 190500 h 273050"/>
              <a:gd name="connsiteX23" fmla="*/ 339725 w 482600"/>
              <a:gd name="connsiteY23" fmla="*/ 177800 h 273050"/>
              <a:gd name="connsiteX24" fmla="*/ 342900 w 482600"/>
              <a:gd name="connsiteY24" fmla="*/ 123825 h 273050"/>
              <a:gd name="connsiteX25" fmla="*/ 349250 w 482600"/>
              <a:gd name="connsiteY25" fmla="*/ 107950 h 273050"/>
              <a:gd name="connsiteX26" fmla="*/ 352425 w 482600"/>
              <a:gd name="connsiteY26" fmla="*/ 95250 h 273050"/>
              <a:gd name="connsiteX27" fmla="*/ 358775 w 482600"/>
              <a:gd name="connsiteY27" fmla="*/ 38100 h 273050"/>
              <a:gd name="connsiteX28" fmla="*/ 368300 w 482600"/>
              <a:gd name="connsiteY28" fmla="*/ 3175 h 273050"/>
              <a:gd name="connsiteX29" fmla="*/ 381000 w 482600"/>
              <a:gd name="connsiteY29" fmla="*/ 6350 h 273050"/>
              <a:gd name="connsiteX30" fmla="*/ 390525 w 482600"/>
              <a:gd name="connsiteY30" fmla="*/ 15875 h 273050"/>
              <a:gd name="connsiteX31" fmla="*/ 406400 w 482600"/>
              <a:gd name="connsiteY31" fmla="*/ 12700 h 273050"/>
              <a:gd name="connsiteX32" fmla="*/ 425450 w 482600"/>
              <a:gd name="connsiteY32" fmla="*/ 6350 h 273050"/>
              <a:gd name="connsiteX33" fmla="*/ 447675 w 482600"/>
              <a:gd name="connsiteY33" fmla="*/ 12700 h 273050"/>
              <a:gd name="connsiteX34" fmla="*/ 457200 w 482600"/>
              <a:gd name="connsiteY34" fmla="*/ 9525 h 273050"/>
              <a:gd name="connsiteX35" fmla="*/ 473075 w 482600"/>
              <a:gd name="connsiteY35" fmla="*/ 3175 h 273050"/>
              <a:gd name="connsiteX36" fmla="*/ 482600 w 482600"/>
              <a:gd name="connsiteY36" fmla="*/ 3175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82600" h="273050">
                <a:moveTo>
                  <a:pt x="0" y="15875"/>
                </a:moveTo>
                <a:cubicBezTo>
                  <a:pt x="9525" y="14817"/>
                  <a:pt x="19122" y="14276"/>
                  <a:pt x="28575" y="12700"/>
                </a:cubicBezTo>
                <a:cubicBezTo>
                  <a:pt x="31876" y="12150"/>
                  <a:pt x="34833" y="8799"/>
                  <a:pt x="38100" y="9525"/>
                </a:cubicBezTo>
                <a:cubicBezTo>
                  <a:pt x="45030" y="11065"/>
                  <a:pt x="50800" y="15875"/>
                  <a:pt x="57150" y="19050"/>
                </a:cubicBezTo>
                <a:cubicBezTo>
                  <a:pt x="59307" y="16174"/>
                  <a:pt x="69236" y="0"/>
                  <a:pt x="76200" y="0"/>
                </a:cubicBezTo>
                <a:cubicBezTo>
                  <a:pt x="87269" y="0"/>
                  <a:pt x="102266" y="10560"/>
                  <a:pt x="111125" y="15875"/>
                </a:cubicBezTo>
                <a:cubicBezTo>
                  <a:pt x="125942" y="14817"/>
                  <a:pt x="141009" y="9787"/>
                  <a:pt x="155575" y="12700"/>
                </a:cubicBezTo>
                <a:cubicBezTo>
                  <a:pt x="159854" y="13556"/>
                  <a:pt x="158268" y="21063"/>
                  <a:pt x="158750" y="25400"/>
                </a:cubicBezTo>
                <a:cubicBezTo>
                  <a:pt x="164402" y="76272"/>
                  <a:pt x="158251" y="54907"/>
                  <a:pt x="165100" y="85725"/>
                </a:cubicBezTo>
                <a:cubicBezTo>
                  <a:pt x="166047" y="89985"/>
                  <a:pt x="166743" y="94339"/>
                  <a:pt x="168275" y="98425"/>
                </a:cubicBezTo>
                <a:cubicBezTo>
                  <a:pt x="169937" y="102857"/>
                  <a:pt x="172508" y="106892"/>
                  <a:pt x="174625" y="111125"/>
                </a:cubicBezTo>
                <a:cubicBezTo>
                  <a:pt x="184725" y="205391"/>
                  <a:pt x="178305" y="170801"/>
                  <a:pt x="187325" y="215900"/>
                </a:cubicBezTo>
                <a:cubicBezTo>
                  <a:pt x="188383" y="229658"/>
                  <a:pt x="188788" y="243483"/>
                  <a:pt x="190500" y="257175"/>
                </a:cubicBezTo>
                <a:cubicBezTo>
                  <a:pt x="190915" y="260496"/>
                  <a:pt x="190769" y="265040"/>
                  <a:pt x="193675" y="266700"/>
                </a:cubicBezTo>
                <a:cubicBezTo>
                  <a:pt x="199264" y="269894"/>
                  <a:pt x="206375" y="268817"/>
                  <a:pt x="212725" y="269875"/>
                </a:cubicBezTo>
                <a:cubicBezTo>
                  <a:pt x="215900" y="267758"/>
                  <a:pt x="218453" y="263905"/>
                  <a:pt x="222250" y="263525"/>
                </a:cubicBezTo>
                <a:cubicBezTo>
                  <a:pt x="240016" y="261748"/>
                  <a:pt x="242448" y="265349"/>
                  <a:pt x="254000" y="273050"/>
                </a:cubicBezTo>
                <a:cubicBezTo>
                  <a:pt x="272575" y="254475"/>
                  <a:pt x="255435" y="266700"/>
                  <a:pt x="295275" y="266700"/>
                </a:cubicBezTo>
                <a:cubicBezTo>
                  <a:pt x="303808" y="266700"/>
                  <a:pt x="312208" y="264583"/>
                  <a:pt x="320675" y="263525"/>
                </a:cubicBezTo>
                <a:cubicBezTo>
                  <a:pt x="321733" y="250825"/>
                  <a:pt x="321351" y="237922"/>
                  <a:pt x="323850" y="225425"/>
                </a:cubicBezTo>
                <a:cubicBezTo>
                  <a:pt x="324598" y="221683"/>
                  <a:pt x="328860" y="219473"/>
                  <a:pt x="330200" y="215900"/>
                </a:cubicBezTo>
                <a:cubicBezTo>
                  <a:pt x="332095" y="210847"/>
                  <a:pt x="332066" y="205260"/>
                  <a:pt x="333375" y="200025"/>
                </a:cubicBezTo>
                <a:cubicBezTo>
                  <a:pt x="334187" y="196778"/>
                  <a:pt x="335631" y="193718"/>
                  <a:pt x="336550" y="190500"/>
                </a:cubicBezTo>
                <a:cubicBezTo>
                  <a:pt x="337749" y="186304"/>
                  <a:pt x="338667" y="182033"/>
                  <a:pt x="339725" y="177800"/>
                </a:cubicBezTo>
                <a:cubicBezTo>
                  <a:pt x="340783" y="159808"/>
                  <a:pt x="340465" y="141683"/>
                  <a:pt x="342900" y="123825"/>
                </a:cubicBezTo>
                <a:cubicBezTo>
                  <a:pt x="343670" y="118178"/>
                  <a:pt x="347448" y="113357"/>
                  <a:pt x="349250" y="107950"/>
                </a:cubicBezTo>
                <a:cubicBezTo>
                  <a:pt x="350630" y="103810"/>
                  <a:pt x="351367" y="99483"/>
                  <a:pt x="352425" y="95250"/>
                </a:cubicBezTo>
                <a:cubicBezTo>
                  <a:pt x="354542" y="76200"/>
                  <a:pt x="355860" y="57044"/>
                  <a:pt x="358775" y="38100"/>
                </a:cubicBezTo>
                <a:cubicBezTo>
                  <a:pt x="360821" y="24800"/>
                  <a:pt x="364327" y="15094"/>
                  <a:pt x="368300" y="3175"/>
                </a:cubicBezTo>
                <a:cubicBezTo>
                  <a:pt x="372533" y="4233"/>
                  <a:pt x="377211" y="4185"/>
                  <a:pt x="381000" y="6350"/>
                </a:cubicBezTo>
                <a:cubicBezTo>
                  <a:pt x="384899" y="8578"/>
                  <a:pt x="386169" y="14786"/>
                  <a:pt x="390525" y="15875"/>
                </a:cubicBezTo>
                <a:cubicBezTo>
                  <a:pt x="395760" y="17184"/>
                  <a:pt x="401194" y="14120"/>
                  <a:pt x="406400" y="12700"/>
                </a:cubicBezTo>
                <a:cubicBezTo>
                  <a:pt x="412858" y="10939"/>
                  <a:pt x="425450" y="6350"/>
                  <a:pt x="425450" y="6350"/>
                </a:cubicBezTo>
                <a:cubicBezTo>
                  <a:pt x="429942" y="7847"/>
                  <a:pt x="443688" y="12700"/>
                  <a:pt x="447675" y="12700"/>
                </a:cubicBezTo>
                <a:cubicBezTo>
                  <a:pt x="451022" y="12700"/>
                  <a:pt x="454066" y="10700"/>
                  <a:pt x="457200" y="9525"/>
                </a:cubicBezTo>
                <a:cubicBezTo>
                  <a:pt x="462536" y="7524"/>
                  <a:pt x="467546" y="4557"/>
                  <a:pt x="473075" y="3175"/>
                </a:cubicBezTo>
                <a:cubicBezTo>
                  <a:pt x="476155" y="2405"/>
                  <a:pt x="479425" y="3175"/>
                  <a:pt x="482600" y="31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723666C-4293-184A-2C08-614276092B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97" t="6538" r="12830" b="4468"/>
          <a:stretch>
            <a:fillRect/>
          </a:stretch>
        </p:blipFill>
        <p:spPr>
          <a:xfrm rot="900000">
            <a:off x="7762904" y="5723961"/>
            <a:ext cx="1075406" cy="873460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146346-FF6D-56E9-712C-6A0EEA20BA41}"/>
              </a:ext>
            </a:extLst>
          </p:cNvPr>
          <p:cNvSpPr/>
          <p:nvPr/>
        </p:nvSpPr>
        <p:spPr>
          <a:xfrm rot="16200000">
            <a:off x="7872424" y="5909686"/>
            <a:ext cx="672565" cy="607315"/>
          </a:xfrm>
          <a:custGeom>
            <a:avLst/>
            <a:gdLst>
              <a:gd name="connsiteX0" fmla="*/ 672565 w 672565"/>
              <a:gd name="connsiteY0" fmla="*/ 0 h 607315"/>
              <a:gd name="connsiteX1" fmla="*/ 520736 w 672565"/>
              <a:gd name="connsiteY1" fmla="*/ 607315 h 607315"/>
              <a:gd name="connsiteX2" fmla="*/ 0 w 672565"/>
              <a:gd name="connsiteY2" fmla="*/ 607315 h 607315"/>
              <a:gd name="connsiteX3" fmla="*/ 52728 w 672565"/>
              <a:gd name="connsiteY3" fmla="*/ 396405 h 607315"/>
              <a:gd name="connsiteX4" fmla="*/ 208281 w 672565"/>
              <a:gd name="connsiteY4" fmla="*/ 396405 h 607315"/>
              <a:gd name="connsiteX5" fmla="*/ 208281 w 672565"/>
              <a:gd name="connsiteY5" fmla="*/ 65411 h 607315"/>
              <a:gd name="connsiteX6" fmla="*/ 135476 w 672565"/>
              <a:gd name="connsiteY6" fmla="*/ 65411 h 607315"/>
              <a:gd name="connsiteX7" fmla="*/ 151829 w 672565"/>
              <a:gd name="connsiteY7" fmla="*/ 0 h 607315"/>
              <a:gd name="connsiteX0" fmla="*/ 672565 w 672565"/>
              <a:gd name="connsiteY0" fmla="*/ 0 h 607315"/>
              <a:gd name="connsiteX1" fmla="*/ 520736 w 672565"/>
              <a:gd name="connsiteY1" fmla="*/ 607315 h 607315"/>
              <a:gd name="connsiteX2" fmla="*/ 0 w 672565"/>
              <a:gd name="connsiteY2" fmla="*/ 607315 h 607315"/>
              <a:gd name="connsiteX3" fmla="*/ 52728 w 672565"/>
              <a:gd name="connsiteY3" fmla="*/ 396405 h 607315"/>
              <a:gd name="connsiteX4" fmla="*/ 208281 w 672565"/>
              <a:gd name="connsiteY4" fmla="*/ 65411 h 607315"/>
              <a:gd name="connsiteX5" fmla="*/ 135476 w 672565"/>
              <a:gd name="connsiteY5" fmla="*/ 65411 h 607315"/>
              <a:gd name="connsiteX6" fmla="*/ 151829 w 672565"/>
              <a:gd name="connsiteY6" fmla="*/ 0 h 607315"/>
              <a:gd name="connsiteX7" fmla="*/ 672565 w 672565"/>
              <a:gd name="connsiteY7" fmla="*/ 0 h 607315"/>
              <a:gd name="connsiteX0" fmla="*/ 208281 w 672565"/>
              <a:gd name="connsiteY0" fmla="*/ 65411 h 607315"/>
              <a:gd name="connsiteX1" fmla="*/ 135476 w 672565"/>
              <a:gd name="connsiteY1" fmla="*/ 65411 h 607315"/>
              <a:gd name="connsiteX2" fmla="*/ 151829 w 672565"/>
              <a:gd name="connsiteY2" fmla="*/ 0 h 607315"/>
              <a:gd name="connsiteX3" fmla="*/ 672565 w 672565"/>
              <a:gd name="connsiteY3" fmla="*/ 0 h 607315"/>
              <a:gd name="connsiteX4" fmla="*/ 520736 w 672565"/>
              <a:gd name="connsiteY4" fmla="*/ 607315 h 607315"/>
              <a:gd name="connsiteX5" fmla="*/ 0 w 672565"/>
              <a:gd name="connsiteY5" fmla="*/ 607315 h 607315"/>
              <a:gd name="connsiteX6" fmla="*/ 52728 w 672565"/>
              <a:gd name="connsiteY6" fmla="*/ 396405 h 607315"/>
              <a:gd name="connsiteX7" fmla="*/ 299721 w 672565"/>
              <a:gd name="connsiteY7" fmla="*/ 156851 h 607315"/>
              <a:gd name="connsiteX0" fmla="*/ 208281 w 672565"/>
              <a:gd name="connsiteY0" fmla="*/ 65411 h 607315"/>
              <a:gd name="connsiteX1" fmla="*/ 135476 w 672565"/>
              <a:gd name="connsiteY1" fmla="*/ 65411 h 607315"/>
              <a:gd name="connsiteX2" fmla="*/ 151829 w 672565"/>
              <a:gd name="connsiteY2" fmla="*/ 0 h 607315"/>
              <a:gd name="connsiteX3" fmla="*/ 672565 w 672565"/>
              <a:gd name="connsiteY3" fmla="*/ 0 h 607315"/>
              <a:gd name="connsiteX4" fmla="*/ 520736 w 672565"/>
              <a:gd name="connsiteY4" fmla="*/ 607315 h 607315"/>
              <a:gd name="connsiteX5" fmla="*/ 0 w 672565"/>
              <a:gd name="connsiteY5" fmla="*/ 607315 h 607315"/>
              <a:gd name="connsiteX6" fmla="*/ 52728 w 672565"/>
              <a:gd name="connsiteY6" fmla="*/ 396405 h 607315"/>
              <a:gd name="connsiteX0" fmla="*/ 135476 w 672565"/>
              <a:gd name="connsiteY0" fmla="*/ 65411 h 607315"/>
              <a:gd name="connsiteX1" fmla="*/ 151829 w 672565"/>
              <a:gd name="connsiteY1" fmla="*/ 0 h 607315"/>
              <a:gd name="connsiteX2" fmla="*/ 672565 w 672565"/>
              <a:gd name="connsiteY2" fmla="*/ 0 h 607315"/>
              <a:gd name="connsiteX3" fmla="*/ 520736 w 672565"/>
              <a:gd name="connsiteY3" fmla="*/ 607315 h 607315"/>
              <a:gd name="connsiteX4" fmla="*/ 0 w 672565"/>
              <a:gd name="connsiteY4" fmla="*/ 607315 h 607315"/>
              <a:gd name="connsiteX5" fmla="*/ 52728 w 672565"/>
              <a:gd name="connsiteY5" fmla="*/ 396405 h 60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565" h="607315">
                <a:moveTo>
                  <a:pt x="135476" y="65411"/>
                </a:moveTo>
                <a:lnTo>
                  <a:pt x="151829" y="0"/>
                </a:lnTo>
                <a:lnTo>
                  <a:pt x="672565" y="0"/>
                </a:lnTo>
                <a:lnTo>
                  <a:pt x="520736" y="607315"/>
                </a:lnTo>
                <a:lnTo>
                  <a:pt x="0" y="607315"/>
                </a:lnTo>
                <a:lnTo>
                  <a:pt x="52728" y="396405"/>
                </a:ln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C67581-0B96-F2F6-982D-107DB4D062A2}"/>
              </a:ext>
            </a:extLst>
          </p:cNvPr>
          <p:cNvCxnSpPr>
            <a:cxnSpLocks/>
          </p:cNvCxnSpPr>
          <p:nvPr/>
        </p:nvCxnSpPr>
        <p:spPr>
          <a:xfrm>
            <a:off x="8512364" y="6284194"/>
            <a:ext cx="10163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5047207-0F37-57EF-7239-E06BCBF6125E}"/>
              </a:ext>
            </a:extLst>
          </p:cNvPr>
          <p:cNvSpPr/>
          <p:nvPr/>
        </p:nvSpPr>
        <p:spPr>
          <a:xfrm>
            <a:off x="9528746" y="5730054"/>
            <a:ext cx="1068233" cy="91789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0F00F556-3D38-142D-3762-D540BDACA1E7}"/>
              </a:ext>
            </a:extLst>
          </p:cNvPr>
          <p:cNvSpPr/>
          <p:nvPr/>
        </p:nvSpPr>
        <p:spPr>
          <a:xfrm>
            <a:off x="9862837" y="6074645"/>
            <a:ext cx="400050" cy="344487"/>
          </a:xfrm>
          <a:prstGeom prst="trapezoid">
            <a:avLst>
              <a:gd name="adj" fmla="val 12558"/>
            </a:avLst>
          </a:prstGeom>
          <a:solidFill>
            <a:srgbClr val="626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53F54DF-11F6-DF13-010C-538051D28F6F}"/>
              </a:ext>
            </a:extLst>
          </p:cNvPr>
          <p:cNvSpPr/>
          <p:nvPr/>
        </p:nvSpPr>
        <p:spPr>
          <a:xfrm>
            <a:off x="10195021" y="6346436"/>
            <a:ext cx="67867" cy="72697"/>
          </a:xfrm>
          <a:custGeom>
            <a:avLst/>
            <a:gdLst>
              <a:gd name="connsiteX0" fmla="*/ 58738 w 67867"/>
              <a:gd name="connsiteY0" fmla="*/ 0 h 72697"/>
              <a:gd name="connsiteX1" fmla="*/ 67867 w 67867"/>
              <a:gd name="connsiteY1" fmla="*/ 72697 h 72697"/>
              <a:gd name="connsiteX2" fmla="*/ 1923 w 67867"/>
              <a:gd name="connsiteY2" fmla="*/ 72697 h 72697"/>
              <a:gd name="connsiteX3" fmla="*/ 0 w 67867"/>
              <a:gd name="connsiteY3" fmla="*/ 63172 h 72697"/>
              <a:gd name="connsiteX4" fmla="*/ 39268 w 67867"/>
              <a:gd name="connsiteY4" fmla="*/ 3931 h 7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67" h="72697">
                <a:moveTo>
                  <a:pt x="58738" y="0"/>
                </a:moveTo>
                <a:lnTo>
                  <a:pt x="67867" y="72697"/>
                </a:lnTo>
                <a:lnTo>
                  <a:pt x="1923" y="72697"/>
                </a:lnTo>
                <a:lnTo>
                  <a:pt x="0" y="63172"/>
                </a:lnTo>
                <a:cubicBezTo>
                  <a:pt x="0" y="36541"/>
                  <a:pt x="16192" y="13691"/>
                  <a:pt x="39268" y="393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C0D8666-2627-764F-DDAF-7950E5FBA373}"/>
              </a:ext>
            </a:extLst>
          </p:cNvPr>
          <p:cNvSpPr/>
          <p:nvPr/>
        </p:nvSpPr>
        <p:spPr>
          <a:xfrm>
            <a:off x="10062861" y="6236570"/>
            <a:ext cx="200025" cy="182562"/>
          </a:xfrm>
          <a:custGeom>
            <a:avLst/>
            <a:gdLst>
              <a:gd name="connsiteX0" fmla="*/ 177099 w 400050"/>
              <a:gd name="connsiteY0" fmla="*/ 0 h 290512"/>
              <a:gd name="connsiteX1" fmla="*/ 400050 w 400050"/>
              <a:gd name="connsiteY1" fmla="*/ 0 h 290512"/>
              <a:gd name="connsiteX2" fmla="*/ 400050 w 400050"/>
              <a:gd name="connsiteY2" fmla="*/ 290512 h 290512"/>
              <a:gd name="connsiteX3" fmla="*/ 0 w 400050"/>
              <a:gd name="connsiteY3" fmla="*/ 290512 h 290512"/>
              <a:gd name="connsiteX4" fmla="*/ 0 w 400050"/>
              <a:gd name="connsiteY4" fmla="*/ 182562 h 290512"/>
              <a:gd name="connsiteX5" fmla="*/ 200025 w 400050"/>
              <a:gd name="connsiteY5" fmla="*/ 182562 h 290512"/>
              <a:gd name="connsiteX0" fmla="*/ 400050 w 491490"/>
              <a:gd name="connsiteY0" fmla="*/ 0 h 290512"/>
              <a:gd name="connsiteX1" fmla="*/ 400050 w 491490"/>
              <a:gd name="connsiteY1" fmla="*/ 290512 h 290512"/>
              <a:gd name="connsiteX2" fmla="*/ 0 w 491490"/>
              <a:gd name="connsiteY2" fmla="*/ 290512 h 290512"/>
              <a:gd name="connsiteX3" fmla="*/ 0 w 491490"/>
              <a:gd name="connsiteY3" fmla="*/ 182562 h 290512"/>
              <a:gd name="connsiteX4" fmla="*/ 200025 w 491490"/>
              <a:gd name="connsiteY4" fmla="*/ 182562 h 290512"/>
              <a:gd name="connsiteX5" fmla="*/ 177099 w 491490"/>
              <a:gd name="connsiteY5" fmla="*/ 0 h 290512"/>
              <a:gd name="connsiteX6" fmla="*/ 491490 w 491490"/>
              <a:gd name="connsiteY6" fmla="*/ 91440 h 290512"/>
              <a:gd name="connsiteX0" fmla="*/ 400050 w 400050"/>
              <a:gd name="connsiteY0" fmla="*/ 0 h 290512"/>
              <a:gd name="connsiteX1" fmla="*/ 400050 w 400050"/>
              <a:gd name="connsiteY1" fmla="*/ 290512 h 290512"/>
              <a:gd name="connsiteX2" fmla="*/ 0 w 400050"/>
              <a:gd name="connsiteY2" fmla="*/ 290512 h 290512"/>
              <a:gd name="connsiteX3" fmla="*/ 0 w 400050"/>
              <a:gd name="connsiteY3" fmla="*/ 182562 h 290512"/>
              <a:gd name="connsiteX4" fmla="*/ 200025 w 400050"/>
              <a:gd name="connsiteY4" fmla="*/ 182562 h 290512"/>
              <a:gd name="connsiteX5" fmla="*/ 177099 w 400050"/>
              <a:gd name="connsiteY5" fmla="*/ 0 h 290512"/>
              <a:gd name="connsiteX0" fmla="*/ 400050 w 400050"/>
              <a:gd name="connsiteY0" fmla="*/ 0 h 290512"/>
              <a:gd name="connsiteX1" fmla="*/ 0 w 400050"/>
              <a:gd name="connsiteY1" fmla="*/ 290512 h 290512"/>
              <a:gd name="connsiteX2" fmla="*/ 0 w 400050"/>
              <a:gd name="connsiteY2" fmla="*/ 182562 h 290512"/>
              <a:gd name="connsiteX3" fmla="*/ 200025 w 400050"/>
              <a:gd name="connsiteY3" fmla="*/ 182562 h 290512"/>
              <a:gd name="connsiteX4" fmla="*/ 177099 w 400050"/>
              <a:gd name="connsiteY4" fmla="*/ 0 h 290512"/>
              <a:gd name="connsiteX0" fmla="*/ 400050 w 400050"/>
              <a:gd name="connsiteY0" fmla="*/ 0 h 182562"/>
              <a:gd name="connsiteX1" fmla="*/ 0 w 400050"/>
              <a:gd name="connsiteY1" fmla="*/ 182562 h 182562"/>
              <a:gd name="connsiteX2" fmla="*/ 200025 w 400050"/>
              <a:gd name="connsiteY2" fmla="*/ 182562 h 182562"/>
              <a:gd name="connsiteX3" fmla="*/ 177099 w 400050"/>
              <a:gd name="connsiteY3" fmla="*/ 0 h 182562"/>
              <a:gd name="connsiteX0" fmla="*/ 0 w 200025"/>
              <a:gd name="connsiteY0" fmla="*/ 182562 h 182562"/>
              <a:gd name="connsiteX1" fmla="*/ 200025 w 200025"/>
              <a:gd name="connsiteY1" fmla="*/ 182562 h 182562"/>
              <a:gd name="connsiteX2" fmla="*/ 177099 w 200025"/>
              <a:gd name="connsiteY2" fmla="*/ 0 h 1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025" h="182562">
                <a:moveTo>
                  <a:pt x="0" y="182562"/>
                </a:moveTo>
                <a:lnTo>
                  <a:pt x="200025" y="182562"/>
                </a:lnTo>
                <a:lnTo>
                  <a:pt x="177099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E8C8988B-E20E-7C4F-5698-C69319B27BC2}"/>
              </a:ext>
            </a:extLst>
          </p:cNvPr>
          <p:cNvCxnSpPr>
            <a:cxnSpLocks/>
            <a:stCxn id="40" idx="2"/>
            <a:endCxn id="1036" idx="1"/>
          </p:cNvCxnSpPr>
          <p:nvPr/>
        </p:nvCxnSpPr>
        <p:spPr>
          <a:xfrm flipV="1">
            <a:off x="10239960" y="5863956"/>
            <a:ext cx="888674" cy="372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 Placeholder 7">
            <a:extLst>
              <a:ext uri="{FF2B5EF4-FFF2-40B4-BE49-F238E27FC236}">
                <a16:creationId xmlns:a16="http://schemas.microsoft.com/office/drawing/2014/main" id="{4C922C7D-6F43-86D6-5847-5D8CB64A2D11}"/>
              </a:ext>
            </a:extLst>
          </p:cNvPr>
          <p:cNvSpPr txBox="1">
            <a:spLocks/>
          </p:cNvSpPr>
          <p:nvPr/>
        </p:nvSpPr>
        <p:spPr>
          <a:xfrm>
            <a:off x="11128634" y="5644881"/>
            <a:ext cx="957688" cy="438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dirty="0"/>
              <a:t>Sidewall angle</a:t>
            </a:r>
            <a:endParaRPr lang="en-SG" dirty="0"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4BAA3C61-70FF-101E-5546-2E4CCF7A24B3}"/>
              </a:ext>
            </a:extLst>
          </p:cNvPr>
          <p:cNvSpPr txBox="1"/>
          <p:nvPr/>
        </p:nvSpPr>
        <p:spPr>
          <a:xfrm>
            <a:off x="125830" y="6297354"/>
            <a:ext cx="1180504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[3] J. Swindells et al. Modelling PSF of scanning electron microscopes for image restoration (1998)</a:t>
            </a:r>
          </a:p>
          <a:p>
            <a:r>
              <a:rPr lang="en-SG" sz="1000" dirty="0"/>
              <a:t>[4] V. András et al. On the Sub-</a:t>
            </a:r>
            <a:r>
              <a:rPr lang="en-SG" sz="1000" dirty="0" err="1"/>
              <a:t>Nanometer</a:t>
            </a:r>
            <a:r>
              <a:rPr lang="en-SG" sz="1000" dirty="0"/>
              <a:t> Resolution of Scanning Electron and Helium Ion Microscopes (2009)</a:t>
            </a:r>
          </a:p>
          <a:p>
            <a:r>
              <a:rPr lang="en-SG" sz="1000" dirty="0"/>
              <a:t>[5] F. Watt et al. Proton beam writing (2007)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F07BC78-690E-B6E0-6343-47E7BF7117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2BD0A7E-DA31-0C47-16EF-EBD3E8A2E1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9"/>
          <p:cNvSpPr>
            <a:spLocks noChangeArrowheads="1"/>
          </p:cNvSpPr>
          <p:nvPr/>
        </p:nvSpPr>
        <p:spPr bwMode="auto">
          <a:xfrm>
            <a:off x="2247900" y="1581090"/>
            <a:ext cx="5157788" cy="3698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SG">
              <a:solidFill>
                <a:srgbClr val="000000"/>
              </a:solidFill>
            </a:endParaRPr>
          </a:p>
        </p:txBody>
      </p:sp>
      <p:grpSp>
        <p:nvGrpSpPr>
          <p:cNvPr id="9219" name="Group 1"/>
          <p:cNvGrpSpPr>
            <a:grpSpLocks/>
          </p:cNvGrpSpPr>
          <p:nvPr/>
        </p:nvGrpSpPr>
        <p:grpSpPr bwMode="auto">
          <a:xfrm>
            <a:off x="2220618" y="1582677"/>
            <a:ext cx="5185073" cy="3629025"/>
            <a:chOff x="957585" y="1193760"/>
            <a:chExt cx="4859488" cy="3289379"/>
          </a:xfrm>
        </p:grpSpPr>
        <p:grpSp>
          <p:nvGrpSpPr>
            <p:cNvPr id="9231" name="Group 14"/>
            <p:cNvGrpSpPr>
              <a:grpSpLocks noChangeAspect="1"/>
            </p:cNvGrpSpPr>
            <p:nvPr/>
          </p:nvGrpSpPr>
          <p:grpSpPr bwMode="auto">
            <a:xfrm>
              <a:off x="1064545" y="1193760"/>
              <a:ext cx="4752528" cy="3289379"/>
              <a:chOff x="-939399" y="1661160"/>
              <a:chExt cx="7506477" cy="5196840"/>
            </a:xfrm>
          </p:grpSpPr>
          <p:pic>
            <p:nvPicPr>
              <p:cNvPr id="9235" name="Picture 13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754" t="17363" r="20000" b="5296"/>
              <a:stretch>
                <a:fillRect/>
              </a:stretch>
            </p:blipFill>
            <p:spPr bwMode="auto">
              <a:xfrm>
                <a:off x="-939399" y="1661160"/>
                <a:ext cx="4696184" cy="5196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36" name="Picture 1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17" t="19011" r="14861" b="4945"/>
              <a:stretch>
                <a:fillRect/>
              </a:stretch>
            </p:blipFill>
            <p:spPr bwMode="auto">
              <a:xfrm>
                <a:off x="2578307" y="1675212"/>
                <a:ext cx="3988771" cy="511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232" name="Group 20"/>
            <p:cNvGrpSpPr>
              <a:grpSpLocks/>
            </p:cNvGrpSpPr>
            <p:nvPr/>
          </p:nvGrpSpPr>
          <p:grpSpPr bwMode="auto">
            <a:xfrm>
              <a:off x="957585" y="2323242"/>
              <a:ext cx="346141" cy="926170"/>
              <a:chOff x="-478535" y="2850078"/>
              <a:chExt cx="346089" cy="926275"/>
            </a:xfrm>
          </p:grpSpPr>
          <p:sp>
            <p:nvSpPr>
              <p:cNvPr id="9233" name="Rectangle 17"/>
              <p:cNvSpPr>
                <a:spLocks noChangeArrowheads="1"/>
              </p:cNvSpPr>
              <p:nvPr/>
            </p:nvSpPr>
            <p:spPr bwMode="auto">
              <a:xfrm>
                <a:off x="-401111" y="2850078"/>
                <a:ext cx="190005" cy="9262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762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SG">
                  <a:solidFill>
                    <a:srgbClr val="000000"/>
                  </a:solidFill>
                </a:endParaRPr>
              </a:p>
            </p:txBody>
          </p:sp>
          <p:sp>
            <p:nvSpPr>
              <p:cNvPr id="9234" name="TextBox 16"/>
              <p:cNvSpPr txBox="1">
                <a:spLocks noChangeArrowheads="1"/>
              </p:cNvSpPr>
              <p:nvPr/>
            </p:nvSpPr>
            <p:spPr bwMode="auto">
              <a:xfrm rot="10800000">
                <a:off x="-478535" y="2947531"/>
                <a:ext cx="346089" cy="779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>
                    <a:solidFill>
                      <a:srgbClr val="000000"/>
                    </a:solidFill>
                  </a:rPr>
                  <a:t>Depth (nm)</a:t>
                </a:r>
                <a:endParaRPr lang="en-SG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0" y="6396335"/>
            <a:ext cx="12231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200" i="1" dirty="0"/>
              <a:t>Udalagama et al. PRB (2009)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5253" y="5126038"/>
            <a:ext cx="9864801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Reduced Proximity Effects 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 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High Density</a:t>
            </a:r>
            <a:r>
              <a:rPr lang="en-US" sz="2000" dirty="0">
                <a:solidFill>
                  <a:schemeClr val="tx1"/>
                </a:solidFill>
              </a:rPr>
              <a:t> &amp;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 Fine Structures (Analysis &amp; Lithography)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Depth can be tuned 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 </a:t>
            </a:r>
            <a:r>
              <a:rPr lang="en-US" sz="2000" dirty="0">
                <a:solidFill>
                  <a:schemeClr val="tx1"/>
                </a:solidFill>
              </a:rPr>
              <a:t>High aspect ratio, Multi Level structures &amp; 3D Analysis </a:t>
            </a:r>
          </a:p>
          <a:p>
            <a:pPr marL="342900" indent="-342900"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Straight trajectory 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 </a:t>
            </a:r>
            <a:r>
              <a:rPr lang="en-US" sz="2000" dirty="0">
                <a:solidFill>
                  <a:schemeClr val="tx1"/>
                </a:solidFill>
              </a:rPr>
              <a:t>Smooth Side Walls &amp; Well resolved features</a:t>
            </a:r>
          </a:p>
          <a:p>
            <a:pPr marL="342900" indent="-342900"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High sensitivity – 100 fold higher than electrons (Single Ion Imaging)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591" y="2344741"/>
            <a:ext cx="2224087" cy="923925"/>
          </a:xfrm>
          <a:prstGeom prst="rect">
            <a:avLst/>
          </a:prstGeom>
          <a:gradFill rotWithShape="1">
            <a:gsLst>
              <a:gs pos="0">
                <a:srgbClr val="75FF75"/>
              </a:gs>
              <a:gs pos="50000">
                <a:schemeClr val="bg1"/>
              </a:gs>
              <a:gs pos="100000">
                <a:srgbClr val="75FF75"/>
              </a:gs>
            </a:gsLst>
            <a:lin ang="18900000" scaled="1"/>
          </a:gra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2951245">
              <a:defRPr/>
            </a:pPr>
            <a:r>
              <a:rPr lang="en-US" b="1" dirty="0">
                <a:solidFill>
                  <a:srgbClr val="7030A0"/>
                </a:solidFill>
                <a:latin typeface="Arial" charset="0"/>
                <a:cs typeface="Arial" charset="0"/>
              </a:rPr>
              <a:t>Spatial Energy </a:t>
            </a:r>
          </a:p>
          <a:p>
            <a:pPr algn="ctr" defTabSz="2951245">
              <a:defRPr/>
            </a:pPr>
            <a:r>
              <a:rPr lang="en-US" b="1" dirty="0">
                <a:solidFill>
                  <a:srgbClr val="7030A0"/>
                </a:solidFill>
                <a:latin typeface="Arial" charset="0"/>
                <a:cs typeface="Arial" charset="0"/>
              </a:rPr>
              <a:t>Deposition Profile </a:t>
            </a:r>
          </a:p>
          <a:p>
            <a:pPr algn="ctr" defTabSz="2951245">
              <a:defRPr/>
            </a:pPr>
            <a:r>
              <a:rPr lang="en-US" b="1" dirty="0">
                <a:solidFill>
                  <a:srgbClr val="7030A0"/>
                </a:solidFill>
                <a:latin typeface="Arial" charset="0"/>
                <a:cs typeface="Arial" charset="0"/>
              </a:rPr>
              <a:t>using DEEP code</a:t>
            </a: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8004971" y="3658396"/>
            <a:ext cx="2473325" cy="923330"/>
          </a:xfrm>
          <a:prstGeom prst="rect">
            <a:avLst/>
          </a:prstGeom>
          <a:solidFill>
            <a:srgbClr val="0000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dirty="0">
                <a:solidFill>
                  <a:srgbClr val="FFFFFF"/>
                </a:solidFill>
              </a:rPr>
              <a:t>P-beam writing is potentially superior compared to E-beam! </a:t>
            </a:r>
          </a:p>
        </p:txBody>
      </p:sp>
      <p:sp>
        <p:nvSpPr>
          <p:cNvPr id="9225" name="TextBox 2"/>
          <p:cNvSpPr txBox="1">
            <a:spLocks noChangeArrowheads="1"/>
          </p:cNvSpPr>
          <p:nvPr/>
        </p:nvSpPr>
        <p:spPr bwMode="auto">
          <a:xfrm>
            <a:off x="2697166" y="4527488"/>
            <a:ext cx="2056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100 keV Electrons</a:t>
            </a:r>
          </a:p>
        </p:txBody>
      </p:sp>
      <p:sp>
        <p:nvSpPr>
          <p:cNvPr id="9226" name="TextBox 27"/>
          <p:cNvSpPr txBox="1">
            <a:spLocks noChangeArrowheads="1"/>
          </p:cNvSpPr>
          <p:nvPr/>
        </p:nvSpPr>
        <p:spPr bwMode="auto">
          <a:xfrm>
            <a:off x="4694708" y="4540188"/>
            <a:ext cx="1954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500 </a:t>
            </a:r>
            <a:r>
              <a:rPr lang="en-US" dirty="0" err="1">
                <a:solidFill>
                  <a:srgbClr val="FFFFFF"/>
                </a:solidFill>
              </a:rPr>
              <a:t>keV</a:t>
            </a:r>
            <a:r>
              <a:rPr lang="en-US" dirty="0">
                <a:solidFill>
                  <a:srgbClr val="FFFFFF"/>
                </a:solidFill>
              </a:rPr>
              <a:t>  Protons</a:t>
            </a:r>
          </a:p>
        </p:txBody>
      </p:sp>
      <p:sp>
        <p:nvSpPr>
          <p:cNvPr id="9228" name="Text Box 6"/>
          <p:cNvSpPr txBox="1">
            <a:spLocks noChangeArrowheads="1"/>
          </p:cNvSpPr>
          <p:nvPr/>
        </p:nvSpPr>
        <p:spPr bwMode="auto">
          <a:xfrm>
            <a:off x="2220618" y="1007715"/>
            <a:ext cx="5185072" cy="584775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altLang="zh-CN" sz="3200" dirty="0">
                <a:solidFill>
                  <a:srgbClr val="FFC000"/>
                </a:solidFill>
                <a:ea typeface="SimSun" pitchFamily="2" charset="-122"/>
              </a:rPr>
              <a:t>      E-Beam ↔ P-Beam</a:t>
            </a:r>
            <a:endParaRPr lang="en-GB" sz="3200" dirty="0">
              <a:solidFill>
                <a:srgbClr val="FFC000"/>
              </a:solidFill>
            </a:endParaRP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E1D99C6B-0AE7-8719-5804-383413F60E04}"/>
              </a:ext>
            </a:extLst>
          </p:cNvPr>
          <p:cNvSpPr txBox="1">
            <a:spLocks/>
          </p:cNvSpPr>
          <p:nvPr/>
        </p:nvSpPr>
        <p:spPr>
          <a:xfrm>
            <a:off x="1106424" y="44311"/>
            <a:ext cx="10442448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Energy Deposition in 1 µm PMMA (Delta Rays) </a:t>
            </a: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74A52C4-B3B6-2FB9-F938-5986241638EF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C481AC3-3A43-D9B7-7282-73C4AE2A48C1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2A8F9-3878-8725-FF5B-F4FBCFD252D9}"/>
              </a:ext>
            </a:extLst>
          </p:cNvPr>
          <p:cNvSpPr txBox="1"/>
          <p:nvPr/>
        </p:nvSpPr>
        <p:spPr>
          <a:xfrm>
            <a:off x="7699528" y="1007715"/>
            <a:ext cx="4241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Electron Beam &amp; Proton Beam Induced Delta Rays or Secondary Electrons</a:t>
            </a:r>
            <a:endParaRPr lang="en-SG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7E0D3B-4A57-067A-CAC7-0406B9A52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DAD75-5790-3B40-0C42-EACE7E31D1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06" r="67667" b="29820"/>
          <a:stretch>
            <a:fillRect/>
          </a:stretch>
        </p:blipFill>
        <p:spPr>
          <a:xfrm>
            <a:off x="1151312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2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Text Box 3"/>
          <p:cNvSpPr txBox="1">
            <a:spLocks noChangeArrowheads="1"/>
          </p:cNvSpPr>
          <p:nvPr/>
        </p:nvSpPr>
        <p:spPr bwMode="auto">
          <a:xfrm>
            <a:off x="609095" y="5974280"/>
            <a:ext cx="474059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Arial" panose="020B0604020202020204" pitchFamily="34" charset="0"/>
                <a:ea typeface="SimSun" panose="02010600030101010101" pitchFamily="2" charset="-122"/>
              </a:rPr>
              <a:t>Three-dimensional nanolithography using proton beam writing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J.A. van Kan, et al Appl. Phys. Lett., </a:t>
            </a:r>
            <a:r>
              <a:rPr lang="en-US" altLang="zh-CN" sz="1400" b="1" dirty="0">
                <a:latin typeface="Arial" panose="020B0604020202020204" pitchFamily="34" charset="0"/>
                <a:ea typeface="SimSun" panose="02010600030101010101" pitchFamily="2" charset="-122"/>
              </a:rPr>
              <a:t>83</a:t>
            </a: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 (2003) 1629</a:t>
            </a:r>
            <a:endParaRPr lang="en-US" altLang="zh-CN" sz="1400" dirty="0">
              <a:ea typeface="SimSun" panose="02010600030101010101" pitchFamily="2" charset="-122"/>
            </a:endParaRPr>
          </a:p>
        </p:txBody>
      </p:sp>
      <p:sp>
        <p:nvSpPr>
          <p:cNvPr id="533509" name="Text Box 5"/>
          <p:cNvSpPr txBox="1">
            <a:spLocks noChangeArrowheads="1"/>
          </p:cNvSpPr>
          <p:nvPr/>
        </p:nvSpPr>
        <p:spPr bwMode="auto">
          <a:xfrm>
            <a:off x="8020046" y="1554177"/>
            <a:ext cx="2287588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>
                <a:ea typeface="SimSun" panose="02010600030101010101" pitchFamily="2" charset="-122"/>
              </a:rPr>
              <a:t>50 nm lines in PMMA</a:t>
            </a:r>
            <a:endParaRPr lang="en-US" altLang="zh-CN" sz="1800" dirty="0">
              <a:ea typeface="SimSun" panose="02010600030101010101" pitchFamily="2" charset="-122"/>
            </a:endParaRP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567358" y="1385731"/>
            <a:ext cx="5447632" cy="4321187"/>
            <a:chOff x="-8" y="1089"/>
            <a:chExt cx="2741" cy="2174"/>
          </a:xfrm>
        </p:grpSpPr>
        <p:pic>
          <p:nvPicPr>
            <p:cNvPr id="51219" name="Picture 7" descr="opencirles_lines06"/>
            <p:cNvPicPr>
              <a:picLocks noChangeAspect="1" noChangeArrowheads="1"/>
            </p:cNvPicPr>
            <p:nvPr/>
          </p:nvPicPr>
          <p:blipFill>
            <a:blip r:embed="rId3">
              <a:lum bright="18000" contras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" y="1089"/>
              <a:ext cx="2720" cy="21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220" name="Text Box 8"/>
            <p:cNvSpPr txBox="1">
              <a:spLocks noChangeAspect="1" noChangeArrowheads="1"/>
            </p:cNvSpPr>
            <p:nvPr/>
          </p:nvSpPr>
          <p:spPr bwMode="auto">
            <a:xfrm>
              <a:off x="1373" y="2756"/>
              <a:ext cx="615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60 nm</a:t>
              </a:r>
            </a:p>
          </p:txBody>
        </p:sp>
        <p:sp>
          <p:nvSpPr>
            <p:cNvPr id="51221" name="Text Box 9"/>
            <p:cNvSpPr txBox="1">
              <a:spLocks noChangeAspect="1" noChangeArrowheads="1"/>
            </p:cNvSpPr>
            <p:nvPr/>
          </p:nvSpPr>
          <p:spPr bwMode="auto">
            <a:xfrm>
              <a:off x="-8" y="1144"/>
              <a:ext cx="1081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bg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10 </a:t>
              </a:r>
              <a:r>
                <a:rPr lang="en-US" altLang="zh-CN" sz="2000" dirty="0">
                  <a:solidFill>
                    <a:schemeClr val="bg1"/>
                  </a:solidFill>
                  <a:latin typeface="Symbol" panose="05050102010706020507" pitchFamily="18" charset="2"/>
                  <a:ea typeface="SimSun" panose="02010600030101010101" pitchFamily="2" charset="-122"/>
                </a:rPr>
                <a:t>m</a:t>
              </a:r>
              <a:r>
                <a:rPr lang="en-US" altLang="zh-CN" sz="2000" dirty="0">
                  <a:solidFill>
                    <a:schemeClr val="bg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m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bg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Thick SU-8</a:t>
              </a:r>
            </a:p>
          </p:txBody>
        </p:sp>
        <p:sp>
          <p:nvSpPr>
            <p:cNvPr id="51222" name="Line 10"/>
            <p:cNvSpPr>
              <a:spLocks noChangeAspect="1" noChangeShapeType="1"/>
            </p:cNvSpPr>
            <p:nvPr/>
          </p:nvSpPr>
          <p:spPr bwMode="auto">
            <a:xfrm flipH="1">
              <a:off x="1358" y="2620"/>
              <a:ext cx="128" cy="16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23" name="Line 11"/>
            <p:cNvSpPr>
              <a:spLocks noChangeAspect="1" noChangeShapeType="1"/>
            </p:cNvSpPr>
            <p:nvPr/>
          </p:nvSpPr>
          <p:spPr bwMode="auto">
            <a:xfrm rot="-6078472">
              <a:off x="1211" y="2794"/>
              <a:ext cx="128" cy="16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533516" name="Picture 12" descr="f3_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730" y="2031549"/>
            <a:ext cx="3128963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522" name="Picture 18" descr="g3w4hd_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2" y="1151082"/>
            <a:ext cx="5773790" cy="461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3523" name="Text Box 19"/>
          <p:cNvSpPr txBox="1">
            <a:spLocks noChangeArrowheads="1"/>
          </p:cNvSpPr>
          <p:nvPr/>
        </p:nvSpPr>
        <p:spPr bwMode="auto">
          <a:xfrm>
            <a:off x="3194475" y="1216238"/>
            <a:ext cx="28702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Proton Beam Writing of Three-Dimensional Nanostructures in HSQ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J.A. van </a:t>
            </a:r>
            <a:r>
              <a:rPr lang="en-US" altLang="zh-CN" sz="1600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Kan</a:t>
            </a:r>
            <a:r>
              <a:rPr lang="en-US" altLang="zh-CN" sz="1600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et al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Nano Letters 6 (2006) 579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90062" y="893073"/>
            <a:ext cx="4142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u="sng" dirty="0"/>
              <a:t>PMMA Requires 3.5 eV bond breaking</a:t>
            </a:r>
          </a:p>
          <a:p>
            <a:r>
              <a:rPr lang="en-SG" b="1" u="sng" dirty="0"/>
              <a:t>HSQ requires 4 &amp; 8 eV cross linking</a:t>
            </a:r>
          </a:p>
          <a:p>
            <a:r>
              <a:rPr lang="en-SG" b="1" u="sng" dirty="0"/>
              <a:t>These electron are used for imaging</a:t>
            </a:r>
            <a:endParaRPr lang="en-US" b="1" u="sng" dirty="0"/>
          </a:p>
        </p:txBody>
      </p:sp>
      <p:grpSp>
        <p:nvGrpSpPr>
          <p:cNvPr id="25" name="Group 42"/>
          <p:cNvGrpSpPr>
            <a:grpSpLocks/>
          </p:cNvGrpSpPr>
          <p:nvPr/>
        </p:nvGrpSpPr>
        <p:grpSpPr bwMode="auto">
          <a:xfrm>
            <a:off x="6909117" y="4014788"/>
            <a:ext cx="4225925" cy="2700337"/>
            <a:chOff x="3950637" y="4001347"/>
            <a:chExt cx="4225510" cy="2701644"/>
          </a:xfrm>
        </p:grpSpPr>
        <p:pic>
          <p:nvPicPr>
            <p:cNvPr id="26" name="Picture 36" descr="G:\20 beamline\sem\22nd Nov\hsqp80nmhigh1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srgbClr val="EEECE1">
                  <a:shade val="45000"/>
                  <a:satMod val="135000"/>
                </a:srgbClr>
                <a:prstClr val="white"/>
              </a:duotone>
              <a:lum bright="-30000" contrast="40000"/>
            </a:blip>
            <a:srcRect t="20079"/>
            <a:stretch/>
          </p:blipFill>
          <p:spPr bwMode="auto">
            <a:xfrm>
              <a:off x="3950637" y="4001347"/>
              <a:ext cx="4225510" cy="2701644"/>
            </a:xfrm>
            <a:prstGeom prst="rect">
              <a:avLst/>
            </a:prstGeom>
            <a:noFill/>
          </p:spPr>
        </p:pic>
        <p:sp>
          <p:nvSpPr>
            <p:cNvPr id="27" name="TextBox 9"/>
            <p:cNvSpPr txBox="1">
              <a:spLocks noChangeArrowheads="1"/>
            </p:cNvSpPr>
            <p:nvPr/>
          </p:nvSpPr>
          <p:spPr bwMode="auto">
            <a:xfrm>
              <a:off x="6831026" y="5193546"/>
              <a:ext cx="1154973" cy="461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  <a:latin typeface="Arial" panose="020B0604020202020204" pitchFamily="34" charset="0"/>
                </a:rPr>
                <a:t>19 </a:t>
              </a:r>
              <a:r>
                <a:rPr lang="en-US" altLang="zh-CN" sz="2400" b="1"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nm</a:t>
              </a:r>
              <a:endParaRPr lang="en-US" altLang="en-US" sz="2400" b="1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8" name="Straight Connector 10"/>
            <p:cNvCxnSpPr>
              <a:cxnSpLocks noChangeShapeType="1"/>
            </p:cNvCxnSpPr>
            <p:nvPr/>
          </p:nvCxnSpPr>
          <p:spPr bwMode="auto">
            <a:xfrm>
              <a:off x="6258234" y="5606706"/>
              <a:ext cx="603310" cy="2347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11"/>
            <p:cNvCxnSpPr>
              <a:cxnSpLocks noChangeShapeType="1"/>
            </p:cNvCxnSpPr>
            <p:nvPr/>
          </p:nvCxnSpPr>
          <p:spPr bwMode="auto">
            <a:xfrm>
              <a:off x="6234759" y="5801549"/>
              <a:ext cx="603310" cy="2348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4271596" y="4044112"/>
              <a:ext cx="2798618" cy="400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FFFF"/>
                  </a:solidFill>
                  <a:latin typeface="Arial" panose="020B0604020202020204" pitchFamily="34" charset="0"/>
                </a:rPr>
                <a:t>100 nm thick HSQ</a:t>
              </a:r>
            </a:p>
          </p:txBody>
        </p:sp>
      </p:grpSp>
      <p:sp>
        <p:nvSpPr>
          <p:cNvPr id="31" name="Rectangle 33"/>
          <p:cNvSpPr>
            <a:spLocks noChangeArrowheads="1"/>
          </p:cNvSpPr>
          <p:nvPr/>
        </p:nvSpPr>
        <p:spPr bwMode="auto">
          <a:xfrm>
            <a:off x="11058642" y="5880607"/>
            <a:ext cx="1155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SG" altLang="en-U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Microsyst</a:t>
            </a:r>
            <a:r>
              <a:rPr lang="en-SG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SG" altLang="en-U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Technol</a:t>
            </a:r>
            <a:r>
              <a:rPr lang="en-SG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, 2014</a:t>
            </a: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10034146" y="6156099"/>
            <a:ext cx="1057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SG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2014</a:t>
            </a:r>
          </a:p>
        </p:txBody>
      </p:sp>
      <p:sp>
        <p:nvSpPr>
          <p:cNvPr id="7" name="标题 3">
            <a:extLst>
              <a:ext uri="{FF2B5EF4-FFF2-40B4-BE49-F238E27FC236}">
                <a16:creationId xmlns:a16="http://schemas.microsoft.com/office/drawing/2014/main" id="{4ECEAC8F-9FBC-C3DC-592C-D760F785C319}"/>
              </a:ext>
            </a:extLst>
          </p:cNvPr>
          <p:cNvSpPr txBox="1">
            <a:spLocks/>
          </p:cNvSpPr>
          <p:nvPr/>
        </p:nvSpPr>
        <p:spPr>
          <a:xfrm>
            <a:off x="1009386" y="126607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PBW: High Aspect Ratios in Resist </a:t>
            </a: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5409362A-3728-7BFE-EF8C-82F93EFED976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8A4795A-0B27-ED5C-8DF4-8F5C30ADE6F2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C8D606F-D6BF-2199-1C47-95CAB2533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CDA13C-CCD1-6C87-FFB0-E240B786E6E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33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33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/>
      <p:bldP spid="533507" grpId="1"/>
      <p:bldP spid="533509" grpId="0" animBg="1"/>
      <p:bldP spid="533509" grpId="1" animBg="1"/>
      <p:bldP spid="533523" grpId="0"/>
      <p:bldP spid="4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97AA-5165-21A2-FF91-135F6911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1C19A4E5-12C0-3346-52D4-7B94B5CE25DD}"/>
              </a:ext>
            </a:extLst>
          </p:cNvPr>
          <p:cNvSpPr txBox="1">
            <a:spLocks/>
          </p:cNvSpPr>
          <p:nvPr/>
        </p:nvSpPr>
        <p:spPr>
          <a:xfrm>
            <a:off x="1009386" y="71743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Imaging: IBAC &amp; STIM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EDC864-8B8A-5E71-3FC5-9DC88B65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03" y="773384"/>
            <a:ext cx="7292482" cy="60621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EE7603-47ED-D24E-9E83-DA64861E8D41}"/>
              </a:ext>
            </a:extLst>
          </p:cNvPr>
          <p:cNvSpPr txBox="1"/>
          <p:nvPr/>
        </p:nvSpPr>
        <p:spPr>
          <a:xfrm>
            <a:off x="7515284" y="1059434"/>
            <a:ext cx="464739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Ni Grid 1 µm thick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IBAC (Ion Beam Absorbed Current)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STIM </a:t>
            </a:r>
            <a:r>
              <a:rPr lang="en-US" dirty="0"/>
              <a:t>(Scanning Transmission Ion Microscopy)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35 x 101 nm  @ (1.5 MeV H</a:t>
            </a:r>
            <a:r>
              <a:rPr lang="en-US" sz="2000" baseline="-25000" dirty="0"/>
              <a:t>2</a:t>
            </a:r>
            <a:r>
              <a:rPr lang="en-US" sz="2000" baseline="30000" dirty="0"/>
              <a:t>+</a:t>
            </a:r>
            <a:r>
              <a:rPr lang="en-US" sz="2000" dirty="0"/>
              <a:t> 1 </a:t>
            </a:r>
            <a:r>
              <a:rPr lang="en-US" sz="2000" dirty="0" err="1"/>
              <a:t>pA</a:t>
            </a:r>
            <a:r>
              <a:rPr lang="en-US" sz="2000" dirty="0"/>
              <a:t>)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C7485-4641-0F71-1B62-5FEC2AF2A62C}"/>
              </a:ext>
            </a:extLst>
          </p:cNvPr>
          <p:cNvSpPr txBox="1"/>
          <p:nvPr/>
        </p:nvSpPr>
        <p:spPr>
          <a:xfrm>
            <a:off x="323588" y="914205"/>
            <a:ext cx="68579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IBAC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7AD90-BCFC-060D-AF2D-3997D42D98BC}"/>
              </a:ext>
            </a:extLst>
          </p:cNvPr>
          <p:cNvSpPr txBox="1"/>
          <p:nvPr/>
        </p:nvSpPr>
        <p:spPr>
          <a:xfrm>
            <a:off x="3919436" y="950895"/>
            <a:ext cx="68579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27888-CA1D-3088-4C0F-07E06A9ED2D2}"/>
              </a:ext>
            </a:extLst>
          </p:cNvPr>
          <p:cNvSpPr txBox="1"/>
          <p:nvPr/>
        </p:nvSpPr>
        <p:spPr>
          <a:xfrm>
            <a:off x="323588" y="4523037"/>
            <a:ext cx="1194316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X - 35 nm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A0442-B56A-956C-B78F-E333784A68B2}"/>
              </a:ext>
            </a:extLst>
          </p:cNvPr>
          <p:cNvSpPr txBox="1"/>
          <p:nvPr/>
        </p:nvSpPr>
        <p:spPr>
          <a:xfrm>
            <a:off x="4008076" y="4556565"/>
            <a:ext cx="1432604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 - 101 nm</a:t>
            </a: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E05D0599-8446-DFF2-FAEC-77E3D080CD15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14E7E94-93CF-664C-26BB-3E356148F24C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463B06C-8E67-032D-2A33-5F0146F26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2B9F16-E467-EA95-05A9-A281CC32AA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1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0A73-01AE-9A3B-07BA-4B082043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F69A5A72-279D-FAA8-BBF0-6FDA23B9021A}"/>
              </a:ext>
            </a:extLst>
          </p:cNvPr>
          <p:cNvSpPr txBox="1">
            <a:spLocks/>
          </p:cNvSpPr>
          <p:nvPr/>
        </p:nvSpPr>
        <p:spPr>
          <a:xfrm>
            <a:off x="1009386" y="126607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Imaging: STIM &amp; Electron Detection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D39C5-8B90-EFF2-A3F3-27E1B89B9646}"/>
              </a:ext>
            </a:extLst>
          </p:cNvPr>
          <p:cNvSpPr txBox="1"/>
          <p:nvPr/>
        </p:nvSpPr>
        <p:spPr>
          <a:xfrm>
            <a:off x="7515284" y="1059434"/>
            <a:ext cx="46473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Ni Grid 1 µm thick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On/Off Axis STIM </a:t>
            </a:r>
            <a:r>
              <a:rPr lang="en-US" dirty="0"/>
              <a:t>(Scanning Transmission Ion Microscopy)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Proton Induced Electron Imaging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15 x 36 nm  @ (2 MeV H</a:t>
            </a:r>
            <a:r>
              <a:rPr lang="en-US" sz="2000" baseline="-25000" dirty="0"/>
              <a:t>2</a:t>
            </a:r>
            <a:r>
              <a:rPr lang="en-US" sz="2000" baseline="30000" dirty="0"/>
              <a:t>+</a:t>
            </a:r>
            <a:r>
              <a:rPr lang="en-US" sz="2000" dirty="0"/>
              <a:t> ~ fA)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0B06D-DAD8-54A1-D2BD-397C584CBDA9}"/>
              </a:ext>
            </a:extLst>
          </p:cNvPr>
          <p:cNvSpPr txBox="1"/>
          <p:nvPr/>
        </p:nvSpPr>
        <p:spPr>
          <a:xfrm>
            <a:off x="323588" y="1034835"/>
            <a:ext cx="14777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 Axis STIM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8B7E1-484E-E72E-2AF8-DAAB368AD7DA}"/>
              </a:ext>
            </a:extLst>
          </p:cNvPr>
          <p:cNvSpPr txBox="1"/>
          <p:nvPr/>
        </p:nvSpPr>
        <p:spPr>
          <a:xfrm>
            <a:off x="3297643" y="1071525"/>
            <a:ext cx="149846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Off-axis STIM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C8897-80BB-7A67-24C5-7765A959C6C7}"/>
              </a:ext>
            </a:extLst>
          </p:cNvPr>
          <p:cNvSpPr txBox="1"/>
          <p:nvPr/>
        </p:nvSpPr>
        <p:spPr>
          <a:xfrm>
            <a:off x="299562" y="4025114"/>
            <a:ext cx="225348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Electron Detection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6D9100-EB62-AA58-D1F7-DCB2CC7DB2B7}"/>
              </a:ext>
            </a:extLst>
          </p:cNvPr>
          <p:cNvSpPr txBox="1"/>
          <p:nvPr/>
        </p:nvSpPr>
        <p:spPr>
          <a:xfrm>
            <a:off x="3711652" y="4875764"/>
            <a:ext cx="1432604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Beam Size: X - 15 nm</a:t>
            </a:r>
          </a:p>
          <a:p>
            <a:r>
              <a:rPr lang="en-US" sz="2000" dirty="0">
                <a:solidFill>
                  <a:schemeClr val="bg1"/>
                </a:solidFill>
              </a:rPr>
              <a:t>Y - 36 nm</a:t>
            </a: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5F3D1502-10B6-A861-0D29-2AC595634620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6BB461D-D3F0-016C-A494-77EE620D9B79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0388AE9-8550-A42A-34F7-3759A0EF4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B05937-5484-ECFE-EF2B-6EF090A70A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580F2A-6E12-6420-4CFA-A0DF889ECF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8315"/>
          <a:stretch>
            <a:fillRect/>
          </a:stretch>
        </p:blipFill>
        <p:spPr>
          <a:xfrm>
            <a:off x="323588" y="1474403"/>
            <a:ext cx="2373892" cy="22585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CF171C-A939-7050-A7D2-2556CD336B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301" b="33766"/>
          <a:stretch>
            <a:fillRect/>
          </a:stretch>
        </p:blipFill>
        <p:spPr>
          <a:xfrm>
            <a:off x="3285999" y="1474404"/>
            <a:ext cx="2283910" cy="2258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DCD4D-E05E-DE8F-8BF9-DC24FD7C65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701" t="67200" r="701" b="-133"/>
          <a:stretch>
            <a:fillRect/>
          </a:stretch>
        </p:blipFill>
        <p:spPr>
          <a:xfrm>
            <a:off x="269141" y="4458770"/>
            <a:ext cx="2283910" cy="22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6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E568-D05A-6903-A173-E7462816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>
            <a:extLst>
              <a:ext uri="{FF2B5EF4-FFF2-40B4-BE49-F238E27FC236}">
                <a16:creationId xmlns:a16="http://schemas.microsoft.com/office/drawing/2014/main" id="{EC528E8E-A1EE-526C-2AF7-B207966AC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94" y="1630929"/>
            <a:ext cx="3684296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u="sng" dirty="0">
                <a:latin typeface="Tahoma" panose="020B0604030504040204" pitchFamily="34" charset="0"/>
                <a:ea typeface="SimSun" panose="02010600030101010101" pitchFamily="2" charset="-122"/>
              </a:rPr>
              <a:t>STIM</a:t>
            </a:r>
            <a:r>
              <a:rPr lang="en-US" altLang="zh-CN" dirty="0">
                <a:latin typeface="Tahoma" panose="020B0604030504040204" pitchFamily="34" charset="0"/>
                <a:ea typeface="SimSun" panose="02010600030101010101" pitchFamily="2" charset="-122"/>
              </a:rPr>
              <a:t> imaging of Ni grid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1" u="sng" dirty="0">
                <a:latin typeface="Tahoma" panose="020B0604030504040204" pitchFamily="34" charset="0"/>
                <a:ea typeface="SimSun" panose="02010600030101010101" pitchFamily="2" charset="-122"/>
              </a:rPr>
              <a:t>Detector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  <a:ea typeface="SimSun" panose="02010600030101010101" pitchFamily="2" charset="-122"/>
              </a:rPr>
              <a:t>IBIC (Ion Beam Induced Current) protons travel through 1 um on Ni before reaching PN junction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296B1B87-46C7-02F1-ED12-CFFCFACD9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19" y="924108"/>
            <a:ext cx="40382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 u="sng" dirty="0">
                <a:latin typeface="Tahoma" panose="020B0604030504040204" pitchFamily="34" charset="0"/>
                <a:ea typeface="SimSun" panose="02010600030101010101" pitchFamily="2" charset="-122"/>
              </a:rPr>
              <a:t>Sub 10 nm resolution</a:t>
            </a:r>
            <a:endParaRPr lang="en-US" altLang="en-US" sz="2800" b="1" u="sng" dirty="0">
              <a:latin typeface="Tahoma" panose="020B0604030504040204" pitchFamily="34" charset="0"/>
            </a:endParaRP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13E96A24-6500-0AA8-F94F-BF5676261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535" y="900757"/>
            <a:ext cx="4643437" cy="26368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DE8EF8AE-D93F-6775-F1F8-52AF16D0192B}"/>
              </a:ext>
            </a:extLst>
          </p:cNvPr>
          <p:cNvSpPr>
            <a:spLocks/>
          </p:cNvSpPr>
          <p:nvPr/>
        </p:nvSpPr>
        <p:spPr bwMode="auto">
          <a:xfrm flipV="1">
            <a:off x="5344682" y="1933796"/>
            <a:ext cx="1390650" cy="333375"/>
          </a:xfrm>
          <a:custGeom>
            <a:avLst/>
            <a:gdLst>
              <a:gd name="T0" fmla="*/ 2147483647 w 1193"/>
              <a:gd name="T1" fmla="*/ 0 h 210"/>
              <a:gd name="T2" fmla="*/ 2147483647 w 1193"/>
              <a:gd name="T3" fmla="*/ 2147483647 h 210"/>
              <a:gd name="T4" fmla="*/ 2147483647 w 1193"/>
              <a:gd name="T5" fmla="*/ 2147483647 h 210"/>
              <a:gd name="T6" fmla="*/ 2147483647 w 1193"/>
              <a:gd name="T7" fmla="*/ 2147483647 h 210"/>
              <a:gd name="T8" fmla="*/ 2147483647 w 1193"/>
              <a:gd name="T9" fmla="*/ 2147483647 h 210"/>
              <a:gd name="T10" fmla="*/ 2147483647 w 1193"/>
              <a:gd name="T11" fmla="*/ 2147483647 h 210"/>
              <a:gd name="T12" fmla="*/ 0 w 1193"/>
              <a:gd name="T13" fmla="*/ 2147483647 h 210"/>
              <a:gd name="T14" fmla="*/ 0 w 1193"/>
              <a:gd name="T15" fmla="*/ 0 h 210"/>
              <a:gd name="T16" fmla="*/ 2147483647 w 1193"/>
              <a:gd name="T17" fmla="*/ 0 h 2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93" h="210">
                <a:moveTo>
                  <a:pt x="509" y="0"/>
                </a:moveTo>
                <a:lnTo>
                  <a:pt x="525" y="208"/>
                </a:lnTo>
                <a:lnTo>
                  <a:pt x="751" y="208"/>
                </a:lnTo>
                <a:lnTo>
                  <a:pt x="768" y="3"/>
                </a:lnTo>
                <a:lnTo>
                  <a:pt x="1193" y="3"/>
                </a:lnTo>
                <a:lnTo>
                  <a:pt x="1193" y="210"/>
                </a:lnTo>
                <a:lnTo>
                  <a:pt x="0" y="210"/>
                </a:lnTo>
                <a:lnTo>
                  <a:pt x="0" y="0"/>
                </a:lnTo>
                <a:lnTo>
                  <a:pt x="509" y="0"/>
                </a:lnTo>
                <a:close/>
              </a:path>
            </a:pathLst>
          </a:custGeom>
          <a:solidFill>
            <a:srgbClr val="D2CEC8"/>
          </a:solidFill>
          <a:ln w="317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A3215E23-7787-89B6-3199-66A9B8548C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985168" y="1439921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4C1F27B7-5299-D6E6-75B4-40CAA762CDBC}"/>
              </a:ext>
            </a:extLst>
          </p:cNvPr>
          <p:cNvSpPr>
            <a:spLocks/>
          </p:cNvSpPr>
          <p:nvPr/>
        </p:nvSpPr>
        <p:spPr bwMode="auto">
          <a:xfrm>
            <a:off x="8043547" y="2247985"/>
            <a:ext cx="825500" cy="469900"/>
          </a:xfrm>
          <a:custGeom>
            <a:avLst/>
            <a:gdLst>
              <a:gd name="T0" fmla="*/ 0 w 520"/>
              <a:gd name="T1" fmla="*/ 2147483647 h 296"/>
              <a:gd name="T2" fmla="*/ 2147483647 w 520"/>
              <a:gd name="T3" fmla="*/ 2147483647 h 296"/>
              <a:gd name="T4" fmla="*/ 2147483647 w 520"/>
              <a:gd name="T5" fmla="*/ 2147483647 h 296"/>
              <a:gd name="T6" fmla="*/ 2147483647 w 520"/>
              <a:gd name="T7" fmla="*/ 0 h 296"/>
              <a:gd name="T8" fmla="*/ 2147483647 w 520"/>
              <a:gd name="T9" fmla="*/ 0 h 296"/>
              <a:gd name="T10" fmla="*/ 2147483647 w 520"/>
              <a:gd name="T11" fmla="*/ 2147483647 h 296"/>
              <a:gd name="T12" fmla="*/ 2147483647 w 520"/>
              <a:gd name="T13" fmla="*/ 2147483647 h 296"/>
              <a:gd name="T14" fmla="*/ 2147483647 w 520"/>
              <a:gd name="T15" fmla="*/ 2147483647 h 296"/>
              <a:gd name="T16" fmla="*/ 2147483647 w 520"/>
              <a:gd name="T17" fmla="*/ 2147483647 h 296"/>
              <a:gd name="T18" fmla="*/ 2147483647 w 520"/>
              <a:gd name="T19" fmla="*/ 2147483647 h 296"/>
              <a:gd name="T20" fmla="*/ 2147483647 w 520"/>
              <a:gd name="T21" fmla="*/ 2147483647 h 296"/>
              <a:gd name="T22" fmla="*/ 2147483647 w 520"/>
              <a:gd name="T23" fmla="*/ 2147483647 h 296"/>
              <a:gd name="T24" fmla="*/ 2147483647 w 520"/>
              <a:gd name="T25" fmla="*/ 2147483647 h 296"/>
              <a:gd name="T26" fmla="*/ 2147483647 w 520"/>
              <a:gd name="T27" fmla="*/ 2147483647 h 296"/>
              <a:gd name="T28" fmla="*/ 2147483647 w 520"/>
              <a:gd name="T29" fmla="*/ 2147483647 h 296"/>
              <a:gd name="T30" fmla="*/ 2147483647 w 520"/>
              <a:gd name="T31" fmla="*/ 2147483647 h 29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20" h="296">
                <a:moveTo>
                  <a:pt x="0" y="280"/>
                </a:moveTo>
                <a:lnTo>
                  <a:pt x="4" y="208"/>
                </a:lnTo>
                <a:lnTo>
                  <a:pt x="44" y="32"/>
                </a:lnTo>
                <a:lnTo>
                  <a:pt x="56" y="0"/>
                </a:lnTo>
                <a:lnTo>
                  <a:pt x="84" y="0"/>
                </a:lnTo>
                <a:lnTo>
                  <a:pt x="128" y="56"/>
                </a:lnTo>
                <a:lnTo>
                  <a:pt x="144" y="136"/>
                </a:lnTo>
                <a:cubicBezTo>
                  <a:pt x="151" y="171"/>
                  <a:pt x="146" y="247"/>
                  <a:pt x="172" y="268"/>
                </a:cubicBezTo>
                <a:cubicBezTo>
                  <a:pt x="198" y="289"/>
                  <a:pt x="264" y="266"/>
                  <a:pt x="299" y="264"/>
                </a:cubicBezTo>
                <a:lnTo>
                  <a:pt x="384" y="256"/>
                </a:lnTo>
                <a:lnTo>
                  <a:pt x="396" y="180"/>
                </a:lnTo>
                <a:lnTo>
                  <a:pt x="408" y="64"/>
                </a:lnTo>
                <a:lnTo>
                  <a:pt x="448" y="28"/>
                </a:lnTo>
                <a:lnTo>
                  <a:pt x="492" y="80"/>
                </a:lnTo>
                <a:lnTo>
                  <a:pt x="500" y="160"/>
                </a:lnTo>
                <a:lnTo>
                  <a:pt x="520" y="2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AB43EE08-EB1F-6E1B-2130-793AFB09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5085" y="2719473"/>
            <a:ext cx="1512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18EF7F69-E9AF-C2A0-155B-91571F642C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5085" y="1711410"/>
            <a:ext cx="0" cy="1008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878AB576-4F8B-8575-BBC2-35BFA4BD7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882" y="2755191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/>
              <a:t>E</a:t>
            </a:r>
            <a:endParaRPr lang="en-US" altLang="en-US" dirty="0"/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5B9F98CA-0F9B-2445-2EA5-81083C1BB22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997887" y="1982077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/>
              <a:t>Counts</a:t>
            </a:r>
            <a:endParaRPr lang="en-US" altLang="en-US" dirty="0"/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47C33238-0B5F-1F7C-440C-5F2FA22C8F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3265" y="1802691"/>
            <a:ext cx="0" cy="10080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14848103-A33C-2D44-4191-7164550C0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7429" y="1782847"/>
            <a:ext cx="0" cy="10080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D341DE0-0073-E0A4-B150-3DAB2FE44C82}"/>
              </a:ext>
            </a:extLst>
          </p:cNvPr>
          <p:cNvSpPr>
            <a:spLocks/>
          </p:cNvSpPr>
          <p:nvPr/>
        </p:nvSpPr>
        <p:spPr bwMode="auto">
          <a:xfrm rot="5400000">
            <a:off x="5817456" y="1834953"/>
            <a:ext cx="431800" cy="1935386"/>
          </a:xfrm>
          <a:custGeom>
            <a:avLst/>
            <a:gdLst>
              <a:gd name="T0" fmla="*/ 0 w 272"/>
              <a:gd name="T1" fmla="*/ 0 h 998"/>
              <a:gd name="T2" fmla="*/ 2147483647 w 272"/>
              <a:gd name="T3" fmla="*/ 2147483647 h 998"/>
              <a:gd name="T4" fmla="*/ 2147483647 w 272"/>
              <a:gd name="T5" fmla="*/ 2147483647 h 998"/>
              <a:gd name="T6" fmla="*/ 2147483647 w 272"/>
              <a:gd name="T7" fmla="*/ 2147483647 h 998"/>
              <a:gd name="T8" fmla="*/ 2147483647 w 272"/>
              <a:gd name="T9" fmla="*/ 2147483647 h 998"/>
              <a:gd name="T10" fmla="*/ 2147483647 w 272"/>
              <a:gd name="T11" fmla="*/ 2147483647 h 998"/>
              <a:gd name="T12" fmla="*/ 2147483647 w 272"/>
              <a:gd name="T13" fmla="*/ 2147483647 h 998"/>
              <a:gd name="T14" fmla="*/ 0 w 272"/>
              <a:gd name="T15" fmla="*/ 2147483647 h 998"/>
              <a:gd name="T16" fmla="*/ 0 w 272"/>
              <a:gd name="T17" fmla="*/ 0 h 9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72" h="998">
                <a:moveTo>
                  <a:pt x="0" y="0"/>
                </a:moveTo>
                <a:lnTo>
                  <a:pt x="272" y="91"/>
                </a:lnTo>
                <a:lnTo>
                  <a:pt x="272" y="862"/>
                </a:lnTo>
                <a:lnTo>
                  <a:pt x="45" y="998"/>
                </a:lnTo>
                <a:lnTo>
                  <a:pt x="45" y="862"/>
                </a:lnTo>
                <a:lnTo>
                  <a:pt x="181" y="817"/>
                </a:lnTo>
                <a:lnTo>
                  <a:pt x="181" y="182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id="{ABD247C7-D6E1-0E11-67F0-F13AA165A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9109" y="3119404"/>
            <a:ext cx="17972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 dirty="0"/>
              <a:t>Si PN junction</a:t>
            </a:r>
            <a:endParaRPr lang="en-US" altLang="en-US" sz="2000" dirty="0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2CE63315-29A0-E838-1436-052680F74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194" y="1702499"/>
            <a:ext cx="10825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/>
              <a:t>1 </a:t>
            </a:r>
            <a:r>
              <a:rPr lang="en-US" altLang="zh-CN" dirty="0">
                <a:ea typeface="SimSun" panose="02010600030101010101" pitchFamily="2" charset="-122"/>
              </a:rPr>
              <a:t>µ</a:t>
            </a:r>
            <a:r>
              <a:rPr lang="en-GB" altLang="en-US" dirty="0"/>
              <a:t>m</a:t>
            </a:r>
          </a:p>
          <a:p>
            <a:pPr eaLnBrk="1" hangingPunct="1"/>
            <a:r>
              <a:rPr lang="en-GB" altLang="en-US" dirty="0"/>
              <a:t> Ni grid</a:t>
            </a:r>
            <a:endParaRPr lang="en-US" altLang="en-US" dirty="0"/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08A2B9B4-002B-573A-FEAE-C574F653784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309300" y="177360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A2595F8B-CAC3-6F31-2F15-1EE68B1FE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885" y="2359110"/>
            <a:ext cx="730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4147C97B-4F7C-9CB9-2BB8-F28D181CD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222" y="2359110"/>
            <a:ext cx="730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0CFD2C9A-905F-4497-3571-39A329D5F4D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423922" y="1460928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38">
            <a:extLst>
              <a:ext uri="{FF2B5EF4-FFF2-40B4-BE49-F238E27FC236}">
                <a16:creationId xmlns:a16="http://schemas.microsoft.com/office/drawing/2014/main" id="{A437F393-BC82-483E-CB9A-B83477BCB0A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43247" y="2093547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39" name="Line 39">
            <a:extLst>
              <a:ext uri="{FF2B5EF4-FFF2-40B4-BE49-F238E27FC236}">
                <a16:creationId xmlns:a16="http://schemas.microsoft.com/office/drawing/2014/main" id="{C41167BD-D837-EC13-6160-9A85872DFC5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139265" y="1479272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9DCEF87C-E9DA-73D9-25B9-C4A3B97F4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43247" y="2506297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9300302B-3BD8-B2EA-D35A-6186C2C60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910" y="2359110"/>
            <a:ext cx="730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42" name="Line 42">
            <a:extLst>
              <a:ext uri="{FF2B5EF4-FFF2-40B4-BE49-F238E27FC236}">
                <a16:creationId xmlns:a16="http://schemas.microsoft.com/office/drawing/2014/main" id="{C3DF9C27-E66F-DF75-4891-3D34A33456D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763848" y="1439922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8BC758D0-4A61-E933-7178-41FC8F994F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41660" y="2180859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C5919125-2862-26DB-A9E3-0258A09E3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247" y="2359110"/>
            <a:ext cx="730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45" name="Line 45">
            <a:extLst>
              <a:ext uri="{FF2B5EF4-FFF2-40B4-BE49-F238E27FC236}">
                <a16:creationId xmlns:a16="http://schemas.microsoft.com/office/drawing/2014/main" id="{836E8A19-48DE-F326-C4AC-637FF522C1B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230597" y="1427657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Oval 46">
            <a:extLst>
              <a:ext uri="{FF2B5EF4-FFF2-40B4-BE49-F238E27FC236}">
                <a16:creationId xmlns:a16="http://schemas.microsoft.com/office/drawing/2014/main" id="{6E02BA4A-39B1-E766-EAD2-79B5267426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43247" y="1785572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E4483616-086A-A180-3634-CA90AF2BB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597" y="2359110"/>
            <a:ext cx="730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SG" alt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A534140-1FE1-6D1A-0DB3-CC9C3C31F248}"/>
              </a:ext>
            </a:extLst>
          </p:cNvPr>
          <p:cNvGrpSpPr/>
          <p:nvPr/>
        </p:nvGrpSpPr>
        <p:grpSpPr>
          <a:xfrm>
            <a:off x="583170" y="3986784"/>
            <a:ext cx="8844294" cy="2636837"/>
            <a:chOff x="583170" y="3986784"/>
            <a:chExt cx="8844294" cy="263683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1570EBB-9897-2383-DA43-536F5C019BCA}"/>
                </a:ext>
              </a:extLst>
            </p:cNvPr>
            <p:cNvSpPr/>
            <p:nvPr/>
          </p:nvSpPr>
          <p:spPr>
            <a:xfrm>
              <a:off x="583170" y="3986784"/>
              <a:ext cx="8844294" cy="26368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48" name="Picture 7" descr="C:\Users\YAO\Desktop\92_2MeV proton\800nm2.png">
              <a:extLst>
                <a:ext uri="{FF2B5EF4-FFF2-40B4-BE49-F238E27FC236}">
                  <a16:creationId xmlns:a16="http://schemas.microsoft.com/office/drawing/2014/main" id="{692FD817-F1D4-2D2E-006E-3392D181D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472" y="4157663"/>
              <a:ext cx="2335213" cy="233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D56CCE4-D2B7-D1FB-194C-0C1261B33C53}"/>
                </a:ext>
              </a:extLst>
            </p:cNvPr>
            <p:cNvGrpSpPr/>
            <p:nvPr/>
          </p:nvGrpSpPr>
          <p:grpSpPr>
            <a:xfrm>
              <a:off x="3678016" y="4373220"/>
              <a:ext cx="2598644" cy="1904097"/>
              <a:chOff x="8713261" y="3745566"/>
              <a:chExt cx="2789767" cy="2044138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8C8B888C-DA0A-E770-9497-C8829F4A8B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311" t="2001" r="3464" b="55119"/>
              <a:stretch/>
            </p:blipFill>
            <p:spPr>
              <a:xfrm>
                <a:off x="8713261" y="3745566"/>
                <a:ext cx="2789767" cy="1876299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B75A3569-C3D4-D299-32C4-7FDC001D6A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9842" t="93710" r="30607" b="2510"/>
              <a:stretch/>
            </p:blipFill>
            <p:spPr>
              <a:xfrm>
                <a:off x="9735611" y="5619957"/>
                <a:ext cx="948266" cy="169747"/>
              </a:xfrm>
              <a:prstGeom prst="rect">
                <a:avLst/>
              </a:prstGeom>
            </p:spPr>
          </p:pic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5CC327A-8826-381C-3222-E42FC93C03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0943" r="4156" b="2878"/>
            <a:stretch/>
          </p:blipFill>
          <p:spPr>
            <a:xfrm>
              <a:off x="6552730" y="4349176"/>
              <a:ext cx="2761069" cy="1861774"/>
            </a:xfrm>
            <a:prstGeom prst="rect">
              <a:avLst/>
            </a:prstGeom>
          </p:spPr>
        </p:pic>
      </p:grpSp>
      <p:pic>
        <p:nvPicPr>
          <p:cNvPr id="56" name="Picture 3" descr="E:\21st  July grid\fine grid3.jpg">
            <a:extLst>
              <a:ext uri="{FF2B5EF4-FFF2-40B4-BE49-F238E27FC236}">
                <a16:creationId xmlns:a16="http://schemas.microsoft.com/office/drawing/2014/main" id="{001DF9CA-B3D2-AE5B-C05F-8589B72E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435" y="879434"/>
            <a:ext cx="2933903" cy="2346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ADD15B23-21B1-9ED8-503A-DCAD9B74C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683" y="915489"/>
            <a:ext cx="1112804" cy="63094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2400" dirty="0">
                <a:solidFill>
                  <a:schemeClr val="accent2"/>
                </a:solidFill>
                <a:latin typeface="+mn-lt"/>
                <a:ea typeface="SimSun" panose="02010600030101010101" pitchFamily="2" charset="-122"/>
              </a:rPr>
              <a:t>Ni Grid</a:t>
            </a:r>
          </a:p>
          <a:p>
            <a:pPr algn="ctr" eaLnBrk="1" hangingPunct="1"/>
            <a:r>
              <a:rPr lang="en-US" altLang="en-US" sz="11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SimSun" panose="02010600030101010101" pitchFamily="2" charset="-122"/>
              </a:rPr>
              <a:t>1 µm thick</a:t>
            </a:r>
            <a:endParaRPr lang="en-GB" altLang="en-US" sz="11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DAA1926A-48AF-F9AB-65CD-A6C4C9CA57FC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1868B6C-FC69-8DBB-ACFE-8571766B8DAD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51A2E-71A9-61BC-B872-8FA8532F7EB2}"/>
              </a:ext>
            </a:extLst>
          </p:cNvPr>
          <p:cNvSpPr txBox="1"/>
          <p:nvPr/>
        </p:nvSpPr>
        <p:spPr>
          <a:xfrm>
            <a:off x="9692793" y="6423616"/>
            <a:ext cx="1916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Ultra Microscopy 2023</a:t>
            </a:r>
          </a:p>
        </p:txBody>
      </p:sp>
      <p:sp>
        <p:nvSpPr>
          <p:cNvPr id="9" name="标题 3">
            <a:extLst>
              <a:ext uri="{FF2B5EF4-FFF2-40B4-BE49-F238E27FC236}">
                <a16:creationId xmlns:a16="http://schemas.microsoft.com/office/drawing/2014/main" id="{8908C87A-3519-BBC3-EA6A-E86447818899}"/>
              </a:ext>
            </a:extLst>
          </p:cNvPr>
          <p:cNvSpPr txBox="1">
            <a:spLocks/>
          </p:cNvSpPr>
          <p:nvPr/>
        </p:nvSpPr>
        <p:spPr>
          <a:xfrm>
            <a:off x="905256" y="134821"/>
            <a:ext cx="10122408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Microscopy at Sub-10 nm</a:t>
            </a:r>
            <a:endParaRPr lang="zh-CN" altLang="en-US" sz="4000" b="1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923965-6A3A-B825-3A07-4485340DC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01725AE-6534-E038-451F-68FADCA04B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59259E-6 L -0.00065 0.15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59 -0.04491 L 0.00872 0.10602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5 -0.10092 L -0.0155 0.05371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58 -0.06065 L 0.03658 0.09074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487 -0.00347 L 0.07369 0.14838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8" grpId="2" animBg="1"/>
      <p:bldP spid="39" grpId="0" animBg="1"/>
      <p:bldP spid="39" grpId="1" animBg="1"/>
      <p:bldP spid="40" grpId="0" animBg="1"/>
      <p:bldP spid="40" grpId="1" animBg="1"/>
      <p:bldP spid="40" grpId="2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3" grpId="2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6" grpId="2" animBg="1"/>
      <p:bldP spid="47" grpId="0" animBg="1"/>
      <p:bldP spid="47" grpId="1" animBg="1"/>
      <p:bldP spid="63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60654-723E-6CA1-CA05-57FCFEC5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FD16CC40-F4B2-24CA-8E76-B1384BD1276B}"/>
              </a:ext>
            </a:extLst>
          </p:cNvPr>
          <p:cNvSpPr txBox="1">
            <a:spLocks/>
          </p:cNvSpPr>
          <p:nvPr/>
        </p:nvSpPr>
        <p:spPr>
          <a:xfrm>
            <a:off x="1069848" y="134821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Result Was Proven  </a:t>
            </a: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E0EA6DF3-0AF7-0ECE-B907-B0A8E329CE48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B8B8445-D798-6B39-A99B-A30B77279C8C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B9B12-F683-7F6E-DD73-58B205E86388}"/>
              </a:ext>
            </a:extLst>
          </p:cNvPr>
          <p:cNvSpPr/>
          <p:nvPr/>
        </p:nvSpPr>
        <p:spPr>
          <a:xfrm>
            <a:off x="470028" y="951131"/>
            <a:ext cx="11530328" cy="50583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CBC4A774-20F3-C158-A895-D2A667F16FF5}"/>
              </a:ext>
            </a:extLst>
          </p:cNvPr>
          <p:cNvSpPr txBox="1"/>
          <p:nvPr/>
        </p:nvSpPr>
        <p:spPr>
          <a:xfrm>
            <a:off x="519161" y="1307517"/>
            <a:ext cx="114171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sz="2000" b="1" dirty="0"/>
              <a:t>Our technology was published by many established scientific </a:t>
            </a:r>
            <a:r>
              <a:rPr lang="en-US" sz="2000" b="1" dirty="0"/>
              <a:t>journals </a:t>
            </a:r>
            <a:r>
              <a:rPr lang="en-US" sz="2000" dirty="0"/>
              <a:t>[1-3]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sz="2000" b="1" dirty="0"/>
              <a:t>Proven Record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2000" dirty="0"/>
              <a:t>We have been using the same grid for more than 10 years without degrading performance in CIBA PBW system for setting up all kinds of Proton Microscopy experiments for us &amp; customers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sz="2000" b="1" dirty="0"/>
              <a:t>Commercial Usage-Customers Validation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2000" dirty="0"/>
              <a:t>Some customers have bought  our kits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2000" dirty="0"/>
              <a:t>Gave positive feedback that our kits have more superior function than others . Which enables them to have better performance </a:t>
            </a:r>
          </a:p>
        </p:txBody>
      </p:sp>
      <p:sp>
        <p:nvSpPr>
          <p:cNvPr id="74" name="TextBox 16">
            <a:extLst>
              <a:ext uri="{FF2B5EF4-FFF2-40B4-BE49-F238E27FC236}">
                <a16:creationId xmlns:a16="http://schemas.microsoft.com/office/drawing/2014/main" id="{DCA6093C-724B-6E63-57D2-B7C9F3118529}"/>
              </a:ext>
            </a:extLst>
          </p:cNvPr>
          <p:cNvSpPr txBox="1"/>
          <p:nvPr/>
        </p:nvSpPr>
        <p:spPr>
          <a:xfrm>
            <a:off x="470028" y="6137468"/>
            <a:ext cx="902144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[1] J. A. van Kan et al. Fabrication of a free standing resolution standard for focusing MeV ion beams to sub 30 nm dimensions (2005)</a:t>
            </a:r>
          </a:p>
          <a:p>
            <a:r>
              <a:rPr lang="en-SG" sz="1000" dirty="0"/>
              <a:t>[2] Y. Yao et al. Improved beam spot measurements in the 2nd generation proton beam writing system (2013)</a:t>
            </a:r>
          </a:p>
          <a:p>
            <a:r>
              <a:rPr lang="en-SG" sz="1000" dirty="0"/>
              <a:t>[3] S. Qureshi et al. Automated alignment and focusing system for nuclear microprobes (2019)</a:t>
            </a:r>
          </a:p>
          <a:p>
            <a:r>
              <a:rPr lang="en-SG" sz="1000" dirty="0"/>
              <a:t>[4] Y. X. Dou et al. Breaking the 10nm barrier using molecular ions in nuclear microprobes (2023)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BD47CF-16EA-A424-2A01-E0381C539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020D69-73FF-788E-CF67-C0F42B00C2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47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3"/>
          <p:cNvSpPr txBox="1">
            <a:spLocks noChangeArrowheads="1"/>
          </p:cNvSpPr>
          <p:nvPr/>
        </p:nvSpPr>
        <p:spPr bwMode="auto">
          <a:xfrm>
            <a:off x="426845" y="1351508"/>
            <a:ext cx="11338310" cy="4154984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5400" b="1" dirty="0">
                <a:latin typeface="Arial" panose="020B0604020202020204" pitchFamily="34" charset="0"/>
              </a:rPr>
              <a:t>Conclusions: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3000" b="1" dirty="0">
                <a:latin typeface="Arial" panose="020B0604020202020204" pitchFamily="34" charset="0"/>
              </a:rPr>
              <a:t>Resolution Standard Kit via Proton Beam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endParaRPr lang="en-US" altLang="en-US" sz="3000" b="1" dirty="0">
              <a:latin typeface="Arial" panose="020B0604020202020204" pitchFamily="34" charset="0"/>
            </a:endParaRPr>
          </a:p>
          <a:p>
            <a:pPr marL="0" lvl="1" indent="0">
              <a:buNone/>
            </a:pPr>
            <a:r>
              <a:rPr lang="en-SG" sz="2000" b="1" u="sng" dirty="0"/>
              <a:t>Potential</a:t>
            </a:r>
          </a:p>
          <a:p>
            <a:pPr marL="1085850" lvl="1" indent="-342900"/>
            <a:r>
              <a:rPr lang="en-SG" sz="2000" dirty="0"/>
              <a:t>Consistent production of Resolution Standard Kit with proven high resolution capability</a:t>
            </a:r>
          </a:p>
          <a:p>
            <a:pPr marL="1085850" lvl="1" indent="-342900"/>
            <a:r>
              <a:rPr lang="en-SG" sz="2000" dirty="0"/>
              <a:t>Tried-and-tested SOP for production</a:t>
            </a:r>
          </a:p>
          <a:p>
            <a:pPr marL="1085850" lvl="1" indent="-342900"/>
            <a:r>
              <a:rPr lang="en-SG" sz="2000" dirty="0"/>
              <a:t>Proven track record of consistent small beam spot sizes with heavy usage over a decade</a:t>
            </a:r>
          </a:p>
          <a:p>
            <a:pPr marL="1085850" lvl="1" indent="-342900"/>
            <a:r>
              <a:rPr lang="en-SG" sz="2000" dirty="0"/>
              <a:t>Commercially available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E268821E-59FF-5AD9-A2BC-8E2351B66066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BB24A3D-D5D3-4BB3-39B6-E0ADC930D96B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76B988-2357-D06F-2C17-10F8E2C75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4E23D-8AF0-3C09-3093-DC958AC81A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9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3" descr="20um_parthenon_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928688"/>
            <a:ext cx="37592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3764" name="Picture 4" descr="20um_parthenon_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063" y="3709991"/>
            <a:ext cx="3759200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Picture 5" descr="sideovervie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241303"/>
            <a:ext cx="37592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3774" name="Text Box 14"/>
          <p:cNvSpPr txBox="1">
            <a:spLocks noChangeArrowheads="1"/>
          </p:cNvSpPr>
          <p:nvPr/>
        </p:nvSpPr>
        <p:spPr bwMode="auto">
          <a:xfrm>
            <a:off x="222061" y="3709991"/>
            <a:ext cx="35127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dirty="0">
                <a:latin typeface="Arial" panose="020B0604020202020204" pitchFamily="34" charset="0"/>
              </a:rPr>
              <a:t>Support from:  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dirty="0">
                <a:latin typeface="Arial" panose="020B0604020202020204" pitchFamily="34" charset="0"/>
              </a:rPr>
              <a:t>NRF, MOE, NUS (Singapore),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dirty="0">
                <a:latin typeface="Arial" panose="020B0604020202020204" pitchFamily="34" charset="0"/>
              </a:rPr>
              <a:t>US air force</a:t>
            </a:r>
          </a:p>
        </p:txBody>
      </p:sp>
      <p:sp>
        <p:nvSpPr>
          <p:cNvPr id="373769" name="WordArt 9"/>
          <p:cNvSpPr>
            <a:spLocks noChangeArrowheads="1" noChangeShapeType="1" noTextEdit="1"/>
          </p:cNvSpPr>
          <p:nvPr/>
        </p:nvSpPr>
        <p:spPr bwMode="auto">
          <a:xfrm>
            <a:off x="1978414" y="704409"/>
            <a:ext cx="6118995" cy="1466964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4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5A03FF5F-2451-F102-2733-27C7BAA760EF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FBD8DB0-FFF8-E9FE-385B-800AD10EC8C8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FC388E-2D3C-763D-09A9-0F65726F9D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196297-5B4B-B0DB-850D-9523977D86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74" grpId="0"/>
      <p:bldP spid="3737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307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EAC4-3C92-D6BF-ED3C-365426F8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39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D1A1-DD7D-BCFC-80B0-11D3A571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60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EC5B17-F6FC-AA85-95DB-62151114F49A}"/>
              </a:ext>
            </a:extLst>
          </p:cNvPr>
          <p:cNvSpPr/>
          <p:nvPr/>
        </p:nvSpPr>
        <p:spPr>
          <a:xfrm>
            <a:off x="5452595" y="4010823"/>
            <a:ext cx="5867677" cy="204507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6" name="图片 2">
            <a:extLst>
              <a:ext uri="{FF2B5EF4-FFF2-40B4-BE49-F238E27FC236}">
                <a16:creationId xmlns:a16="http://schemas.microsoft.com/office/drawing/2014/main" id="{93D973CB-CA4C-F3FF-037E-510F24C0E0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88" y="1224249"/>
            <a:ext cx="4377574" cy="4377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A286D-4DB2-AB14-48F2-B8D6AE5D7DCE}"/>
              </a:ext>
            </a:extLst>
          </p:cNvPr>
          <p:cNvSpPr txBox="1"/>
          <p:nvPr/>
        </p:nvSpPr>
        <p:spPr>
          <a:xfrm>
            <a:off x="4701162" y="1292365"/>
            <a:ext cx="73972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ptos" panose="020B0004020202020204" pitchFamily="34" charset="0"/>
                <a:ea typeface="微软雅黑" panose="020B0503020204020204" pitchFamily="34" charset="-122"/>
              </a:rPr>
              <a:t>Historic beam spot size improvement </a:t>
            </a:r>
          </a:p>
          <a:p>
            <a:pPr marL="214313" indent="-214313" algn="just" defTabSz="685800">
              <a:buFont typeface="Wingdings" panose="05000000000000000000" pitchFamily="2" charset="2"/>
              <a:buChar char="Ø"/>
            </a:pPr>
            <a:r>
              <a:rPr lang="it-IT" altLang="zh-CN" sz="2000" dirty="0"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Normally, a nuclear microprobe has a different resolution in two lateral directions (i.e. rectangular profile)</a:t>
            </a:r>
            <a:r>
              <a:rPr lang="en-GB" altLang="zh-CN" sz="2000" dirty="0"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214313" indent="-214313" algn="just" defTabSz="685800">
              <a:buFont typeface="Wingdings" panose="05000000000000000000" pitchFamily="2" charset="2"/>
              <a:buChar char="Ø"/>
            </a:pPr>
            <a:r>
              <a:rPr lang="en-GB" altLang="zh-CN" sz="2000" dirty="0"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Here, the definition of resolution is the square root of the product of resolutions in X &amp; Y axes. </a:t>
            </a:r>
          </a:p>
          <a:p>
            <a:pPr marL="214313" indent="-214313" algn="just" defTabSz="685800">
              <a:buFont typeface="Wingdings" panose="05000000000000000000" pitchFamily="2" charset="2"/>
              <a:buChar char="Ø"/>
            </a:pPr>
            <a:r>
              <a:rPr lang="en-GB" altLang="zh-CN" sz="2000" b="1" dirty="0">
                <a:solidFill>
                  <a:srgbClr val="0000CD"/>
                </a:solidFill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CIBA has been at the forefront of resolution improvements with MeV proton beams for most of the 21</a:t>
            </a:r>
            <a:r>
              <a:rPr lang="en-GB" altLang="zh-CN" sz="2000" b="1" baseline="30000" dirty="0">
                <a:solidFill>
                  <a:srgbClr val="0000CD"/>
                </a:solidFill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</a:t>
            </a:r>
            <a:r>
              <a:rPr lang="en-GB" altLang="zh-CN" sz="2000" b="1" dirty="0">
                <a:solidFill>
                  <a:srgbClr val="0000CD"/>
                </a:solidFill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century!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6EF73-1867-241D-C5D8-8070013863EC}"/>
              </a:ext>
            </a:extLst>
          </p:cNvPr>
          <p:cNvSpPr txBox="1"/>
          <p:nvPr/>
        </p:nvSpPr>
        <p:spPr>
          <a:xfrm>
            <a:off x="2206962" y="4906403"/>
            <a:ext cx="1621867" cy="253916"/>
          </a:xfrm>
          <a:prstGeom prst="rect">
            <a:avLst/>
          </a:prstGeom>
          <a:solidFill>
            <a:schemeClr val="tx1">
              <a:alpha val="67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CN" sz="1050">
                <a:solidFill>
                  <a:schemeClr val="bg1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GB" altLang="zh-CN" sz="1050" i="1">
                <a:solidFill>
                  <a:schemeClr val="bg1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Reported 1-D resolution</a:t>
            </a:r>
            <a:endParaRPr lang="en-SG" sz="1050" i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D605A-7BA0-6485-4EF6-FF2C3558E7B3}"/>
              </a:ext>
            </a:extLst>
          </p:cNvPr>
          <p:cNvSpPr txBox="1"/>
          <p:nvPr/>
        </p:nvSpPr>
        <p:spPr>
          <a:xfrm>
            <a:off x="1756025" y="6581001"/>
            <a:ext cx="9460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dirty="0">
                <a:latin typeface="Aptos" panose="020B0004020202020204" pitchFamily="34" charset="0"/>
              </a:rPr>
              <a:t>Dou, Y. </a:t>
            </a:r>
            <a:r>
              <a:rPr lang="da-DK" sz="1200" i="1" dirty="0">
                <a:latin typeface="Aptos" panose="020B0004020202020204" pitchFamily="34" charset="0"/>
              </a:rPr>
              <a:t>et al. </a:t>
            </a:r>
            <a:r>
              <a:rPr lang="da-DK" sz="1200" dirty="0">
                <a:latin typeface="Aptos" panose="020B0004020202020204" pitchFamily="34" charset="0"/>
              </a:rPr>
              <a:t>Breaking the 10 nm barrier using molecular ions in nuclear microprobes Ultramicroscopy </a:t>
            </a:r>
            <a:r>
              <a:rPr lang="da-DK" sz="1200" b="1" dirty="0">
                <a:latin typeface="Aptos" panose="020B0004020202020204" pitchFamily="34" charset="0"/>
              </a:rPr>
              <a:t>253</a:t>
            </a:r>
            <a:r>
              <a:rPr lang="da-DK" sz="1200" dirty="0">
                <a:latin typeface="Aptos" panose="020B0004020202020204" pitchFamily="34" charset="0"/>
              </a:rPr>
              <a:t>, 113812 (2023)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FF1D89-C779-5F51-1BF1-811391DBC929}"/>
              </a:ext>
            </a:extLst>
          </p:cNvPr>
          <p:cNvGrpSpPr/>
          <p:nvPr/>
        </p:nvGrpSpPr>
        <p:grpSpPr>
          <a:xfrm>
            <a:off x="8627228" y="4116133"/>
            <a:ext cx="2598644" cy="1904097"/>
            <a:chOff x="8713261" y="3745566"/>
            <a:chExt cx="2789767" cy="204413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4E20D0-2445-F7ED-AF0E-A4A8B401AF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11" t="2001" r="3464" b="55119"/>
            <a:stretch/>
          </p:blipFill>
          <p:spPr>
            <a:xfrm>
              <a:off x="8713261" y="3745566"/>
              <a:ext cx="2789767" cy="1876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5074AF-2ECD-A8B7-988D-B01EED2504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9842" t="93710" r="30607" b="2510"/>
            <a:stretch/>
          </p:blipFill>
          <p:spPr>
            <a:xfrm>
              <a:off x="9735611" y="5619957"/>
              <a:ext cx="948266" cy="169747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A4CE1B-33EF-0305-7C17-AF7900A57660}"/>
              </a:ext>
            </a:extLst>
          </p:cNvPr>
          <p:cNvCxnSpPr>
            <a:cxnSpLocks/>
          </p:cNvCxnSpPr>
          <p:nvPr/>
        </p:nvCxnSpPr>
        <p:spPr>
          <a:xfrm flipH="1">
            <a:off x="4193335" y="4010823"/>
            <a:ext cx="1250108" cy="3342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1C7CB8-659B-4A58-4B21-BF32E71EAB92}"/>
              </a:ext>
            </a:extLst>
          </p:cNvPr>
          <p:cNvCxnSpPr>
            <a:cxnSpLocks/>
          </p:cNvCxnSpPr>
          <p:nvPr/>
        </p:nvCxnSpPr>
        <p:spPr>
          <a:xfrm flipH="1" flipV="1">
            <a:off x="4193335" y="4339654"/>
            <a:ext cx="1250108" cy="17162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44E2280-5F4A-CE7C-008E-9B516051F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943" r="4156" b="2878"/>
          <a:stretch/>
        </p:blipFill>
        <p:spPr>
          <a:xfrm>
            <a:off x="5559209" y="4117437"/>
            <a:ext cx="2761069" cy="1861774"/>
          </a:xfrm>
          <a:prstGeom prst="rect">
            <a:avLst/>
          </a:prstGeom>
        </p:spPr>
      </p:pic>
      <p:sp>
        <p:nvSpPr>
          <p:cNvPr id="24" name="标题 3">
            <a:extLst>
              <a:ext uri="{FF2B5EF4-FFF2-40B4-BE49-F238E27FC236}">
                <a16:creationId xmlns:a16="http://schemas.microsoft.com/office/drawing/2014/main" id="{1A814B53-82A4-C2DE-FDA7-9BDA945A5BCF}"/>
              </a:ext>
            </a:extLst>
          </p:cNvPr>
          <p:cNvSpPr txBox="1">
            <a:spLocks/>
          </p:cNvSpPr>
          <p:nvPr/>
        </p:nvSpPr>
        <p:spPr>
          <a:xfrm>
            <a:off x="905256" y="134821"/>
            <a:ext cx="10122408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Microscopy at Sub-10 nm</a:t>
            </a:r>
            <a:endParaRPr lang="zh-CN" altLang="en-US" sz="4000" b="1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EDB4BAF7-F2EE-C1B5-43CC-2865C4622B3B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562DF7E-7F65-BC7F-1CD9-1C7F23E26F45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440A2BE-B22B-00F9-03C7-3202A2E16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8BA905-D72A-817A-E845-09914855E5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6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" t="1545" r="1196"/>
          <a:stretch/>
        </p:blipFill>
        <p:spPr>
          <a:xfrm>
            <a:off x="64007" y="1093016"/>
            <a:ext cx="5875317" cy="5698078"/>
          </a:xfrm>
          <a:prstGeom prst="rect">
            <a:avLst/>
          </a:prstGeom>
        </p:spPr>
      </p:pic>
      <p:sp>
        <p:nvSpPr>
          <p:cNvPr id="13" name="标题 3"/>
          <p:cNvSpPr txBox="1">
            <a:spLocks/>
          </p:cNvSpPr>
          <p:nvPr/>
        </p:nvSpPr>
        <p:spPr>
          <a:xfrm>
            <a:off x="2748111" y="134821"/>
            <a:ext cx="6695778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CIBA Ion Beam Facility</a:t>
            </a:r>
            <a:endParaRPr lang="zh-CN" altLang="en-US" sz="4000" b="1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 rotWithShape="1">
          <a:blip r:embed="rId4"/>
          <a:srcRect l="4427" t="1033" r="9714" b="70981"/>
          <a:stretch>
            <a:fillRect/>
          </a:stretch>
        </p:blipFill>
        <p:spPr>
          <a:xfrm>
            <a:off x="4956048" y="2093976"/>
            <a:ext cx="7235952" cy="3024433"/>
          </a:xfrm>
          <a:prstGeom prst="rect">
            <a:avLst/>
          </a:prstGeom>
        </p:spPr>
      </p:pic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9CF6343E-73AB-3550-EAE8-CAF230322FED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5D7F881-6F5F-21C3-DCD8-57E6C3B710C9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39E51E-EB38-C0FE-5F0D-CEF9D433D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6CF157-DDAA-DC9B-F34E-6A33E8C00C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30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6769853" y="1883730"/>
            <a:ext cx="45434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latin typeface="Arial" panose="020B0604020202020204" pitchFamily="34" charset="0"/>
              </a:rPr>
              <a:t>Multi disciplinary research </a:t>
            </a:r>
            <a:r>
              <a:rPr lang="en-US" altLang="en-US" sz="2000" b="1" u="sng" dirty="0" err="1">
                <a:latin typeface="Arial" panose="020B0604020202020204" pitchFamily="34" charset="0"/>
              </a:rPr>
              <a:t>utilising</a:t>
            </a:r>
            <a:r>
              <a:rPr lang="en-US" altLang="en-US" sz="2000" b="1" u="sng" dirty="0">
                <a:latin typeface="Arial" panose="020B0604020202020204" pitchFamily="34" charset="0"/>
              </a:rPr>
              <a:t> high energy light ion beams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769853" y="3794941"/>
            <a:ext cx="4543425" cy="2514600"/>
            <a:chOff x="4572000" y="4314825"/>
            <a:chExt cx="4543425" cy="2514600"/>
          </a:xfrm>
        </p:grpSpPr>
        <p:sp>
          <p:nvSpPr>
            <p:cNvPr id="25602" name="Rectangle 2"/>
            <p:cNvSpPr>
              <a:spLocks noChangeArrowheads="1"/>
            </p:cNvSpPr>
            <p:nvPr/>
          </p:nvSpPr>
          <p:spPr bwMode="auto">
            <a:xfrm>
              <a:off x="4572000" y="4314825"/>
              <a:ext cx="4543425" cy="2514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06" name="Freeform 7"/>
            <p:cNvSpPr>
              <a:spLocks/>
            </p:cNvSpPr>
            <p:nvPr/>
          </p:nvSpPr>
          <p:spPr bwMode="auto">
            <a:xfrm>
              <a:off x="6642100" y="4673600"/>
              <a:ext cx="182563" cy="768350"/>
            </a:xfrm>
            <a:custGeom>
              <a:avLst/>
              <a:gdLst>
                <a:gd name="T0" fmla="*/ 2147483646 w 261"/>
                <a:gd name="T1" fmla="*/ 2147483646 h 1045"/>
                <a:gd name="T2" fmla="*/ 0 w 261"/>
                <a:gd name="T3" fmla="*/ 0 h 1045"/>
                <a:gd name="T4" fmla="*/ 0 w 261"/>
                <a:gd name="T5" fmla="*/ 2147483646 h 1045"/>
                <a:gd name="T6" fmla="*/ 2147483646 w 261"/>
                <a:gd name="T7" fmla="*/ 2147483646 h 1045"/>
                <a:gd name="T8" fmla="*/ 2147483646 w 261"/>
                <a:gd name="T9" fmla="*/ 2147483646 h 10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1"/>
                <a:gd name="T16" fmla="*/ 0 h 1045"/>
                <a:gd name="T17" fmla="*/ 261 w 261"/>
                <a:gd name="T18" fmla="*/ 1045 h 10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1" h="1045">
                  <a:moveTo>
                    <a:pt x="261" y="929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261" y="1045"/>
                  </a:lnTo>
                  <a:lnTo>
                    <a:pt x="261" y="929"/>
                  </a:lnTo>
                  <a:close/>
                </a:path>
              </a:pathLst>
            </a:custGeom>
            <a:solidFill>
              <a:srgbClr val="666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07" name="Freeform 8"/>
            <p:cNvSpPr>
              <a:spLocks/>
            </p:cNvSpPr>
            <p:nvPr/>
          </p:nvSpPr>
          <p:spPr bwMode="auto">
            <a:xfrm>
              <a:off x="6824663" y="4718050"/>
              <a:ext cx="363537" cy="723900"/>
            </a:xfrm>
            <a:custGeom>
              <a:avLst/>
              <a:gdLst>
                <a:gd name="T0" fmla="*/ 0 w 523"/>
                <a:gd name="T1" fmla="*/ 2147483646 h 987"/>
                <a:gd name="T2" fmla="*/ 2147483646 w 523"/>
                <a:gd name="T3" fmla="*/ 0 h 987"/>
                <a:gd name="T4" fmla="*/ 2147483646 w 523"/>
                <a:gd name="T5" fmla="*/ 2147483646 h 987"/>
                <a:gd name="T6" fmla="*/ 0 w 523"/>
                <a:gd name="T7" fmla="*/ 2147483646 h 987"/>
                <a:gd name="T8" fmla="*/ 0 w 523"/>
                <a:gd name="T9" fmla="*/ 2147483646 h 9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3"/>
                <a:gd name="T16" fmla="*/ 0 h 987"/>
                <a:gd name="T17" fmla="*/ 523 w 523"/>
                <a:gd name="T18" fmla="*/ 987 h 9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3" h="987">
                  <a:moveTo>
                    <a:pt x="0" y="871"/>
                  </a:moveTo>
                  <a:lnTo>
                    <a:pt x="523" y="0"/>
                  </a:lnTo>
                  <a:lnTo>
                    <a:pt x="523" y="116"/>
                  </a:lnTo>
                  <a:lnTo>
                    <a:pt x="0" y="987"/>
                  </a:lnTo>
                  <a:lnTo>
                    <a:pt x="0" y="871"/>
                  </a:lnTo>
                  <a:close/>
                </a:path>
              </a:pathLst>
            </a:custGeom>
            <a:solidFill>
              <a:srgbClr val="666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08" name="Freeform 9"/>
            <p:cNvSpPr>
              <a:spLocks/>
            </p:cNvSpPr>
            <p:nvPr/>
          </p:nvSpPr>
          <p:spPr bwMode="auto">
            <a:xfrm>
              <a:off x="6642100" y="4652963"/>
              <a:ext cx="546100" cy="704850"/>
            </a:xfrm>
            <a:custGeom>
              <a:avLst/>
              <a:gdLst>
                <a:gd name="T0" fmla="*/ 0 w 784"/>
                <a:gd name="T1" fmla="*/ 2147483646 h 958"/>
                <a:gd name="T2" fmla="*/ 2147483646 w 784"/>
                <a:gd name="T3" fmla="*/ 2147483646 h 958"/>
                <a:gd name="T4" fmla="*/ 2147483646 w 784"/>
                <a:gd name="T5" fmla="*/ 0 h 958"/>
                <a:gd name="T6" fmla="*/ 2147483646 w 784"/>
                <a:gd name="T7" fmla="*/ 0 h 958"/>
                <a:gd name="T8" fmla="*/ 2147483646 w 784"/>
                <a:gd name="T9" fmla="*/ 0 h 958"/>
                <a:gd name="T10" fmla="*/ 2147483646 w 784"/>
                <a:gd name="T11" fmla="*/ 0 h 958"/>
                <a:gd name="T12" fmla="*/ 2147483646 w 784"/>
                <a:gd name="T13" fmla="*/ 0 h 958"/>
                <a:gd name="T14" fmla="*/ 2147483646 w 784"/>
                <a:gd name="T15" fmla="*/ 0 h 958"/>
                <a:gd name="T16" fmla="*/ 2147483646 w 784"/>
                <a:gd name="T17" fmla="*/ 0 h 958"/>
                <a:gd name="T18" fmla="*/ 2147483646 w 784"/>
                <a:gd name="T19" fmla="*/ 0 h 958"/>
                <a:gd name="T20" fmla="*/ 2147483646 w 784"/>
                <a:gd name="T21" fmla="*/ 0 h 958"/>
                <a:gd name="T22" fmla="*/ 2147483646 w 784"/>
                <a:gd name="T23" fmla="*/ 0 h 958"/>
                <a:gd name="T24" fmla="*/ 2147483646 w 784"/>
                <a:gd name="T25" fmla="*/ 2147483646 h 958"/>
                <a:gd name="T26" fmla="*/ 2147483646 w 784"/>
                <a:gd name="T27" fmla="*/ 2147483646 h 958"/>
                <a:gd name="T28" fmla="*/ 2147483646 w 784"/>
                <a:gd name="T29" fmla="*/ 2147483646 h 958"/>
                <a:gd name="T30" fmla="*/ 2147483646 w 784"/>
                <a:gd name="T31" fmla="*/ 2147483646 h 958"/>
                <a:gd name="T32" fmla="*/ 2147483646 w 784"/>
                <a:gd name="T33" fmla="*/ 2147483646 h 958"/>
                <a:gd name="T34" fmla="*/ 2147483646 w 784"/>
                <a:gd name="T35" fmla="*/ 2147483646 h 958"/>
                <a:gd name="T36" fmla="*/ 2147483646 w 784"/>
                <a:gd name="T37" fmla="*/ 2147483646 h 958"/>
                <a:gd name="T38" fmla="*/ 2147483646 w 784"/>
                <a:gd name="T39" fmla="*/ 2147483646 h 958"/>
                <a:gd name="T40" fmla="*/ 2147483646 w 784"/>
                <a:gd name="T41" fmla="*/ 2147483646 h 958"/>
                <a:gd name="T42" fmla="*/ 2147483646 w 784"/>
                <a:gd name="T43" fmla="*/ 2147483646 h 958"/>
                <a:gd name="T44" fmla="*/ 2147483646 w 784"/>
                <a:gd name="T45" fmla="*/ 2147483646 h 958"/>
                <a:gd name="T46" fmla="*/ 0 w 784"/>
                <a:gd name="T47" fmla="*/ 2147483646 h 95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84"/>
                <a:gd name="T73" fmla="*/ 0 h 958"/>
                <a:gd name="T74" fmla="*/ 784 w 784"/>
                <a:gd name="T75" fmla="*/ 958 h 95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84" h="958">
                  <a:moveTo>
                    <a:pt x="0" y="15"/>
                  </a:moveTo>
                  <a:lnTo>
                    <a:pt x="43" y="15"/>
                  </a:lnTo>
                  <a:lnTo>
                    <a:pt x="87" y="0"/>
                  </a:lnTo>
                  <a:lnTo>
                    <a:pt x="116" y="0"/>
                  </a:lnTo>
                  <a:lnTo>
                    <a:pt x="160" y="0"/>
                  </a:lnTo>
                  <a:lnTo>
                    <a:pt x="203" y="0"/>
                  </a:lnTo>
                  <a:lnTo>
                    <a:pt x="247" y="0"/>
                  </a:lnTo>
                  <a:lnTo>
                    <a:pt x="261" y="0"/>
                  </a:lnTo>
                  <a:lnTo>
                    <a:pt x="305" y="0"/>
                  </a:lnTo>
                  <a:lnTo>
                    <a:pt x="348" y="0"/>
                  </a:lnTo>
                  <a:lnTo>
                    <a:pt x="392" y="0"/>
                  </a:lnTo>
                  <a:lnTo>
                    <a:pt x="421" y="0"/>
                  </a:lnTo>
                  <a:lnTo>
                    <a:pt x="464" y="15"/>
                  </a:lnTo>
                  <a:lnTo>
                    <a:pt x="508" y="15"/>
                  </a:lnTo>
                  <a:lnTo>
                    <a:pt x="537" y="15"/>
                  </a:lnTo>
                  <a:lnTo>
                    <a:pt x="566" y="29"/>
                  </a:lnTo>
                  <a:lnTo>
                    <a:pt x="610" y="29"/>
                  </a:lnTo>
                  <a:lnTo>
                    <a:pt x="653" y="44"/>
                  </a:lnTo>
                  <a:lnTo>
                    <a:pt x="682" y="58"/>
                  </a:lnTo>
                  <a:lnTo>
                    <a:pt x="711" y="58"/>
                  </a:lnTo>
                  <a:lnTo>
                    <a:pt x="755" y="73"/>
                  </a:lnTo>
                  <a:lnTo>
                    <a:pt x="784" y="87"/>
                  </a:lnTo>
                  <a:lnTo>
                    <a:pt x="261" y="958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09" name="Freeform 10"/>
            <p:cNvSpPr>
              <a:spLocks/>
            </p:cNvSpPr>
            <p:nvPr/>
          </p:nvSpPr>
          <p:spPr bwMode="auto">
            <a:xfrm>
              <a:off x="6916738" y="4845050"/>
              <a:ext cx="557212" cy="619125"/>
            </a:xfrm>
            <a:custGeom>
              <a:avLst/>
              <a:gdLst>
                <a:gd name="T0" fmla="*/ 0 w 799"/>
                <a:gd name="T1" fmla="*/ 2147483646 h 842"/>
                <a:gd name="T2" fmla="*/ 2147483646 w 799"/>
                <a:gd name="T3" fmla="*/ 0 h 842"/>
                <a:gd name="T4" fmla="*/ 2147483646 w 799"/>
                <a:gd name="T5" fmla="*/ 2147483646 h 842"/>
                <a:gd name="T6" fmla="*/ 0 w 799"/>
                <a:gd name="T7" fmla="*/ 2147483646 h 842"/>
                <a:gd name="T8" fmla="*/ 0 w 799"/>
                <a:gd name="T9" fmla="*/ 2147483646 h 8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9"/>
                <a:gd name="T16" fmla="*/ 0 h 842"/>
                <a:gd name="T17" fmla="*/ 799 w 799"/>
                <a:gd name="T18" fmla="*/ 842 h 8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9" h="842">
                  <a:moveTo>
                    <a:pt x="0" y="726"/>
                  </a:moveTo>
                  <a:lnTo>
                    <a:pt x="799" y="0"/>
                  </a:lnTo>
                  <a:lnTo>
                    <a:pt x="799" y="117"/>
                  </a:lnTo>
                  <a:lnTo>
                    <a:pt x="0" y="842"/>
                  </a:lnTo>
                  <a:lnTo>
                    <a:pt x="0" y="726"/>
                  </a:lnTo>
                  <a:close/>
                </a:path>
              </a:pathLst>
            </a:custGeom>
            <a:solidFill>
              <a:srgbClr val="000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0" name="Freeform 11"/>
            <p:cNvSpPr>
              <a:spLocks/>
            </p:cNvSpPr>
            <p:nvPr/>
          </p:nvSpPr>
          <p:spPr bwMode="auto">
            <a:xfrm>
              <a:off x="6916738" y="4738688"/>
              <a:ext cx="557212" cy="639762"/>
            </a:xfrm>
            <a:custGeom>
              <a:avLst/>
              <a:gdLst>
                <a:gd name="T0" fmla="*/ 2147483646 w 799"/>
                <a:gd name="T1" fmla="*/ 0 h 871"/>
                <a:gd name="T2" fmla="*/ 2147483646 w 799"/>
                <a:gd name="T3" fmla="*/ 2147483646 h 871"/>
                <a:gd name="T4" fmla="*/ 2147483646 w 799"/>
                <a:gd name="T5" fmla="*/ 2147483646 h 871"/>
                <a:gd name="T6" fmla="*/ 2147483646 w 799"/>
                <a:gd name="T7" fmla="*/ 2147483646 h 871"/>
                <a:gd name="T8" fmla="*/ 2147483646 w 799"/>
                <a:gd name="T9" fmla="*/ 2147483646 h 871"/>
                <a:gd name="T10" fmla="*/ 2147483646 w 799"/>
                <a:gd name="T11" fmla="*/ 2147483646 h 871"/>
                <a:gd name="T12" fmla="*/ 2147483646 w 799"/>
                <a:gd name="T13" fmla="*/ 2147483646 h 871"/>
                <a:gd name="T14" fmla="*/ 2147483646 w 799"/>
                <a:gd name="T15" fmla="*/ 2147483646 h 871"/>
                <a:gd name="T16" fmla="*/ 2147483646 w 799"/>
                <a:gd name="T17" fmla="*/ 2147483646 h 871"/>
                <a:gd name="T18" fmla="*/ 2147483646 w 799"/>
                <a:gd name="T19" fmla="*/ 2147483646 h 871"/>
                <a:gd name="T20" fmla="*/ 0 w 799"/>
                <a:gd name="T21" fmla="*/ 2147483646 h 871"/>
                <a:gd name="T22" fmla="*/ 2147483646 w 799"/>
                <a:gd name="T23" fmla="*/ 0 h 87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99"/>
                <a:gd name="T37" fmla="*/ 0 h 871"/>
                <a:gd name="T38" fmla="*/ 799 w 799"/>
                <a:gd name="T39" fmla="*/ 871 h 87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99" h="871">
                  <a:moveTo>
                    <a:pt x="523" y="0"/>
                  </a:moveTo>
                  <a:lnTo>
                    <a:pt x="566" y="15"/>
                  </a:lnTo>
                  <a:lnTo>
                    <a:pt x="581" y="15"/>
                  </a:lnTo>
                  <a:lnTo>
                    <a:pt x="624" y="44"/>
                  </a:lnTo>
                  <a:lnTo>
                    <a:pt x="668" y="58"/>
                  </a:lnTo>
                  <a:lnTo>
                    <a:pt x="682" y="58"/>
                  </a:lnTo>
                  <a:lnTo>
                    <a:pt x="711" y="87"/>
                  </a:lnTo>
                  <a:lnTo>
                    <a:pt x="755" y="102"/>
                  </a:lnTo>
                  <a:lnTo>
                    <a:pt x="769" y="116"/>
                  </a:lnTo>
                  <a:lnTo>
                    <a:pt x="799" y="131"/>
                  </a:lnTo>
                  <a:lnTo>
                    <a:pt x="0" y="871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1" name="Freeform 12"/>
            <p:cNvSpPr>
              <a:spLocks/>
            </p:cNvSpPr>
            <p:nvPr/>
          </p:nvSpPr>
          <p:spPr bwMode="auto">
            <a:xfrm>
              <a:off x="6965950" y="5102225"/>
              <a:ext cx="771525" cy="403225"/>
            </a:xfrm>
            <a:custGeom>
              <a:avLst/>
              <a:gdLst>
                <a:gd name="T0" fmla="*/ 0 w 1104"/>
                <a:gd name="T1" fmla="*/ 2147483646 h 551"/>
                <a:gd name="T2" fmla="*/ 2147483646 w 1104"/>
                <a:gd name="T3" fmla="*/ 0 h 551"/>
                <a:gd name="T4" fmla="*/ 2147483646 w 1104"/>
                <a:gd name="T5" fmla="*/ 2147483646 h 551"/>
                <a:gd name="T6" fmla="*/ 0 w 1104"/>
                <a:gd name="T7" fmla="*/ 2147483646 h 551"/>
                <a:gd name="T8" fmla="*/ 0 w 1104"/>
                <a:gd name="T9" fmla="*/ 2147483646 h 5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51"/>
                <a:gd name="T17" fmla="*/ 1104 w 1104"/>
                <a:gd name="T18" fmla="*/ 551 h 5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551">
                  <a:moveTo>
                    <a:pt x="0" y="435"/>
                  </a:moveTo>
                  <a:lnTo>
                    <a:pt x="1104" y="0"/>
                  </a:lnTo>
                  <a:lnTo>
                    <a:pt x="1104" y="116"/>
                  </a:lnTo>
                  <a:lnTo>
                    <a:pt x="0" y="551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4D4D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2" name="Freeform 13"/>
            <p:cNvSpPr>
              <a:spLocks/>
            </p:cNvSpPr>
            <p:nvPr/>
          </p:nvSpPr>
          <p:spPr bwMode="auto">
            <a:xfrm>
              <a:off x="6965950" y="4878388"/>
              <a:ext cx="771525" cy="542925"/>
            </a:xfrm>
            <a:custGeom>
              <a:avLst/>
              <a:gdLst>
                <a:gd name="T0" fmla="*/ 2147483646 w 1104"/>
                <a:gd name="T1" fmla="*/ 0 h 740"/>
                <a:gd name="T2" fmla="*/ 2147483646 w 1104"/>
                <a:gd name="T3" fmla="*/ 2147483646 h 740"/>
                <a:gd name="T4" fmla="*/ 2147483646 w 1104"/>
                <a:gd name="T5" fmla="*/ 2147483646 h 740"/>
                <a:gd name="T6" fmla="*/ 2147483646 w 1104"/>
                <a:gd name="T7" fmla="*/ 2147483646 h 740"/>
                <a:gd name="T8" fmla="*/ 2147483646 w 1104"/>
                <a:gd name="T9" fmla="*/ 2147483646 h 740"/>
                <a:gd name="T10" fmla="*/ 2147483646 w 1104"/>
                <a:gd name="T11" fmla="*/ 2147483646 h 740"/>
                <a:gd name="T12" fmla="*/ 2147483646 w 1104"/>
                <a:gd name="T13" fmla="*/ 2147483646 h 740"/>
                <a:gd name="T14" fmla="*/ 2147483646 w 1104"/>
                <a:gd name="T15" fmla="*/ 2147483646 h 740"/>
                <a:gd name="T16" fmla="*/ 2147483646 w 1104"/>
                <a:gd name="T17" fmla="*/ 2147483646 h 740"/>
                <a:gd name="T18" fmla="*/ 2147483646 w 1104"/>
                <a:gd name="T19" fmla="*/ 2147483646 h 740"/>
                <a:gd name="T20" fmla="*/ 2147483646 w 1104"/>
                <a:gd name="T21" fmla="*/ 2147483646 h 740"/>
                <a:gd name="T22" fmla="*/ 2147483646 w 1104"/>
                <a:gd name="T23" fmla="*/ 2147483646 h 740"/>
                <a:gd name="T24" fmla="*/ 2147483646 w 1104"/>
                <a:gd name="T25" fmla="*/ 2147483646 h 740"/>
                <a:gd name="T26" fmla="*/ 0 w 1104"/>
                <a:gd name="T27" fmla="*/ 2147483646 h 740"/>
                <a:gd name="T28" fmla="*/ 2147483646 w 1104"/>
                <a:gd name="T29" fmla="*/ 0 h 7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104"/>
                <a:gd name="T46" fmla="*/ 0 h 740"/>
                <a:gd name="T47" fmla="*/ 1104 w 1104"/>
                <a:gd name="T48" fmla="*/ 740 h 7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104" h="740">
                  <a:moveTo>
                    <a:pt x="799" y="0"/>
                  </a:moveTo>
                  <a:lnTo>
                    <a:pt x="828" y="29"/>
                  </a:lnTo>
                  <a:lnTo>
                    <a:pt x="872" y="44"/>
                  </a:lnTo>
                  <a:lnTo>
                    <a:pt x="901" y="73"/>
                  </a:lnTo>
                  <a:lnTo>
                    <a:pt x="930" y="102"/>
                  </a:lnTo>
                  <a:lnTo>
                    <a:pt x="959" y="116"/>
                  </a:lnTo>
                  <a:lnTo>
                    <a:pt x="988" y="145"/>
                  </a:lnTo>
                  <a:lnTo>
                    <a:pt x="1002" y="160"/>
                  </a:lnTo>
                  <a:lnTo>
                    <a:pt x="1017" y="189"/>
                  </a:lnTo>
                  <a:lnTo>
                    <a:pt x="1046" y="218"/>
                  </a:lnTo>
                  <a:lnTo>
                    <a:pt x="1075" y="247"/>
                  </a:lnTo>
                  <a:lnTo>
                    <a:pt x="1090" y="276"/>
                  </a:lnTo>
                  <a:lnTo>
                    <a:pt x="1104" y="305"/>
                  </a:lnTo>
                  <a:lnTo>
                    <a:pt x="0" y="740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3" name="Freeform 14"/>
            <p:cNvSpPr>
              <a:spLocks/>
            </p:cNvSpPr>
            <p:nvPr/>
          </p:nvSpPr>
          <p:spPr bwMode="auto">
            <a:xfrm>
              <a:off x="5891213" y="5102225"/>
              <a:ext cx="781050" cy="384175"/>
            </a:xfrm>
            <a:custGeom>
              <a:avLst/>
              <a:gdLst>
                <a:gd name="T0" fmla="*/ 2147483646 w 1118"/>
                <a:gd name="T1" fmla="*/ 2147483646 h 522"/>
                <a:gd name="T2" fmla="*/ 0 w 1118"/>
                <a:gd name="T3" fmla="*/ 0 h 522"/>
                <a:gd name="T4" fmla="*/ 0 w 1118"/>
                <a:gd name="T5" fmla="*/ 2147483646 h 522"/>
                <a:gd name="T6" fmla="*/ 2147483646 w 1118"/>
                <a:gd name="T7" fmla="*/ 2147483646 h 522"/>
                <a:gd name="T8" fmla="*/ 2147483646 w 1118"/>
                <a:gd name="T9" fmla="*/ 2147483646 h 5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8"/>
                <a:gd name="T16" fmla="*/ 0 h 522"/>
                <a:gd name="T17" fmla="*/ 1118 w 1118"/>
                <a:gd name="T18" fmla="*/ 522 h 5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8" h="522">
                  <a:moveTo>
                    <a:pt x="1118" y="406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1118" y="522"/>
                  </a:lnTo>
                  <a:lnTo>
                    <a:pt x="1118" y="406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4" name="Freeform 15"/>
            <p:cNvSpPr>
              <a:spLocks/>
            </p:cNvSpPr>
            <p:nvPr/>
          </p:nvSpPr>
          <p:spPr bwMode="auto">
            <a:xfrm>
              <a:off x="5891213" y="4706938"/>
              <a:ext cx="781050" cy="692150"/>
            </a:xfrm>
            <a:custGeom>
              <a:avLst/>
              <a:gdLst>
                <a:gd name="T0" fmla="*/ 0 w 1118"/>
                <a:gd name="T1" fmla="*/ 2147483646 h 943"/>
                <a:gd name="T2" fmla="*/ 2147483646 w 1118"/>
                <a:gd name="T3" fmla="*/ 2147483646 h 943"/>
                <a:gd name="T4" fmla="*/ 2147483646 w 1118"/>
                <a:gd name="T5" fmla="*/ 2147483646 h 943"/>
                <a:gd name="T6" fmla="*/ 2147483646 w 1118"/>
                <a:gd name="T7" fmla="*/ 2147483646 h 943"/>
                <a:gd name="T8" fmla="*/ 2147483646 w 1118"/>
                <a:gd name="T9" fmla="*/ 2147483646 h 943"/>
                <a:gd name="T10" fmla="*/ 2147483646 w 1118"/>
                <a:gd name="T11" fmla="*/ 2147483646 h 943"/>
                <a:gd name="T12" fmla="*/ 2147483646 w 1118"/>
                <a:gd name="T13" fmla="*/ 2147483646 h 943"/>
                <a:gd name="T14" fmla="*/ 2147483646 w 1118"/>
                <a:gd name="T15" fmla="*/ 2147483646 h 943"/>
                <a:gd name="T16" fmla="*/ 2147483646 w 1118"/>
                <a:gd name="T17" fmla="*/ 2147483646 h 943"/>
                <a:gd name="T18" fmla="*/ 2147483646 w 1118"/>
                <a:gd name="T19" fmla="*/ 2147483646 h 943"/>
                <a:gd name="T20" fmla="*/ 2147483646 w 1118"/>
                <a:gd name="T21" fmla="*/ 2147483646 h 943"/>
                <a:gd name="T22" fmla="*/ 2147483646 w 1118"/>
                <a:gd name="T23" fmla="*/ 2147483646 h 943"/>
                <a:gd name="T24" fmla="*/ 2147483646 w 1118"/>
                <a:gd name="T25" fmla="*/ 2147483646 h 943"/>
                <a:gd name="T26" fmla="*/ 2147483646 w 1118"/>
                <a:gd name="T27" fmla="*/ 2147483646 h 943"/>
                <a:gd name="T28" fmla="*/ 2147483646 w 1118"/>
                <a:gd name="T29" fmla="*/ 2147483646 h 943"/>
                <a:gd name="T30" fmla="*/ 2147483646 w 1118"/>
                <a:gd name="T31" fmla="*/ 2147483646 h 943"/>
                <a:gd name="T32" fmla="*/ 2147483646 w 1118"/>
                <a:gd name="T33" fmla="*/ 2147483646 h 943"/>
                <a:gd name="T34" fmla="*/ 2147483646 w 1118"/>
                <a:gd name="T35" fmla="*/ 2147483646 h 943"/>
                <a:gd name="T36" fmla="*/ 2147483646 w 1118"/>
                <a:gd name="T37" fmla="*/ 2147483646 h 943"/>
                <a:gd name="T38" fmla="*/ 2147483646 w 1118"/>
                <a:gd name="T39" fmla="*/ 2147483646 h 943"/>
                <a:gd name="T40" fmla="*/ 2147483646 w 1118"/>
                <a:gd name="T41" fmla="*/ 2147483646 h 943"/>
                <a:gd name="T42" fmla="*/ 2147483646 w 1118"/>
                <a:gd name="T43" fmla="*/ 2147483646 h 943"/>
                <a:gd name="T44" fmla="*/ 2147483646 w 1118"/>
                <a:gd name="T45" fmla="*/ 2147483646 h 943"/>
                <a:gd name="T46" fmla="*/ 2147483646 w 1118"/>
                <a:gd name="T47" fmla="*/ 2147483646 h 943"/>
                <a:gd name="T48" fmla="*/ 2147483646 w 1118"/>
                <a:gd name="T49" fmla="*/ 2147483646 h 943"/>
                <a:gd name="T50" fmla="*/ 2147483646 w 1118"/>
                <a:gd name="T51" fmla="*/ 2147483646 h 943"/>
                <a:gd name="T52" fmla="*/ 2147483646 w 1118"/>
                <a:gd name="T53" fmla="*/ 2147483646 h 943"/>
                <a:gd name="T54" fmla="*/ 2147483646 w 1118"/>
                <a:gd name="T55" fmla="*/ 0 h 943"/>
                <a:gd name="T56" fmla="*/ 2147483646 w 1118"/>
                <a:gd name="T57" fmla="*/ 2147483646 h 943"/>
                <a:gd name="T58" fmla="*/ 0 w 1118"/>
                <a:gd name="T59" fmla="*/ 2147483646 h 94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118"/>
                <a:gd name="T91" fmla="*/ 0 h 943"/>
                <a:gd name="T92" fmla="*/ 1118 w 1118"/>
                <a:gd name="T93" fmla="*/ 943 h 943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118" h="943">
                  <a:moveTo>
                    <a:pt x="0" y="537"/>
                  </a:moveTo>
                  <a:lnTo>
                    <a:pt x="15" y="508"/>
                  </a:lnTo>
                  <a:lnTo>
                    <a:pt x="29" y="479"/>
                  </a:lnTo>
                  <a:lnTo>
                    <a:pt x="58" y="450"/>
                  </a:lnTo>
                  <a:lnTo>
                    <a:pt x="87" y="421"/>
                  </a:lnTo>
                  <a:lnTo>
                    <a:pt x="102" y="392"/>
                  </a:lnTo>
                  <a:lnTo>
                    <a:pt x="131" y="363"/>
                  </a:lnTo>
                  <a:lnTo>
                    <a:pt x="160" y="334"/>
                  </a:lnTo>
                  <a:lnTo>
                    <a:pt x="189" y="305"/>
                  </a:lnTo>
                  <a:lnTo>
                    <a:pt x="218" y="290"/>
                  </a:lnTo>
                  <a:lnTo>
                    <a:pt x="247" y="261"/>
                  </a:lnTo>
                  <a:lnTo>
                    <a:pt x="276" y="232"/>
                  </a:lnTo>
                  <a:lnTo>
                    <a:pt x="305" y="217"/>
                  </a:lnTo>
                  <a:lnTo>
                    <a:pt x="334" y="188"/>
                  </a:lnTo>
                  <a:lnTo>
                    <a:pt x="363" y="188"/>
                  </a:lnTo>
                  <a:lnTo>
                    <a:pt x="392" y="159"/>
                  </a:lnTo>
                  <a:lnTo>
                    <a:pt x="421" y="145"/>
                  </a:lnTo>
                  <a:lnTo>
                    <a:pt x="465" y="130"/>
                  </a:lnTo>
                  <a:lnTo>
                    <a:pt x="494" y="116"/>
                  </a:lnTo>
                  <a:lnTo>
                    <a:pt x="538" y="87"/>
                  </a:lnTo>
                  <a:lnTo>
                    <a:pt x="581" y="72"/>
                  </a:lnTo>
                  <a:lnTo>
                    <a:pt x="610" y="58"/>
                  </a:lnTo>
                  <a:lnTo>
                    <a:pt x="654" y="58"/>
                  </a:lnTo>
                  <a:lnTo>
                    <a:pt x="697" y="43"/>
                  </a:lnTo>
                  <a:lnTo>
                    <a:pt x="741" y="29"/>
                  </a:lnTo>
                  <a:lnTo>
                    <a:pt x="784" y="14"/>
                  </a:lnTo>
                  <a:lnTo>
                    <a:pt x="828" y="14"/>
                  </a:lnTo>
                  <a:lnTo>
                    <a:pt x="857" y="0"/>
                  </a:lnTo>
                  <a:lnTo>
                    <a:pt x="1118" y="943"/>
                  </a:lnTo>
                  <a:lnTo>
                    <a:pt x="0" y="537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5" name="Freeform 16"/>
            <p:cNvSpPr>
              <a:spLocks/>
            </p:cNvSpPr>
            <p:nvPr/>
          </p:nvSpPr>
          <p:spPr bwMode="auto">
            <a:xfrm>
              <a:off x="5729288" y="5497513"/>
              <a:ext cx="862012" cy="147637"/>
            </a:xfrm>
            <a:custGeom>
              <a:avLst/>
              <a:gdLst>
                <a:gd name="T0" fmla="*/ 2147483646 w 1234"/>
                <a:gd name="T1" fmla="*/ 0 h 203"/>
                <a:gd name="T2" fmla="*/ 0 w 1234"/>
                <a:gd name="T3" fmla="*/ 2147483646 h 203"/>
                <a:gd name="T4" fmla="*/ 0 w 1234"/>
                <a:gd name="T5" fmla="*/ 2147483646 h 203"/>
                <a:gd name="T6" fmla="*/ 2147483646 w 1234"/>
                <a:gd name="T7" fmla="*/ 2147483646 h 203"/>
                <a:gd name="T8" fmla="*/ 2147483646 w 1234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4"/>
                <a:gd name="T16" fmla="*/ 0 h 203"/>
                <a:gd name="T17" fmla="*/ 1234 w 1234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4" h="203">
                  <a:moveTo>
                    <a:pt x="1234" y="0"/>
                  </a:moveTo>
                  <a:lnTo>
                    <a:pt x="0" y="87"/>
                  </a:lnTo>
                  <a:lnTo>
                    <a:pt x="0" y="203"/>
                  </a:lnTo>
                  <a:lnTo>
                    <a:pt x="1234" y="116"/>
                  </a:lnTo>
                  <a:lnTo>
                    <a:pt x="1234" y="0"/>
                  </a:lnTo>
                  <a:close/>
                </a:path>
              </a:pathLst>
            </a:custGeom>
            <a:solidFill>
              <a:srgbClr val="8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6" name="Freeform 17"/>
            <p:cNvSpPr>
              <a:spLocks/>
            </p:cNvSpPr>
            <p:nvPr/>
          </p:nvSpPr>
          <p:spPr bwMode="auto">
            <a:xfrm>
              <a:off x="5729288" y="5197475"/>
              <a:ext cx="862012" cy="361950"/>
            </a:xfrm>
            <a:custGeom>
              <a:avLst/>
              <a:gdLst>
                <a:gd name="T0" fmla="*/ 0 w 1234"/>
                <a:gd name="T1" fmla="*/ 2147483646 h 494"/>
                <a:gd name="T2" fmla="*/ 0 w 1234"/>
                <a:gd name="T3" fmla="*/ 2147483646 h 494"/>
                <a:gd name="T4" fmla="*/ 0 w 1234"/>
                <a:gd name="T5" fmla="*/ 2147483646 h 494"/>
                <a:gd name="T6" fmla="*/ 0 w 1234"/>
                <a:gd name="T7" fmla="*/ 2147483646 h 494"/>
                <a:gd name="T8" fmla="*/ 0 w 1234"/>
                <a:gd name="T9" fmla="*/ 2147483646 h 494"/>
                <a:gd name="T10" fmla="*/ 0 w 1234"/>
                <a:gd name="T11" fmla="*/ 2147483646 h 494"/>
                <a:gd name="T12" fmla="*/ 0 w 1234"/>
                <a:gd name="T13" fmla="*/ 2147483646 h 494"/>
                <a:gd name="T14" fmla="*/ 2147483646 w 1234"/>
                <a:gd name="T15" fmla="*/ 2147483646 h 494"/>
                <a:gd name="T16" fmla="*/ 2147483646 w 1234"/>
                <a:gd name="T17" fmla="*/ 2147483646 h 494"/>
                <a:gd name="T18" fmla="*/ 2147483646 w 1234"/>
                <a:gd name="T19" fmla="*/ 2147483646 h 494"/>
                <a:gd name="T20" fmla="*/ 2147483646 w 1234"/>
                <a:gd name="T21" fmla="*/ 2147483646 h 494"/>
                <a:gd name="T22" fmla="*/ 2147483646 w 1234"/>
                <a:gd name="T23" fmla="*/ 2147483646 h 494"/>
                <a:gd name="T24" fmla="*/ 2147483646 w 1234"/>
                <a:gd name="T25" fmla="*/ 2147483646 h 494"/>
                <a:gd name="T26" fmla="*/ 2147483646 w 1234"/>
                <a:gd name="T27" fmla="*/ 2147483646 h 494"/>
                <a:gd name="T28" fmla="*/ 2147483646 w 1234"/>
                <a:gd name="T29" fmla="*/ 2147483646 h 494"/>
                <a:gd name="T30" fmla="*/ 2147483646 w 1234"/>
                <a:gd name="T31" fmla="*/ 0 h 494"/>
                <a:gd name="T32" fmla="*/ 2147483646 w 1234"/>
                <a:gd name="T33" fmla="*/ 2147483646 h 494"/>
                <a:gd name="T34" fmla="*/ 0 w 1234"/>
                <a:gd name="T35" fmla="*/ 2147483646 h 49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234"/>
                <a:gd name="T55" fmla="*/ 0 h 494"/>
                <a:gd name="T56" fmla="*/ 1234 w 1234"/>
                <a:gd name="T57" fmla="*/ 494 h 49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234" h="494">
                  <a:moveTo>
                    <a:pt x="0" y="494"/>
                  </a:moveTo>
                  <a:lnTo>
                    <a:pt x="0" y="450"/>
                  </a:lnTo>
                  <a:lnTo>
                    <a:pt x="0" y="421"/>
                  </a:lnTo>
                  <a:lnTo>
                    <a:pt x="0" y="392"/>
                  </a:lnTo>
                  <a:lnTo>
                    <a:pt x="0" y="349"/>
                  </a:lnTo>
                  <a:lnTo>
                    <a:pt x="0" y="320"/>
                  </a:lnTo>
                  <a:lnTo>
                    <a:pt x="0" y="291"/>
                  </a:lnTo>
                  <a:lnTo>
                    <a:pt x="15" y="247"/>
                  </a:lnTo>
                  <a:lnTo>
                    <a:pt x="15" y="218"/>
                  </a:lnTo>
                  <a:lnTo>
                    <a:pt x="29" y="189"/>
                  </a:lnTo>
                  <a:lnTo>
                    <a:pt x="44" y="160"/>
                  </a:lnTo>
                  <a:lnTo>
                    <a:pt x="44" y="116"/>
                  </a:lnTo>
                  <a:lnTo>
                    <a:pt x="58" y="87"/>
                  </a:lnTo>
                  <a:lnTo>
                    <a:pt x="73" y="58"/>
                  </a:lnTo>
                  <a:lnTo>
                    <a:pt x="102" y="29"/>
                  </a:lnTo>
                  <a:lnTo>
                    <a:pt x="116" y="0"/>
                  </a:lnTo>
                  <a:lnTo>
                    <a:pt x="1234" y="407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rgbClr val="FF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7" name="Freeform 18"/>
            <p:cNvSpPr>
              <a:spLocks/>
            </p:cNvSpPr>
            <p:nvPr/>
          </p:nvSpPr>
          <p:spPr bwMode="auto">
            <a:xfrm>
              <a:off x="7808913" y="5516563"/>
              <a:ext cx="79375" cy="384175"/>
            </a:xfrm>
            <a:custGeom>
              <a:avLst/>
              <a:gdLst>
                <a:gd name="T0" fmla="*/ 2147483646 w 116"/>
                <a:gd name="T1" fmla="*/ 0 h 522"/>
                <a:gd name="T2" fmla="*/ 2147483646 w 116"/>
                <a:gd name="T3" fmla="*/ 2147483646 h 522"/>
                <a:gd name="T4" fmla="*/ 2147483646 w 116"/>
                <a:gd name="T5" fmla="*/ 2147483646 h 522"/>
                <a:gd name="T6" fmla="*/ 2147483646 w 116"/>
                <a:gd name="T7" fmla="*/ 2147483646 h 522"/>
                <a:gd name="T8" fmla="*/ 2147483646 w 116"/>
                <a:gd name="T9" fmla="*/ 2147483646 h 522"/>
                <a:gd name="T10" fmla="*/ 2147483646 w 116"/>
                <a:gd name="T11" fmla="*/ 2147483646 h 522"/>
                <a:gd name="T12" fmla="*/ 2147483646 w 116"/>
                <a:gd name="T13" fmla="*/ 2147483646 h 522"/>
                <a:gd name="T14" fmla="*/ 2147483646 w 116"/>
                <a:gd name="T15" fmla="*/ 2147483646 h 522"/>
                <a:gd name="T16" fmla="*/ 2147483646 w 116"/>
                <a:gd name="T17" fmla="*/ 2147483646 h 522"/>
                <a:gd name="T18" fmla="*/ 2147483646 w 116"/>
                <a:gd name="T19" fmla="*/ 2147483646 h 522"/>
                <a:gd name="T20" fmla="*/ 2147483646 w 116"/>
                <a:gd name="T21" fmla="*/ 2147483646 h 522"/>
                <a:gd name="T22" fmla="*/ 2147483646 w 116"/>
                <a:gd name="T23" fmla="*/ 2147483646 h 522"/>
                <a:gd name="T24" fmla="*/ 2147483646 w 116"/>
                <a:gd name="T25" fmla="*/ 2147483646 h 522"/>
                <a:gd name="T26" fmla="*/ 2147483646 w 116"/>
                <a:gd name="T27" fmla="*/ 2147483646 h 522"/>
                <a:gd name="T28" fmla="*/ 2147483646 w 116"/>
                <a:gd name="T29" fmla="*/ 2147483646 h 522"/>
                <a:gd name="T30" fmla="*/ 0 w 116"/>
                <a:gd name="T31" fmla="*/ 2147483646 h 522"/>
                <a:gd name="T32" fmla="*/ 0 w 116"/>
                <a:gd name="T33" fmla="*/ 2147483646 h 522"/>
                <a:gd name="T34" fmla="*/ 2147483646 w 116"/>
                <a:gd name="T35" fmla="*/ 2147483646 h 522"/>
                <a:gd name="T36" fmla="*/ 2147483646 w 116"/>
                <a:gd name="T37" fmla="*/ 2147483646 h 522"/>
                <a:gd name="T38" fmla="*/ 2147483646 w 116"/>
                <a:gd name="T39" fmla="*/ 2147483646 h 522"/>
                <a:gd name="T40" fmla="*/ 2147483646 w 116"/>
                <a:gd name="T41" fmla="*/ 2147483646 h 522"/>
                <a:gd name="T42" fmla="*/ 2147483646 w 116"/>
                <a:gd name="T43" fmla="*/ 2147483646 h 522"/>
                <a:gd name="T44" fmla="*/ 2147483646 w 116"/>
                <a:gd name="T45" fmla="*/ 2147483646 h 522"/>
                <a:gd name="T46" fmla="*/ 2147483646 w 116"/>
                <a:gd name="T47" fmla="*/ 2147483646 h 522"/>
                <a:gd name="T48" fmla="*/ 2147483646 w 116"/>
                <a:gd name="T49" fmla="*/ 2147483646 h 522"/>
                <a:gd name="T50" fmla="*/ 2147483646 w 116"/>
                <a:gd name="T51" fmla="*/ 2147483646 h 522"/>
                <a:gd name="T52" fmla="*/ 2147483646 w 116"/>
                <a:gd name="T53" fmla="*/ 2147483646 h 522"/>
                <a:gd name="T54" fmla="*/ 2147483646 w 116"/>
                <a:gd name="T55" fmla="*/ 2147483646 h 522"/>
                <a:gd name="T56" fmla="*/ 2147483646 w 116"/>
                <a:gd name="T57" fmla="*/ 2147483646 h 522"/>
                <a:gd name="T58" fmla="*/ 2147483646 w 116"/>
                <a:gd name="T59" fmla="*/ 2147483646 h 522"/>
                <a:gd name="T60" fmla="*/ 2147483646 w 116"/>
                <a:gd name="T61" fmla="*/ 2147483646 h 522"/>
                <a:gd name="T62" fmla="*/ 2147483646 w 116"/>
                <a:gd name="T63" fmla="*/ 2147483646 h 522"/>
                <a:gd name="T64" fmla="*/ 2147483646 w 116"/>
                <a:gd name="T65" fmla="*/ 0 h 52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6"/>
                <a:gd name="T100" fmla="*/ 0 h 522"/>
                <a:gd name="T101" fmla="*/ 116 w 116"/>
                <a:gd name="T102" fmla="*/ 522 h 52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6" h="522">
                  <a:moveTo>
                    <a:pt x="116" y="0"/>
                  </a:moveTo>
                  <a:lnTo>
                    <a:pt x="116" y="43"/>
                  </a:lnTo>
                  <a:lnTo>
                    <a:pt x="116" y="58"/>
                  </a:lnTo>
                  <a:lnTo>
                    <a:pt x="101" y="87"/>
                  </a:lnTo>
                  <a:lnTo>
                    <a:pt x="101" y="116"/>
                  </a:lnTo>
                  <a:lnTo>
                    <a:pt x="101" y="130"/>
                  </a:lnTo>
                  <a:lnTo>
                    <a:pt x="87" y="174"/>
                  </a:lnTo>
                  <a:lnTo>
                    <a:pt x="87" y="203"/>
                  </a:lnTo>
                  <a:lnTo>
                    <a:pt x="87" y="218"/>
                  </a:lnTo>
                  <a:lnTo>
                    <a:pt x="72" y="247"/>
                  </a:lnTo>
                  <a:lnTo>
                    <a:pt x="58" y="276"/>
                  </a:lnTo>
                  <a:lnTo>
                    <a:pt x="58" y="290"/>
                  </a:lnTo>
                  <a:lnTo>
                    <a:pt x="43" y="334"/>
                  </a:lnTo>
                  <a:lnTo>
                    <a:pt x="29" y="363"/>
                  </a:lnTo>
                  <a:lnTo>
                    <a:pt x="14" y="377"/>
                  </a:lnTo>
                  <a:lnTo>
                    <a:pt x="0" y="406"/>
                  </a:lnTo>
                  <a:lnTo>
                    <a:pt x="0" y="522"/>
                  </a:lnTo>
                  <a:lnTo>
                    <a:pt x="14" y="493"/>
                  </a:lnTo>
                  <a:lnTo>
                    <a:pt x="29" y="479"/>
                  </a:lnTo>
                  <a:lnTo>
                    <a:pt x="43" y="450"/>
                  </a:lnTo>
                  <a:lnTo>
                    <a:pt x="58" y="406"/>
                  </a:lnTo>
                  <a:lnTo>
                    <a:pt x="58" y="392"/>
                  </a:lnTo>
                  <a:lnTo>
                    <a:pt x="72" y="363"/>
                  </a:lnTo>
                  <a:lnTo>
                    <a:pt x="87" y="334"/>
                  </a:lnTo>
                  <a:lnTo>
                    <a:pt x="87" y="319"/>
                  </a:lnTo>
                  <a:lnTo>
                    <a:pt x="87" y="290"/>
                  </a:lnTo>
                  <a:lnTo>
                    <a:pt x="101" y="247"/>
                  </a:lnTo>
                  <a:lnTo>
                    <a:pt x="101" y="232"/>
                  </a:lnTo>
                  <a:lnTo>
                    <a:pt x="101" y="203"/>
                  </a:lnTo>
                  <a:lnTo>
                    <a:pt x="116" y="174"/>
                  </a:lnTo>
                  <a:lnTo>
                    <a:pt x="116" y="159"/>
                  </a:lnTo>
                  <a:lnTo>
                    <a:pt x="116" y="11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4D1A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8" name="Freeform 19"/>
            <p:cNvSpPr>
              <a:spLocks/>
            </p:cNvSpPr>
            <p:nvPr/>
          </p:nvSpPr>
          <p:spPr bwMode="auto">
            <a:xfrm>
              <a:off x="7018338" y="5527675"/>
              <a:ext cx="779462" cy="384175"/>
            </a:xfrm>
            <a:custGeom>
              <a:avLst/>
              <a:gdLst>
                <a:gd name="T0" fmla="*/ 0 w 1118"/>
                <a:gd name="T1" fmla="*/ 0 h 523"/>
                <a:gd name="T2" fmla="*/ 2147483646 w 1118"/>
                <a:gd name="T3" fmla="*/ 2147483646 h 523"/>
                <a:gd name="T4" fmla="*/ 2147483646 w 1118"/>
                <a:gd name="T5" fmla="*/ 2147483646 h 523"/>
                <a:gd name="T6" fmla="*/ 0 w 1118"/>
                <a:gd name="T7" fmla="*/ 2147483646 h 523"/>
                <a:gd name="T8" fmla="*/ 0 w 1118"/>
                <a:gd name="T9" fmla="*/ 0 h 5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8"/>
                <a:gd name="T16" fmla="*/ 0 h 523"/>
                <a:gd name="T17" fmla="*/ 1118 w 1118"/>
                <a:gd name="T18" fmla="*/ 523 h 5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8" h="523">
                  <a:moveTo>
                    <a:pt x="0" y="0"/>
                  </a:moveTo>
                  <a:lnTo>
                    <a:pt x="1118" y="407"/>
                  </a:lnTo>
                  <a:lnTo>
                    <a:pt x="1118" y="523"/>
                  </a:lnTo>
                  <a:lnTo>
                    <a:pt x="0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1A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19" name="Freeform 20"/>
            <p:cNvSpPr>
              <a:spLocks/>
            </p:cNvSpPr>
            <p:nvPr/>
          </p:nvSpPr>
          <p:spPr bwMode="auto">
            <a:xfrm>
              <a:off x="7018338" y="5208588"/>
              <a:ext cx="869950" cy="619125"/>
            </a:xfrm>
            <a:custGeom>
              <a:avLst/>
              <a:gdLst>
                <a:gd name="T0" fmla="*/ 2147483646 w 1249"/>
                <a:gd name="T1" fmla="*/ 0 h 842"/>
                <a:gd name="T2" fmla="*/ 2147483646 w 1249"/>
                <a:gd name="T3" fmla="*/ 2147483646 h 842"/>
                <a:gd name="T4" fmla="*/ 2147483646 w 1249"/>
                <a:gd name="T5" fmla="*/ 2147483646 h 842"/>
                <a:gd name="T6" fmla="*/ 2147483646 w 1249"/>
                <a:gd name="T7" fmla="*/ 2147483646 h 842"/>
                <a:gd name="T8" fmla="*/ 2147483646 w 1249"/>
                <a:gd name="T9" fmla="*/ 2147483646 h 842"/>
                <a:gd name="T10" fmla="*/ 2147483646 w 1249"/>
                <a:gd name="T11" fmla="*/ 2147483646 h 842"/>
                <a:gd name="T12" fmla="*/ 2147483646 w 1249"/>
                <a:gd name="T13" fmla="*/ 2147483646 h 842"/>
                <a:gd name="T14" fmla="*/ 2147483646 w 1249"/>
                <a:gd name="T15" fmla="*/ 2147483646 h 842"/>
                <a:gd name="T16" fmla="*/ 2147483646 w 1249"/>
                <a:gd name="T17" fmla="*/ 2147483646 h 842"/>
                <a:gd name="T18" fmla="*/ 2147483646 w 1249"/>
                <a:gd name="T19" fmla="*/ 2147483646 h 842"/>
                <a:gd name="T20" fmla="*/ 2147483646 w 1249"/>
                <a:gd name="T21" fmla="*/ 2147483646 h 842"/>
                <a:gd name="T22" fmla="*/ 2147483646 w 1249"/>
                <a:gd name="T23" fmla="*/ 2147483646 h 842"/>
                <a:gd name="T24" fmla="*/ 2147483646 w 1249"/>
                <a:gd name="T25" fmla="*/ 2147483646 h 842"/>
                <a:gd name="T26" fmla="*/ 2147483646 w 1249"/>
                <a:gd name="T27" fmla="*/ 2147483646 h 842"/>
                <a:gd name="T28" fmla="*/ 2147483646 w 1249"/>
                <a:gd name="T29" fmla="*/ 2147483646 h 842"/>
                <a:gd name="T30" fmla="*/ 2147483646 w 1249"/>
                <a:gd name="T31" fmla="*/ 2147483646 h 842"/>
                <a:gd name="T32" fmla="*/ 2147483646 w 1249"/>
                <a:gd name="T33" fmla="*/ 2147483646 h 842"/>
                <a:gd name="T34" fmla="*/ 2147483646 w 1249"/>
                <a:gd name="T35" fmla="*/ 2147483646 h 842"/>
                <a:gd name="T36" fmla="*/ 2147483646 w 1249"/>
                <a:gd name="T37" fmla="*/ 2147483646 h 842"/>
                <a:gd name="T38" fmla="*/ 2147483646 w 1249"/>
                <a:gd name="T39" fmla="*/ 2147483646 h 842"/>
                <a:gd name="T40" fmla="*/ 2147483646 w 1249"/>
                <a:gd name="T41" fmla="*/ 2147483646 h 842"/>
                <a:gd name="T42" fmla="*/ 2147483646 w 1249"/>
                <a:gd name="T43" fmla="*/ 2147483646 h 842"/>
                <a:gd name="T44" fmla="*/ 2147483646 w 1249"/>
                <a:gd name="T45" fmla="*/ 2147483646 h 842"/>
                <a:gd name="T46" fmla="*/ 2147483646 w 1249"/>
                <a:gd name="T47" fmla="*/ 2147483646 h 842"/>
                <a:gd name="T48" fmla="*/ 2147483646 w 1249"/>
                <a:gd name="T49" fmla="*/ 2147483646 h 842"/>
                <a:gd name="T50" fmla="*/ 2147483646 w 1249"/>
                <a:gd name="T51" fmla="*/ 2147483646 h 842"/>
                <a:gd name="T52" fmla="*/ 2147483646 w 1249"/>
                <a:gd name="T53" fmla="*/ 2147483646 h 842"/>
                <a:gd name="T54" fmla="*/ 2147483646 w 1249"/>
                <a:gd name="T55" fmla="*/ 2147483646 h 842"/>
                <a:gd name="T56" fmla="*/ 0 w 1249"/>
                <a:gd name="T57" fmla="*/ 2147483646 h 842"/>
                <a:gd name="T58" fmla="*/ 2147483646 w 1249"/>
                <a:gd name="T59" fmla="*/ 0 h 84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249"/>
                <a:gd name="T91" fmla="*/ 0 h 842"/>
                <a:gd name="T92" fmla="*/ 1249 w 1249"/>
                <a:gd name="T93" fmla="*/ 842 h 84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249" h="842">
                  <a:moveTo>
                    <a:pt x="1104" y="0"/>
                  </a:moveTo>
                  <a:lnTo>
                    <a:pt x="1133" y="29"/>
                  </a:lnTo>
                  <a:lnTo>
                    <a:pt x="1147" y="58"/>
                  </a:lnTo>
                  <a:lnTo>
                    <a:pt x="1162" y="87"/>
                  </a:lnTo>
                  <a:lnTo>
                    <a:pt x="1176" y="116"/>
                  </a:lnTo>
                  <a:lnTo>
                    <a:pt x="1191" y="145"/>
                  </a:lnTo>
                  <a:lnTo>
                    <a:pt x="1205" y="189"/>
                  </a:lnTo>
                  <a:lnTo>
                    <a:pt x="1205" y="203"/>
                  </a:lnTo>
                  <a:lnTo>
                    <a:pt x="1220" y="232"/>
                  </a:lnTo>
                  <a:lnTo>
                    <a:pt x="1220" y="261"/>
                  </a:lnTo>
                  <a:lnTo>
                    <a:pt x="1234" y="305"/>
                  </a:lnTo>
                  <a:lnTo>
                    <a:pt x="1234" y="334"/>
                  </a:lnTo>
                  <a:lnTo>
                    <a:pt x="1249" y="363"/>
                  </a:lnTo>
                  <a:lnTo>
                    <a:pt x="1249" y="392"/>
                  </a:lnTo>
                  <a:lnTo>
                    <a:pt x="1249" y="435"/>
                  </a:lnTo>
                  <a:lnTo>
                    <a:pt x="1249" y="464"/>
                  </a:lnTo>
                  <a:lnTo>
                    <a:pt x="1249" y="493"/>
                  </a:lnTo>
                  <a:lnTo>
                    <a:pt x="1234" y="537"/>
                  </a:lnTo>
                  <a:lnTo>
                    <a:pt x="1234" y="566"/>
                  </a:lnTo>
                  <a:lnTo>
                    <a:pt x="1220" y="595"/>
                  </a:lnTo>
                  <a:lnTo>
                    <a:pt x="1220" y="624"/>
                  </a:lnTo>
                  <a:lnTo>
                    <a:pt x="1220" y="653"/>
                  </a:lnTo>
                  <a:lnTo>
                    <a:pt x="1205" y="682"/>
                  </a:lnTo>
                  <a:lnTo>
                    <a:pt x="1191" y="711"/>
                  </a:lnTo>
                  <a:lnTo>
                    <a:pt x="1176" y="740"/>
                  </a:lnTo>
                  <a:lnTo>
                    <a:pt x="1162" y="769"/>
                  </a:lnTo>
                  <a:lnTo>
                    <a:pt x="1147" y="813"/>
                  </a:lnTo>
                  <a:lnTo>
                    <a:pt x="1133" y="842"/>
                  </a:lnTo>
                  <a:lnTo>
                    <a:pt x="0" y="435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0" name="Freeform 21"/>
            <p:cNvSpPr>
              <a:spLocks/>
            </p:cNvSpPr>
            <p:nvPr/>
          </p:nvSpPr>
          <p:spPr bwMode="auto">
            <a:xfrm>
              <a:off x="5740400" y="5622925"/>
              <a:ext cx="90488" cy="342900"/>
            </a:xfrm>
            <a:custGeom>
              <a:avLst/>
              <a:gdLst>
                <a:gd name="T0" fmla="*/ 2147483646 w 130"/>
                <a:gd name="T1" fmla="*/ 2147483646 h 464"/>
                <a:gd name="T2" fmla="*/ 2147483646 w 130"/>
                <a:gd name="T3" fmla="*/ 2147483646 h 464"/>
                <a:gd name="T4" fmla="*/ 2147483646 w 130"/>
                <a:gd name="T5" fmla="*/ 2147483646 h 464"/>
                <a:gd name="T6" fmla="*/ 2147483646 w 130"/>
                <a:gd name="T7" fmla="*/ 2147483646 h 464"/>
                <a:gd name="T8" fmla="*/ 2147483646 w 130"/>
                <a:gd name="T9" fmla="*/ 2147483646 h 464"/>
                <a:gd name="T10" fmla="*/ 2147483646 w 130"/>
                <a:gd name="T11" fmla="*/ 2147483646 h 464"/>
                <a:gd name="T12" fmla="*/ 2147483646 w 130"/>
                <a:gd name="T13" fmla="*/ 2147483646 h 464"/>
                <a:gd name="T14" fmla="*/ 2147483646 w 130"/>
                <a:gd name="T15" fmla="*/ 2147483646 h 464"/>
                <a:gd name="T16" fmla="*/ 2147483646 w 130"/>
                <a:gd name="T17" fmla="*/ 2147483646 h 464"/>
                <a:gd name="T18" fmla="*/ 2147483646 w 130"/>
                <a:gd name="T19" fmla="*/ 2147483646 h 464"/>
                <a:gd name="T20" fmla="*/ 2147483646 w 130"/>
                <a:gd name="T21" fmla="*/ 2147483646 h 464"/>
                <a:gd name="T22" fmla="*/ 0 w 130"/>
                <a:gd name="T23" fmla="*/ 2147483646 h 464"/>
                <a:gd name="T24" fmla="*/ 0 w 130"/>
                <a:gd name="T25" fmla="*/ 0 h 464"/>
                <a:gd name="T26" fmla="*/ 0 w 130"/>
                <a:gd name="T27" fmla="*/ 2147483646 h 464"/>
                <a:gd name="T28" fmla="*/ 0 w 130"/>
                <a:gd name="T29" fmla="*/ 2147483646 h 464"/>
                <a:gd name="T30" fmla="*/ 2147483646 w 130"/>
                <a:gd name="T31" fmla="*/ 2147483646 h 464"/>
                <a:gd name="T32" fmla="*/ 2147483646 w 130"/>
                <a:gd name="T33" fmla="*/ 2147483646 h 464"/>
                <a:gd name="T34" fmla="*/ 2147483646 w 130"/>
                <a:gd name="T35" fmla="*/ 2147483646 h 464"/>
                <a:gd name="T36" fmla="*/ 2147483646 w 130"/>
                <a:gd name="T37" fmla="*/ 2147483646 h 464"/>
                <a:gd name="T38" fmla="*/ 2147483646 w 130"/>
                <a:gd name="T39" fmla="*/ 2147483646 h 464"/>
                <a:gd name="T40" fmla="*/ 2147483646 w 130"/>
                <a:gd name="T41" fmla="*/ 2147483646 h 464"/>
                <a:gd name="T42" fmla="*/ 2147483646 w 130"/>
                <a:gd name="T43" fmla="*/ 2147483646 h 464"/>
                <a:gd name="T44" fmla="*/ 2147483646 w 130"/>
                <a:gd name="T45" fmla="*/ 2147483646 h 464"/>
                <a:gd name="T46" fmla="*/ 2147483646 w 130"/>
                <a:gd name="T47" fmla="*/ 2147483646 h 464"/>
                <a:gd name="T48" fmla="*/ 2147483646 w 130"/>
                <a:gd name="T49" fmla="*/ 2147483646 h 464"/>
                <a:gd name="T50" fmla="*/ 2147483646 w 130"/>
                <a:gd name="T51" fmla="*/ 2147483646 h 464"/>
                <a:gd name="T52" fmla="*/ 2147483646 w 130"/>
                <a:gd name="T53" fmla="*/ 2147483646 h 46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0"/>
                <a:gd name="T82" fmla="*/ 0 h 464"/>
                <a:gd name="T83" fmla="*/ 130 w 130"/>
                <a:gd name="T84" fmla="*/ 464 h 46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0" h="464">
                  <a:moveTo>
                    <a:pt x="130" y="348"/>
                  </a:moveTo>
                  <a:lnTo>
                    <a:pt x="116" y="319"/>
                  </a:lnTo>
                  <a:lnTo>
                    <a:pt x="101" y="290"/>
                  </a:lnTo>
                  <a:lnTo>
                    <a:pt x="72" y="261"/>
                  </a:lnTo>
                  <a:lnTo>
                    <a:pt x="72" y="247"/>
                  </a:lnTo>
                  <a:lnTo>
                    <a:pt x="58" y="203"/>
                  </a:lnTo>
                  <a:lnTo>
                    <a:pt x="43" y="174"/>
                  </a:lnTo>
                  <a:lnTo>
                    <a:pt x="29" y="145"/>
                  </a:lnTo>
                  <a:lnTo>
                    <a:pt x="29" y="116"/>
                  </a:lnTo>
                  <a:lnTo>
                    <a:pt x="14" y="87"/>
                  </a:lnTo>
                  <a:lnTo>
                    <a:pt x="14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0" y="116"/>
                  </a:lnTo>
                  <a:lnTo>
                    <a:pt x="0" y="145"/>
                  </a:lnTo>
                  <a:lnTo>
                    <a:pt x="14" y="174"/>
                  </a:lnTo>
                  <a:lnTo>
                    <a:pt x="14" y="203"/>
                  </a:lnTo>
                  <a:lnTo>
                    <a:pt x="29" y="232"/>
                  </a:lnTo>
                  <a:lnTo>
                    <a:pt x="29" y="261"/>
                  </a:lnTo>
                  <a:lnTo>
                    <a:pt x="43" y="290"/>
                  </a:lnTo>
                  <a:lnTo>
                    <a:pt x="58" y="319"/>
                  </a:lnTo>
                  <a:lnTo>
                    <a:pt x="72" y="363"/>
                  </a:lnTo>
                  <a:lnTo>
                    <a:pt x="72" y="377"/>
                  </a:lnTo>
                  <a:lnTo>
                    <a:pt x="101" y="406"/>
                  </a:lnTo>
                  <a:lnTo>
                    <a:pt x="116" y="435"/>
                  </a:lnTo>
                  <a:lnTo>
                    <a:pt x="130" y="464"/>
                  </a:lnTo>
                  <a:lnTo>
                    <a:pt x="130" y="348"/>
                  </a:lnTo>
                  <a:close/>
                </a:path>
              </a:pathLst>
            </a:custGeom>
            <a:solidFill>
              <a:srgbClr val="33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1" name="Freeform 22"/>
            <p:cNvSpPr>
              <a:spLocks/>
            </p:cNvSpPr>
            <p:nvPr/>
          </p:nvSpPr>
          <p:spPr bwMode="auto">
            <a:xfrm>
              <a:off x="5830888" y="5570538"/>
              <a:ext cx="771525" cy="406400"/>
            </a:xfrm>
            <a:custGeom>
              <a:avLst/>
              <a:gdLst>
                <a:gd name="T0" fmla="*/ 2147483646 w 1104"/>
                <a:gd name="T1" fmla="*/ 0 h 552"/>
                <a:gd name="T2" fmla="*/ 0 w 1104"/>
                <a:gd name="T3" fmla="*/ 2147483646 h 552"/>
                <a:gd name="T4" fmla="*/ 0 w 1104"/>
                <a:gd name="T5" fmla="*/ 2147483646 h 552"/>
                <a:gd name="T6" fmla="*/ 2147483646 w 1104"/>
                <a:gd name="T7" fmla="*/ 2147483646 h 552"/>
                <a:gd name="T8" fmla="*/ 2147483646 w 1104"/>
                <a:gd name="T9" fmla="*/ 0 h 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52"/>
                <a:gd name="T17" fmla="*/ 1104 w 1104"/>
                <a:gd name="T18" fmla="*/ 552 h 5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552">
                  <a:moveTo>
                    <a:pt x="1104" y="0"/>
                  </a:moveTo>
                  <a:lnTo>
                    <a:pt x="0" y="436"/>
                  </a:lnTo>
                  <a:lnTo>
                    <a:pt x="0" y="552"/>
                  </a:lnTo>
                  <a:lnTo>
                    <a:pt x="1104" y="116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rgbClr val="33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2" name="Freeform 23"/>
            <p:cNvSpPr>
              <a:spLocks/>
            </p:cNvSpPr>
            <p:nvPr/>
          </p:nvSpPr>
          <p:spPr bwMode="auto">
            <a:xfrm>
              <a:off x="5740400" y="5570538"/>
              <a:ext cx="862013" cy="319087"/>
            </a:xfrm>
            <a:custGeom>
              <a:avLst/>
              <a:gdLst>
                <a:gd name="T0" fmla="*/ 2147483646 w 1234"/>
                <a:gd name="T1" fmla="*/ 2147483646 h 436"/>
                <a:gd name="T2" fmla="*/ 2147483646 w 1234"/>
                <a:gd name="T3" fmla="*/ 2147483646 h 436"/>
                <a:gd name="T4" fmla="*/ 2147483646 w 1234"/>
                <a:gd name="T5" fmla="*/ 2147483646 h 436"/>
                <a:gd name="T6" fmla="*/ 2147483646 w 1234"/>
                <a:gd name="T7" fmla="*/ 2147483646 h 436"/>
                <a:gd name="T8" fmla="*/ 2147483646 w 1234"/>
                <a:gd name="T9" fmla="*/ 2147483646 h 436"/>
                <a:gd name="T10" fmla="*/ 2147483646 w 1234"/>
                <a:gd name="T11" fmla="*/ 2147483646 h 436"/>
                <a:gd name="T12" fmla="*/ 2147483646 w 1234"/>
                <a:gd name="T13" fmla="*/ 2147483646 h 436"/>
                <a:gd name="T14" fmla="*/ 2147483646 w 1234"/>
                <a:gd name="T15" fmla="*/ 2147483646 h 436"/>
                <a:gd name="T16" fmla="*/ 2147483646 w 1234"/>
                <a:gd name="T17" fmla="*/ 2147483646 h 436"/>
                <a:gd name="T18" fmla="*/ 2147483646 w 1234"/>
                <a:gd name="T19" fmla="*/ 2147483646 h 436"/>
                <a:gd name="T20" fmla="*/ 2147483646 w 1234"/>
                <a:gd name="T21" fmla="*/ 2147483646 h 436"/>
                <a:gd name="T22" fmla="*/ 0 w 1234"/>
                <a:gd name="T23" fmla="*/ 2147483646 h 436"/>
                <a:gd name="T24" fmla="*/ 0 w 1234"/>
                <a:gd name="T25" fmla="*/ 2147483646 h 436"/>
                <a:gd name="T26" fmla="*/ 2147483646 w 1234"/>
                <a:gd name="T27" fmla="*/ 0 h 436"/>
                <a:gd name="T28" fmla="*/ 2147483646 w 1234"/>
                <a:gd name="T29" fmla="*/ 2147483646 h 4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34"/>
                <a:gd name="T46" fmla="*/ 0 h 436"/>
                <a:gd name="T47" fmla="*/ 1234 w 1234"/>
                <a:gd name="T48" fmla="*/ 436 h 4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34" h="436">
                  <a:moveTo>
                    <a:pt x="130" y="436"/>
                  </a:moveTo>
                  <a:lnTo>
                    <a:pt x="116" y="407"/>
                  </a:lnTo>
                  <a:lnTo>
                    <a:pt x="101" y="378"/>
                  </a:lnTo>
                  <a:lnTo>
                    <a:pt x="72" y="334"/>
                  </a:lnTo>
                  <a:lnTo>
                    <a:pt x="72" y="320"/>
                  </a:lnTo>
                  <a:lnTo>
                    <a:pt x="58" y="291"/>
                  </a:lnTo>
                  <a:lnTo>
                    <a:pt x="43" y="262"/>
                  </a:lnTo>
                  <a:lnTo>
                    <a:pt x="29" y="233"/>
                  </a:lnTo>
                  <a:lnTo>
                    <a:pt x="29" y="189"/>
                  </a:lnTo>
                  <a:lnTo>
                    <a:pt x="14" y="160"/>
                  </a:lnTo>
                  <a:lnTo>
                    <a:pt x="14" y="146"/>
                  </a:lnTo>
                  <a:lnTo>
                    <a:pt x="0" y="116"/>
                  </a:lnTo>
                  <a:lnTo>
                    <a:pt x="0" y="87"/>
                  </a:lnTo>
                  <a:lnTo>
                    <a:pt x="1234" y="0"/>
                  </a:lnTo>
                  <a:lnTo>
                    <a:pt x="130" y="436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3" name="Freeform 24"/>
            <p:cNvSpPr>
              <a:spLocks/>
            </p:cNvSpPr>
            <p:nvPr/>
          </p:nvSpPr>
          <p:spPr bwMode="auto">
            <a:xfrm>
              <a:off x="5910263" y="5976938"/>
              <a:ext cx="620712" cy="457200"/>
            </a:xfrm>
            <a:custGeom>
              <a:avLst/>
              <a:gdLst>
                <a:gd name="T0" fmla="*/ 2147483646 w 886"/>
                <a:gd name="T1" fmla="*/ 2147483646 h 624"/>
                <a:gd name="T2" fmla="*/ 2147483646 w 886"/>
                <a:gd name="T3" fmla="*/ 2147483646 h 624"/>
                <a:gd name="T4" fmla="*/ 2147483646 w 886"/>
                <a:gd name="T5" fmla="*/ 2147483646 h 624"/>
                <a:gd name="T6" fmla="*/ 2147483646 w 886"/>
                <a:gd name="T7" fmla="*/ 2147483646 h 624"/>
                <a:gd name="T8" fmla="*/ 2147483646 w 886"/>
                <a:gd name="T9" fmla="*/ 2147483646 h 624"/>
                <a:gd name="T10" fmla="*/ 2147483646 w 886"/>
                <a:gd name="T11" fmla="*/ 2147483646 h 624"/>
                <a:gd name="T12" fmla="*/ 2147483646 w 886"/>
                <a:gd name="T13" fmla="*/ 2147483646 h 624"/>
                <a:gd name="T14" fmla="*/ 2147483646 w 886"/>
                <a:gd name="T15" fmla="*/ 2147483646 h 624"/>
                <a:gd name="T16" fmla="*/ 2147483646 w 886"/>
                <a:gd name="T17" fmla="*/ 2147483646 h 624"/>
                <a:gd name="T18" fmla="*/ 2147483646 w 886"/>
                <a:gd name="T19" fmla="*/ 2147483646 h 624"/>
                <a:gd name="T20" fmla="*/ 2147483646 w 886"/>
                <a:gd name="T21" fmla="*/ 2147483646 h 624"/>
                <a:gd name="T22" fmla="*/ 2147483646 w 886"/>
                <a:gd name="T23" fmla="*/ 2147483646 h 624"/>
                <a:gd name="T24" fmla="*/ 2147483646 w 886"/>
                <a:gd name="T25" fmla="*/ 2147483646 h 624"/>
                <a:gd name="T26" fmla="*/ 2147483646 w 886"/>
                <a:gd name="T27" fmla="*/ 2147483646 h 624"/>
                <a:gd name="T28" fmla="*/ 2147483646 w 886"/>
                <a:gd name="T29" fmla="*/ 2147483646 h 624"/>
                <a:gd name="T30" fmla="*/ 2147483646 w 886"/>
                <a:gd name="T31" fmla="*/ 2147483646 h 624"/>
                <a:gd name="T32" fmla="*/ 2147483646 w 886"/>
                <a:gd name="T33" fmla="*/ 2147483646 h 624"/>
                <a:gd name="T34" fmla="*/ 2147483646 w 886"/>
                <a:gd name="T35" fmla="*/ 2147483646 h 624"/>
                <a:gd name="T36" fmla="*/ 2147483646 w 886"/>
                <a:gd name="T37" fmla="*/ 2147483646 h 624"/>
                <a:gd name="T38" fmla="*/ 2147483646 w 886"/>
                <a:gd name="T39" fmla="*/ 2147483646 h 624"/>
                <a:gd name="T40" fmla="*/ 2147483646 w 886"/>
                <a:gd name="T41" fmla="*/ 2147483646 h 624"/>
                <a:gd name="T42" fmla="*/ 2147483646 w 886"/>
                <a:gd name="T43" fmla="*/ 2147483646 h 624"/>
                <a:gd name="T44" fmla="*/ 2147483646 w 886"/>
                <a:gd name="T45" fmla="*/ 2147483646 h 624"/>
                <a:gd name="T46" fmla="*/ 2147483646 w 886"/>
                <a:gd name="T47" fmla="*/ 2147483646 h 624"/>
                <a:gd name="T48" fmla="*/ 2147483646 w 886"/>
                <a:gd name="T49" fmla="*/ 2147483646 h 624"/>
                <a:gd name="T50" fmla="*/ 2147483646 w 886"/>
                <a:gd name="T51" fmla="*/ 2147483646 h 624"/>
                <a:gd name="T52" fmla="*/ 2147483646 w 886"/>
                <a:gd name="T53" fmla="*/ 2147483646 h 624"/>
                <a:gd name="T54" fmla="*/ 0 w 886"/>
                <a:gd name="T55" fmla="*/ 0 h 624"/>
                <a:gd name="T56" fmla="*/ 0 w 886"/>
                <a:gd name="T57" fmla="*/ 2147483646 h 624"/>
                <a:gd name="T58" fmla="*/ 2147483646 w 886"/>
                <a:gd name="T59" fmla="*/ 2147483646 h 624"/>
                <a:gd name="T60" fmla="*/ 2147483646 w 886"/>
                <a:gd name="T61" fmla="*/ 2147483646 h 624"/>
                <a:gd name="T62" fmla="*/ 2147483646 w 886"/>
                <a:gd name="T63" fmla="*/ 2147483646 h 624"/>
                <a:gd name="T64" fmla="*/ 2147483646 w 886"/>
                <a:gd name="T65" fmla="*/ 2147483646 h 624"/>
                <a:gd name="T66" fmla="*/ 2147483646 w 886"/>
                <a:gd name="T67" fmla="*/ 2147483646 h 624"/>
                <a:gd name="T68" fmla="*/ 2147483646 w 886"/>
                <a:gd name="T69" fmla="*/ 2147483646 h 624"/>
                <a:gd name="T70" fmla="*/ 2147483646 w 886"/>
                <a:gd name="T71" fmla="*/ 2147483646 h 624"/>
                <a:gd name="T72" fmla="*/ 2147483646 w 886"/>
                <a:gd name="T73" fmla="*/ 2147483646 h 624"/>
                <a:gd name="T74" fmla="*/ 2147483646 w 886"/>
                <a:gd name="T75" fmla="*/ 2147483646 h 624"/>
                <a:gd name="T76" fmla="*/ 2147483646 w 886"/>
                <a:gd name="T77" fmla="*/ 2147483646 h 624"/>
                <a:gd name="T78" fmla="*/ 2147483646 w 886"/>
                <a:gd name="T79" fmla="*/ 2147483646 h 624"/>
                <a:gd name="T80" fmla="*/ 2147483646 w 886"/>
                <a:gd name="T81" fmla="*/ 2147483646 h 624"/>
                <a:gd name="T82" fmla="*/ 2147483646 w 886"/>
                <a:gd name="T83" fmla="*/ 2147483646 h 624"/>
                <a:gd name="T84" fmla="*/ 2147483646 w 886"/>
                <a:gd name="T85" fmla="*/ 2147483646 h 624"/>
                <a:gd name="T86" fmla="*/ 2147483646 w 886"/>
                <a:gd name="T87" fmla="*/ 2147483646 h 624"/>
                <a:gd name="T88" fmla="*/ 2147483646 w 886"/>
                <a:gd name="T89" fmla="*/ 2147483646 h 624"/>
                <a:gd name="T90" fmla="*/ 2147483646 w 886"/>
                <a:gd name="T91" fmla="*/ 2147483646 h 624"/>
                <a:gd name="T92" fmla="*/ 2147483646 w 886"/>
                <a:gd name="T93" fmla="*/ 2147483646 h 624"/>
                <a:gd name="T94" fmla="*/ 2147483646 w 886"/>
                <a:gd name="T95" fmla="*/ 2147483646 h 624"/>
                <a:gd name="T96" fmla="*/ 2147483646 w 886"/>
                <a:gd name="T97" fmla="*/ 2147483646 h 624"/>
                <a:gd name="T98" fmla="*/ 2147483646 w 886"/>
                <a:gd name="T99" fmla="*/ 2147483646 h 624"/>
                <a:gd name="T100" fmla="*/ 2147483646 w 886"/>
                <a:gd name="T101" fmla="*/ 2147483646 h 624"/>
                <a:gd name="T102" fmla="*/ 2147483646 w 886"/>
                <a:gd name="T103" fmla="*/ 2147483646 h 624"/>
                <a:gd name="T104" fmla="*/ 2147483646 w 886"/>
                <a:gd name="T105" fmla="*/ 2147483646 h 624"/>
                <a:gd name="T106" fmla="*/ 2147483646 w 886"/>
                <a:gd name="T107" fmla="*/ 2147483646 h 624"/>
                <a:gd name="T108" fmla="*/ 2147483646 w 886"/>
                <a:gd name="T109" fmla="*/ 2147483646 h 624"/>
                <a:gd name="T110" fmla="*/ 2147483646 w 886"/>
                <a:gd name="T111" fmla="*/ 2147483646 h 624"/>
                <a:gd name="T112" fmla="*/ 2147483646 w 886"/>
                <a:gd name="T113" fmla="*/ 2147483646 h 62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86"/>
                <a:gd name="T172" fmla="*/ 0 h 624"/>
                <a:gd name="T173" fmla="*/ 886 w 886"/>
                <a:gd name="T174" fmla="*/ 624 h 62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86" h="624">
                  <a:moveTo>
                    <a:pt x="886" y="508"/>
                  </a:moveTo>
                  <a:lnTo>
                    <a:pt x="843" y="493"/>
                  </a:lnTo>
                  <a:lnTo>
                    <a:pt x="814" y="493"/>
                  </a:lnTo>
                  <a:lnTo>
                    <a:pt x="770" y="479"/>
                  </a:lnTo>
                  <a:lnTo>
                    <a:pt x="726" y="479"/>
                  </a:lnTo>
                  <a:lnTo>
                    <a:pt x="683" y="464"/>
                  </a:lnTo>
                  <a:lnTo>
                    <a:pt x="639" y="450"/>
                  </a:lnTo>
                  <a:lnTo>
                    <a:pt x="596" y="435"/>
                  </a:lnTo>
                  <a:lnTo>
                    <a:pt x="567" y="421"/>
                  </a:lnTo>
                  <a:lnTo>
                    <a:pt x="523" y="406"/>
                  </a:lnTo>
                  <a:lnTo>
                    <a:pt x="480" y="392"/>
                  </a:lnTo>
                  <a:lnTo>
                    <a:pt x="451" y="377"/>
                  </a:lnTo>
                  <a:lnTo>
                    <a:pt x="407" y="363"/>
                  </a:lnTo>
                  <a:lnTo>
                    <a:pt x="378" y="334"/>
                  </a:lnTo>
                  <a:lnTo>
                    <a:pt x="363" y="334"/>
                  </a:lnTo>
                  <a:lnTo>
                    <a:pt x="320" y="305"/>
                  </a:lnTo>
                  <a:lnTo>
                    <a:pt x="291" y="290"/>
                  </a:lnTo>
                  <a:lnTo>
                    <a:pt x="262" y="261"/>
                  </a:lnTo>
                  <a:lnTo>
                    <a:pt x="233" y="247"/>
                  </a:lnTo>
                  <a:lnTo>
                    <a:pt x="204" y="218"/>
                  </a:lnTo>
                  <a:lnTo>
                    <a:pt x="175" y="189"/>
                  </a:lnTo>
                  <a:lnTo>
                    <a:pt x="146" y="160"/>
                  </a:lnTo>
                  <a:lnTo>
                    <a:pt x="117" y="145"/>
                  </a:lnTo>
                  <a:lnTo>
                    <a:pt x="87" y="116"/>
                  </a:lnTo>
                  <a:lnTo>
                    <a:pt x="73" y="87"/>
                  </a:lnTo>
                  <a:lnTo>
                    <a:pt x="44" y="58"/>
                  </a:lnTo>
                  <a:lnTo>
                    <a:pt x="15" y="29"/>
                  </a:lnTo>
                  <a:lnTo>
                    <a:pt x="0" y="0"/>
                  </a:lnTo>
                  <a:lnTo>
                    <a:pt x="0" y="116"/>
                  </a:lnTo>
                  <a:lnTo>
                    <a:pt x="15" y="145"/>
                  </a:lnTo>
                  <a:lnTo>
                    <a:pt x="44" y="174"/>
                  </a:lnTo>
                  <a:lnTo>
                    <a:pt x="73" y="203"/>
                  </a:lnTo>
                  <a:lnTo>
                    <a:pt x="87" y="232"/>
                  </a:lnTo>
                  <a:lnTo>
                    <a:pt x="117" y="261"/>
                  </a:lnTo>
                  <a:lnTo>
                    <a:pt x="146" y="276"/>
                  </a:lnTo>
                  <a:lnTo>
                    <a:pt x="175" y="305"/>
                  </a:lnTo>
                  <a:lnTo>
                    <a:pt x="204" y="334"/>
                  </a:lnTo>
                  <a:lnTo>
                    <a:pt x="233" y="363"/>
                  </a:lnTo>
                  <a:lnTo>
                    <a:pt x="262" y="377"/>
                  </a:lnTo>
                  <a:lnTo>
                    <a:pt x="291" y="406"/>
                  </a:lnTo>
                  <a:lnTo>
                    <a:pt x="320" y="421"/>
                  </a:lnTo>
                  <a:lnTo>
                    <a:pt x="363" y="450"/>
                  </a:lnTo>
                  <a:lnTo>
                    <a:pt x="378" y="450"/>
                  </a:lnTo>
                  <a:lnTo>
                    <a:pt x="407" y="479"/>
                  </a:lnTo>
                  <a:lnTo>
                    <a:pt x="451" y="493"/>
                  </a:lnTo>
                  <a:lnTo>
                    <a:pt x="480" y="508"/>
                  </a:lnTo>
                  <a:lnTo>
                    <a:pt x="523" y="522"/>
                  </a:lnTo>
                  <a:lnTo>
                    <a:pt x="567" y="537"/>
                  </a:lnTo>
                  <a:lnTo>
                    <a:pt x="596" y="551"/>
                  </a:lnTo>
                  <a:lnTo>
                    <a:pt x="639" y="566"/>
                  </a:lnTo>
                  <a:lnTo>
                    <a:pt x="683" y="580"/>
                  </a:lnTo>
                  <a:lnTo>
                    <a:pt x="726" y="595"/>
                  </a:lnTo>
                  <a:lnTo>
                    <a:pt x="770" y="595"/>
                  </a:lnTo>
                  <a:lnTo>
                    <a:pt x="814" y="609"/>
                  </a:lnTo>
                  <a:lnTo>
                    <a:pt x="843" y="609"/>
                  </a:lnTo>
                  <a:lnTo>
                    <a:pt x="886" y="624"/>
                  </a:lnTo>
                  <a:lnTo>
                    <a:pt x="886" y="508"/>
                  </a:lnTo>
                  <a:close/>
                </a:path>
              </a:pathLst>
            </a:custGeom>
            <a:solidFill>
              <a:srgbClr val="66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4" name="Freeform 25"/>
            <p:cNvSpPr>
              <a:spLocks/>
            </p:cNvSpPr>
            <p:nvPr/>
          </p:nvSpPr>
          <p:spPr bwMode="auto">
            <a:xfrm>
              <a:off x="6530975" y="5665788"/>
              <a:ext cx="150813" cy="779462"/>
            </a:xfrm>
            <a:custGeom>
              <a:avLst/>
              <a:gdLst>
                <a:gd name="T0" fmla="*/ 2147483646 w 218"/>
                <a:gd name="T1" fmla="*/ 0 h 1060"/>
                <a:gd name="T2" fmla="*/ 0 w 218"/>
                <a:gd name="T3" fmla="*/ 2147483646 h 1060"/>
                <a:gd name="T4" fmla="*/ 0 w 218"/>
                <a:gd name="T5" fmla="*/ 2147483646 h 1060"/>
                <a:gd name="T6" fmla="*/ 2147483646 w 218"/>
                <a:gd name="T7" fmla="*/ 2147483646 h 1060"/>
                <a:gd name="T8" fmla="*/ 2147483646 w 218"/>
                <a:gd name="T9" fmla="*/ 0 h 10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8"/>
                <a:gd name="T16" fmla="*/ 0 h 1060"/>
                <a:gd name="T17" fmla="*/ 218 w 218"/>
                <a:gd name="T18" fmla="*/ 1060 h 10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8" h="1060">
                  <a:moveTo>
                    <a:pt x="218" y="0"/>
                  </a:moveTo>
                  <a:lnTo>
                    <a:pt x="0" y="943"/>
                  </a:lnTo>
                  <a:lnTo>
                    <a:pt x="0" y="1060"/>
                  </a:lnTo>
                  <a:lnTo>
                    <a:pt x="218" y="116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66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5" name="Freeform 26"/>
            <p:cNvSpPr>
              <a:spLocks/>
            </p:cNvSpPr>
            <p:nvPr/>
          </p:nvSpPr>
          <p:spPr bwMode="auto">
            <a:xfrm>
              <a:off x="5910263" y="5665788"/>
              <a:ext cx="771525" cy="693737"/>
            </a:xfrm>
            <a:custGeom>
              <a:avLst/>
              <a:gdLst>
                <a:gd name="T0" fmla="*/ 2147483646 w 1104"/>
                <a:gd name="T1" fmla="*/ 2147483646 h 943"/>
                <a:gd name="T2" fmla="*/ 2147483646 w 1104"/>
                <a:gd name="T3" fmla="*/ 2147483646 h 943"/>
                <a:gd name="T4" fmla="*/ 2147483646 w 1104"/>
                <a:gd name="T5" fmla="*/ 2147483646 h 943"/>
                <a:gd name="T6" fmla="*/ 2147483646 w 1104"/>
                <a:gd name="T7" fmla="*/ 2147483646 h 943"/>
                <a:gd name="T8" fmla="*/ 2147483646 w 1104"/>
                <a:gd name="T9" fmla="*/ 2147483646 h 943"/>
                <a:gd name="T10" fmla="*/ 2147483646 w 1104"/>
                <a:gd name="T11" fmla="*/ 2147483646 h 943"/>
                <a:gd name="T12" fmla="*/ 2147483646 w 1104"/>
                <a:gd name="T13" fmla="*/ 2147483646 h 943"/>
                <a:gd name="T14" fmla="*/ 2147483646 w 1104"/>
                <a:gd name="T15" fmla="*/ 2147483646 h 943"/>
                <a:gd name="T16" fmla="*/ 2147483646 w 1104"/>
                <a:gd name="T17" fmla="*/ 2147483646 h 943"/>
                <a:gd name="T18" fmla="*/ 2147483646 w 1104"/>
                <a:gd name="T19" fmla="*/ 2147483646 h 943"/>
                <a:gd name="T20" fmla="*/ 2147483646 w 1104"/>
                <a:gd name="T21" fmla="*/ 2147483646 h 943"/>
                <a:gd name="T22" fmla="*/ 2147483646 w 1104"/>
                <a:gd name="T23" fmla="*/ 2147483646 h 943"/>
                <a:gd name="T24" fmla="*/ 2147483646 w 1104"/>
                <a:gd name="T25" fmla="*/ 2147483646 h 943"/>
                <a:gd name="T26" fmla="*/ 2147483646 w 1104"/>
                <a:gd name="T27" fmla="*/ 2147483646 h 943"/>
                <a:gd name="T28" fmla="*/ 2147483646 w 1104"/>
                <a:gd name="T29" fmla="*/ 2147483646 h 943"/>
                <a:gd name="T30" fmla="*/ 2147483646 w 1104"/>
                <a:gd name="T31" fmla="*/ 2147483646 h 943"/>
                <a:gd name="T32" fmla="*/ 2147483646 w 1104"/>
                <a:gd name="T33" fmla="*/ 2147483646 h 943"/>
                <a:gd name="T34" fmla="*/ 2147483646 w 1104"/>
                <a:gd name="T35" fmla="*/ 2147483646 h 943"/>
                <a:gd name="T36" fmla="*/ 2147483646 w 1104"/>
                <a:gd name="T37" fmla="*/ 2147483646 h 943"/>
                <a:gd name="T38" fmla="*/ 2147483646 w 1104"/>
                <a:gd name="T39" fmla="*/ 2147483646 h 943"/>
                <a:gd name="T40" fmla="*/ 2147483646 w 1104"/>
                <a:gd name="T41" fmla="*/ 2147483646 h 943"/>
                <a:gd name="T42" fmla="*/ 2147483646 w 1104"/>
                <a:gd name="T43" fmla="*/ 2147483646 h 943"/>
                <a:gd name="T44" fmla="*/ 2147483646 w 1104"/>
                <a:gd name="T45" fmla="*/ 2147483646 h 943"/>
                <a:gd name="T46" fmla="*/ 2147483646 w 1104"/>
                <a:gd name="T47" fmla="*/ 2147483646 h 943"/>
                <a:gd name="T48" fmla="*/ 2147483646 w 1104"/>
                <a:gd name="T49" fmla="*/ 2147483646 h 943"/>
                <a:gd name="T50" fmla="*/ 2147483646 w 1104"/>
                <a:gd name="T51" fmla="*/ 2147483646 h 943"/>
                <a:gd name="T52" fmla="*/ 2147483646 w 1104"/>
                <a:gd name="T53" fmla="*/ 2147483646 h 943"/>
                <a:gd name="T54" fmla="*/ 0 w 1104"/>
                <a:gd name="T55" fmla="*/ 2147483646 h 943"/>
                <a:gd name="T56" fmla="*/ 2147483646 w 1104"/>
                <a:gd name="T57" fmla="*/ 0 h 943"/>
                <a:gd name="T58" fmla="*/ 2147483646 w 1104"/>
                <a:gd name="T59" fmla="*/ 2147483646 h 94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104"/>
                <a:gd name="T91" fmla="*/ 0 h 943"/>
                <a:gd name="T92" fmla="*/ 1104 w 1104"/>
                <a:gd name="T93" fmla="*/ 943 h 943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104" h="943">
                  <a:moveTo>
                    <a:pt x="886" y="943"/>
                  </a:moveTo>
                  <a:lnTo>
                    <a:pt x="843" y="929"/>
                  </a:lnTo>
                  <a:lnTo>
                    <a:pt x="814" y="929"/>
                  </a:lnTo>
                  <a:lnTo>
                    <a:pt x="770" y="914"/>
                  </a:lnTo>
                  <a:lnTo>
                    <a:pt x="726" y="914"/>
                  </a:lnTo>
                  <a:lnTo>
                    <a:pt x="683" y="900"/>
                  </a:lnTo>
                  <a:lnTo>
                    <a:pt x="639" y="885"/>
                  </a:lnTo>
                  <a:lnTo>
                    <a:pt x="596" y="871"/>
                  </a:lnTo>
                  <a:lnTo>
                    <a:pt x="567" y="856"/>
                  </a:lnTo>
                  <a:lnTo>
                    <a:pt x="523" y="842"/>
                  </a:lnTo>
                  <a:lnTo>
                    <a:pt x="480" y="827"/>
                  </a:lnTo>
                  <a:lnTo>
                    <a:pt x="451" y="813"/>
                  </a:lnTo>
                  <a:lnTo>
                    <a:pt x="407" y="784"/>
                  </a:lnTo>
                  <a:lnTo>
                    <a:pt x="378" y="769"/>
                  </a:lnTo>
                  <a:lnTo>
                    <a:pt x="363" y="755"/>
                  </a:lnTo>
                  <a:lnTo>
                    <a:pt x="320" y="740"/>
                  </a:lnTo>
                  <a:lnTo>
                    <a:pt x="291" y="726"/>
                  </a:lnTo>
                  <a:lnTo>
                    <a:pt x="262" y="697"/>
                  </a:lnTo>
                  <a:lnTo>
                    <a:pt x="233" y="668"/>
                  </a:lnTo>
                  <a:lnTo>
                    <a:pt x="204" y="653"/>
                  </a:lnTo>
                  <a:lnTo>
                    <a:pt x="175" y="624"/>
                  </a:lnTo>
                  <a:lnTo>
                    <a:pt x="146" y="595"/>
                  </a:lnTo>
                  <a:lnTo>
                    <a:pt x="117" y="566"/>
                  </a:lnTo>
                  <a:lnTo>
                    <a:pt x="87" y="552"/>
                  </a:lnTo>
                  <a:lnTo>
                    <a:pt x="73" y="522"/>
                  </a:lnTo>
                  <a:lnTo>
                    <a:pt x="44" y="493"/>
                  </a:lnTo>
                  <a:lnTo>
                    <a:pt x="15" y="464"/>
                  </a:lnTo>
                  <a:lnTo>
                    <a:pt x="0" y="435"/>
                  </a:lnTo>
                  <a:lnTo>
                    <a:pt x="1104" y="0"/>
                  </a:lnTo>
                  <a:lnTo>
                    <a:pt x="886" y="943"/>
                  </a:ln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6" name="Freeform 27"/>
            <p:cNvSpPr>
              <a:spLocks/>
            </p:cNvSpPr>
            <p:nvPr/>
          </p:nvSpPr>
          <p:spPr bwMode="auto">
            <a:xfrm>
              <a:off x="6754813" y="5965825"/>
              <a:ext cx="941387" cy="490538"/>
            </a:xfrm>
            <a:custGeom>
              <a:avLst/>
              <a:gdLst>
                <a:gd name="T0" fmla="*/ 2147483646 w 1350"/>
                <a:gd name="T1" fmla="*/ 2147483646 h 668"/>
                <a:gd name="T2" fmla="*/ 2147483646 w 1350"/>
                <a:gd name="T3" fmla="*/ 2147483646 h 668"/>
                <a:gd name="T4" fmla="*/ 2147483646 w 1350"/>
                <a:gd name="T5" fmla="*/ 2147483646 h 668"/>
                <a:gd name="T6" fmla="*/ 2147483646 w 1350"/>
                <a:gd name="T7" fmla="*/ 2147483646 h 668"/>
                <a:gd name="T8" fmla="*/ 2147483646 w 1350"/>
                <a:gd name="T9" fmla="*/ 2147483646 h 668"/>
                <a:gd name="T10" fmla="*/ 2147483646 w 1350"/>
                <a:gd name="T11" fmla="*/ 2147483646 h 668"/>
                <a:gd name="T12" fmla="*/ 2147483646 w 1350"/>
                <a:gd name="T13" fmla="*/ 2147483646 h 668"/>
                <a:gd name="T14" fmla="*/ 2147483646 w 1350"/>
                <a:gd name="T15" fmla="*/ 2147483646 h 668"/>
                <a:gd name="T16" fmla="*/ 2147483646 w 1350"/>
                <a:gd name="T17" fmla="*/ 2147483646 h 668"/>
                <a:gd name="T18" fmla="*/ 2147483646 w 1350"/>
                <a:gd name="T19" fmla="*/ 2147483646 h 668"/>
                <a:gd name="T20" fmla="*/ 2147483646 w 1350"/>
                <a:gd name="T21" fmla="*/ 2147483646 h 668"/>
                <a:gd name="T22" fmla="*/ 2147483646 w 1350"/>
                <a:gd name="T23" fmla="*/ 2147483646 h 668"/>
                <a:gd name="T24" fmla="*/ 2147483646 w 1350"/>
                <a:gd name="T25" fmla="*/ 2147483646 h 668"/>
                <a:gd name="T26" fmla="*/ 2147483646 w 1350"/>
                <a:gd name="T27" fmla="*/ 2147483646 h 668"/>
                <a:gd name="T28" fmla="*/ 2147483646 w 1350"/>
                <a:gd name="T29" fmla="*/ 2147483646 h 668"/>
                <a:gd name="T30" fmla="*/ 2147483646 w 1350"/>
                <a:gd name="T31" fmla="*/ 2147483646 h 668"/>
                <a:gd name="T32" fmla="*/ 2147483646 w 1350"/>
                <a:gd name="T33" fmla="*/ 2147483646 h 668"/>
                <a:gd name="T34" fmla="*/ 2147483646 w 1350"/>
                <a:gd name="T35" fmla="*/ 2147483646 h 668"/>
                <a:gd name="T36" fmla="*/ 2147483646 w 1350"/>
                <a:gd name="T37" fmla="*/ 2147483646 h 668"/>
                <a:gd name="T38" fmla="*/ 0 w 1350"/>
                <a:gd name="T39" fmla="*/ 2147483646 h 668"/>
                <a:gd name="T40" fmla="*/ 2147483646 w 1350"/>
                <a:gd name="T41" fmla="*/ 2147483646 h 668"/>
                <a:gd name="T42" fmla="*/ 2147483646 w 1350"/>
                <a:gd name="T43" fmla="*/ 2147483646 h 668"/>
                <a:gd name="T44" fmla="*/ 2147483646 w 1350"/>
                <a:gd name="T45" fmla="*/ 2147483646 h 668"/>
                <a:gd name="T46" fmla="*/ 2147483646 w 1350"/>
                <a:gd name="T47" fmla="*/ 2147483646 h 668"/>
                <a:gd name="T48" fmla="*/ 2147483646 w 1350"/>
                <a:gd name="T49" fmla="*/ 2147483646 h 668"/>
                <a:gd name="T50" fmla="*/ 2147483646 w 1350"/>
                <a:gd name="T51" fmla="*/ 2147483646 h 668"/>
                <a:gd name="T52" fmla="*/ 2147483646 w 1350"/>
                <a:gd name="T53" fmla="*/ 2147483646 h 668"/>
                <a:gd name="T54" fmla="*/ 2147483646 w 1350"/>
                <a:gd name="T55" fmla="*/ 2147483646 h 668"/>
                <a:gd name="T56" fmla="*/ 2147483646 w 1350"/>
                <a:gd name="T57" fmla="*/ 2147483646 h 668"/>
                <a:gd name="T58" fmla="*/ 2147483646 w 1350"/>
                <a:gd name="T59" fmla="*/ 2147483646 h 668"/>
                <a:gd name="T60" fmla="*/ 2147483646 w 1350"/>
                <a:gd name="T61" fmla="*/ 2147483646 h 668"/>
                <a:gd name="T62" fmla="*/ 2147483646 w 1350"/>
                <a:gd name="T63" fmla="*/ 2147483646 h 668"/>
                <a:gd name="T64" fmla="*/ 2147483646 w 1350"/>
                <a:gd name="T65" fmla="*/ 2147483646 h 668"/>
                <a:gd name="T66" fmla="*/ 2147483646 w 1350"/>
                <a:gd name="T67" fmla="*/ 2147483646 h 668"/>
                <a:gd name="T68" fmla="*/ 2147483646 w 1350"/>
                <a:gd name="T69" fmla="*/ 2147483646 h 668"/>
                <a:gd name="T70" fmla="*/ 2147483646 w 1350"/>
                <a:gd name="T71" fmla="*/ 2147483646 h 668"/>
                <a:gd name="T72" fmla="*/ 2147483646 w 1350"/>
                <a:gd name="T73" fmla="*/ 2147483646 h 668"/>
                <a:gd name="T74" fmla="*/ 2147483646 w 1350"/>
                <a:gd name="T75" fmla="*/ 2147483646 h 668"/>
                <a:gd name="T76" fmla="*/ 2147483646 w 1350"/>
                <a:gd name="T77" fmla="*/ 2147483646 h 668"/>
                <a:gd name="T78" fmla="*/ 2147483646 w 1350"/>
                <a:gd name="T79" fmla="*/ 2147483646 h 66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50"/>
                <a:gd name="T121" fmla="*/ 0 h 668"/>
                <a:gd name="T122" fmla="*/ 1350 w 1350"/>
                <a:gd name="T123" fmla="*/ 668 h 66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50" h="668">
                  <a:moveTo>
                    <a:pt x="1350" y="0"/>
                  </a:moveTo>
                  <a:lnTo>
                    <a:pt x="1321" y="29"/>
                  </a:lnTo>
                  <a:lnTo>
                    <a:pt x="1306" y="58"/>
                  </a:lnTo>
                  <a:lnTo>
                    <a:pt x="1292" y="87"/>
                  </a:lnTo>
                  <a:lnTo>
                    <a:pt x="1263" y="116"/>
                  </a:lnTo>
                  <a:lnTo>
                    <a:pt x="1234" y="146"/>
                  </a:lnTo>
                  <a:lnTo>
                    <a:pt x="1219" y="175"/>
                  </a:lnTo>
                  <a:lnTo>
                    <a:pt x="1205" y="189"/>
                  </a:lnTo>
                  <a:lnTo>
                    <a:pt x="1176" y="204"/>
                  </a:lnTo>
                  <a:lnTo>
                    <a:pt x="1147" y="233"/>
                  </a:lnTo>
                  <a:lnTo>
                    <a:pt x="1118" y="262"/>
                  </a:lnTo>
                  <a:lnTo>
                    <a:pt x="1089" y="276"/>
                  </a:lnTo>
                  <a:lnTo>
                    <a:pt x="1045" y="305"/>
                  </a:lnTo>
                  <a:lnTo>
                    <a:pt x="1016" y="320"/>
                  </a:lnTo>
                  <a:lnTo>
                    <a:pt x="987" y="349"/>
                  </a:lnTo>
                  <a:lnTo>
                    <a:pt x="958" y="363"/>
                  </a:lnTo>
                  <a:lnTo>
                    <a:pt x="914" y="392"/>
                  </a:lnTo>
                  <a:lnTo>
                    <a:pt x="885" y="407"/>
                  </a:lnTo>
                  <a:lnTo>
                    <a:pt x="842" y="421"/>
                  </a:lnTo>
                  <a:lnTo>
                    <a:pt x="798" y="436"/>
                  </a:lnTo>
                  <a:lnTo>
                    <a:pt x="784" y="450"/>
                  </a:lnTo>
                  <a:lnTo>
                    <a:pt x="740" y="465"/>
                  </a:lnTo>
                  <a:lnTo>
                    <a:pt x="711" y="479"/>
                  </a:lnTo>
                  <a:lnTo>
                    <a:pt x="667" y="479"/>
                  </a:lnTo>
                  <a:lnTo>
                    <a:pt x="624" y="494"/>
                  </a:lnTo>
                  <a:lnTo>
                    <a:pt x="580" y="508"/>
                  </a:lnTo>
                  <a:lnTo>
                    <a:pt x="537" y="523"/>
                  </a:lnTo>
                  <a:lnTo>
                    <a:pt x="493" y="523"/>
                  </a:lnTo>
                  <a:lnTo>
                    <a:pt x="464" y="537"/>
                  </a:lnTo>
                  <a:lnTo>
                    <a:pt x="421" y="537"/>
                  </a:lnTo>
                  <a:lnTo>
                    <a:pt x="377" y="537"/>
                  </a:lnTo>
                  <a:lnTo>
                    <a:pt x="334" y="552"/>
                  </a:lnTo>
                  <a:lnTo>
                    <a:pt x="290" y="552"/>
                  </a:lnTo>
                  <a:lnTo>
                    <a:pt x="261" y="552"/>
                  </a:lnTo>
                  <a:lnTo>
                    <a:pt x="217" y="552"/>
                  </a:lnTo>
                  <a:lnTo>
                    <a:pt x="174" y="552"/>
                  </a:lnTo>
                  <a:lnTo>
                    <a:pt x="130" y="552"/>
                  </a:lnTo>
                  <a:lnTo>
                    <a:pt x="87" y="537"/>
                  </a:lnTo>
                  <a:lnTo>
                    <a:pt x="43" y="537"/>
                  </a:lnTo>
                  <a:lnTo>
                    <a:pt x="0" y="537"/>
                  </a:lnTo>
                  <a:lnTo>
                    <a:pt x="0" y="654"/>
                  </a:lnTo>
                  <a:lnTo>
                    <a:pt x="43" y="654"/>
                  </a:lnTo>
                  <a:lnTo>
                    <a:pt x="87" y="654"/>
                  </a:lnTo>
                  <a:lnTo>
                    <a:pt x="130" y="668"/>
                  </a:lnTo>
                  <a:lnTo>
                    <a:pt x="174" y="668"/>
                  </a:lnTo>
                  <a:lnTo>
                    <a:pt x="217" y="668"/>
                  </a:lnTo>
                  <a:lnTo>
                    <a:pt x="261" y="668"/>
                  </a:lnTo>
                  <a:lnTo>
                    <a:pt x="290" y="668"/>
                  </a:lnTo>
                  <a:lnTo>
                    <a:pt x="334" y="668"/>
                  </a:lnTo>
                  <a:lnTo>
                    <a:pt x="377" y="654"/>
                  </a:lnTo>
                  <a:lnTo>
                    <a:pt x="421" y="654"/>
                  </a:lnTo>
                  <a:lnTo>
                    <a:pt x="464" y="654"/>
                  </a:lnTo>
                  <a:lnTo>
                    <a:pt x="493" y="639"/>
                  </a:lnTo>
                  <a:lnTo>
                    <a:pt x="537" y="639"/>
                  </a:lnTo>
                  <a:lnTo>
                    <a:pt x="580" y="624"/>
                  </a:lnTo>
                  <a:lnTo>
                    <a:pt x="624" y="610"/>
                  </a:lnTo>
                  <a:lnTo>
                    <a:pt x="667" y="595"/>
                  </a:lnTo>
                  <a:lnTo>
                    <a:pt x="711" y="595"/>
                  </a:lnTo>
                  <a:lnTo>
                    <a:pt x="740" y="581"/>
                  </a:lnTo>
                  <a:lnTo>
                    <a:pt x="784" y="566"/>
                  </a:lnTo>
                  <a:lnTo>
                    <a:pt x="798" y="552"/>
                  </a:lnTo>
                  <a:lnTo>
                    <a:pt x="842" y="537"/>
                  </a:lnTo>
                  <a:lnTo>
                    <a:pt x="885" y="523"/>
                  </a:lnTo>
                  <a:lnTo>
                    <a:pt x="914" y="508"/>
                  </a:lnTo>
                  <a:lnTo>
                    <a:pt x="958" y="479"/>
                  </a:lnTo>
                  <a:lnTo>
                    <a:pt x="987" y="465"/>
                  </a:lnTo>
                  <a:lnTo>
                    <a:pt x="1016" y="436"/>
                  </a:lnTo>
                  <a:lnTo>
                    <a:pt x="1045" y="421"/>
                  </a:lnTo>
                  <a:lnTo>
                    <a:pt x="1089" y="392"/>
                  </a:lnTo>
                  <a:lnTo>
                    <a:pt x="1118" y="378"/>
                  </a:lnTo>
                  <a:lnTo>
                    <a:pt x="1147" y="349"/>
                  </a:lnTo>
                  <a:lnTo>
                    <a:pt x="1176" y="320"/>
                  </a:lnTo>
                  <a:lnTo>
                    <a:pt x="1205" y="305"/>
                  </a:lnTo>
                  <a:lnTo>
                    <a:pt x="1219" y="291"/>
                  </a:lnTo>
                  <a:lnTo>
                    <a:pt x="1234" y="262"/>
                  </a:lnTo>
                  <a:lnTo>
                    <a:pt x="1263" y="233"/>
                  </a:lnTo>
                  <a:lnTo>
                    <a:pt x="1292" y="204"/>
                  </a:lnTo>
                  <a:lnTo>
                    <a:pt x="1306" y="175"/>
                  </a:lnTo>
                  <a:lnTo>
                    <a:pt x="1321" y="146"/>
                  </a:lnTo>
                  <a:lnTo>
                    <a:pt x="1350" y="116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808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7" name="Freeform 28"/>
            <p:cNvSpPr>
              <a:spLocks/>
            </p:cNvSpPr>
            <p:nvPr/>
          </p:nvSpPr>
          <p:spPr bwMode="auto">
            <a:xfrm>
              <a:off x="6754813" y="5676900"/>
              <a:ext cx="941387" cy="703263"/>
            </a:xfrm>
            <a:custGeom>
              <a:avLst/>
              <a:gdLst>
                <a:gd name="T0" fmla="*/ 2147483646 w 1350"/>
                <a:gd name="T1" fmla="*/ 2147483646 h 957"/>
                <a:gd name="T2" fmla="*/ 2147483646 w 1350"/>
                <a:gd name="T3" fmla="*/ 2147483646 h 957"/>
                <a:gd name="T4" fmla="*/ 2147483646 w 1350"/>
                <a:gd name="T5" fmla="*/ 2147483646 h 957"/>
                <a:gd name="T6" fmla="*/ 2147483646 w 1350"/>
                <a:gd name="T7" fmla="*/ 2147483646 h 957"/>
                <a:gd name="T8" fmla="*/ 2147483646 w 1350"/>
                <a:gd name="T9" fmla="*/ 2147483646 h 957"/>
                <a:gd name="T10" fmla="*/ 2147483646 w 1350"/>
                <a:gd name="T11" fmla="*/ 2147483646 h 957"/>
                <a:gd name="T12" fmla="*/ 2147483646 w 1350"/>
                <a:gd name="T13" fmla="*/ 2147483646 h 957"/>
                <a:gd name="T14" fmla="*/ 2147483646 w 1350"/>
                <a:gd name="T15" fmla="*/ 2147483646 h 957"/>
                <a:gd name="T16" fmla="*/ 2147483646 w 1350"/>
                <a:gd name="T17" fmla="*/ 2147483646 h 957"/>
                <a:gd name="T18" fmla="*/ 2147483646 w 1350"/>
                <a:gd name="T19" fmla="*/ 2147483646 h 957"/>
                <a:gd name="T20" fmla="*/ 2147483646 w 1350"/>
                <a:gd name="T21" fmla="*/ 2147483646 h 957"/>
                <a:gd name="T22" fmla="*/ 2147483646 w 1350"/>
                <a:gd name="T23" fmla="*/ 2147483646 h 957"/>
                <a:gd name="T24" fmla="*/ 2147483646 w 1350"/>
                <a:gd name="T25" fmla="*/ 2147483646 h 957"/>
                <a:gd name="T26" fmla="*/ 2147483646 w 1350"/>
                <a:gd name="T27" fmla="*/ 2147483646 h 957"/>
                <a:gd name="T28" fmla="*/ 2147483646 w 1350"/>
                <a:gd name="T29" fmla="*/ 2147483646 h 957"/>
                <a:gd name="T30" fmla="*/ 2147483646 w 1350"/>
                <a:gd name="T31" fmla="*/ 2147483646 h 957"/>
                <a:gd name="T32" fmla="*/ 2147483646 w 1350"/>
                <a:gd name="T33" fmla="*/ 2147483646 h 957"/>
                <a:gd name="T34" fmla="*/ 2147483646 w 1350"/>
                <a:gd name="T35" fmla="*/ 2147483646 h 957"/>
                <a:gd name="T36" fmla="*/ 2147483646 w 1350"/>
                <a:gd name="T37" fmla="*/ 2147483646 h 957"/>
                <a:gd name="T38" fmla="*/ 2147483646 w 1350"/>
                <a:gd name="T39" fmla="*/ 2147483646 h 957"/>
                <a:gd name="T40" fmla="*/ 2147483646 w 1350"/>
                <a:gd name="T41" fmla="*/ 2147483646 h 957"/>
                <a:gd name="T42" fmla="*/ 2147483646 w 1350"/>
                <a:gd name="T43" fmla="*/ 2147483646 h 957"/>
                <a:gd name="T44" fmla="*/ 2147483646 w 1350"/>
                <a:gd name="T45" fmla="*/ 2147483646 h 957"/>
                <a:gd name="T46" fmla="*/ 2147483646 w 1350"/>
                <a:gd name="T47" fmla="*/ 2147483646 h 957"/>
                <a:gd name="T48" fmla="*/ 2147483646 w 1350"/>
                <a:gd name="T49" fmla="*/ 2147483646 h 957"/>
                <a:gd name="T50" fmla="*/ 2147483646 w 1350"/>
                <a:gd name="T51" fmla="*/ 2147483646 h 957"/>
                <a:gd name="T52" fmla="*/ 2147483646 w 1350"/>
                <a:gd name="T53" fmla="*/ 2147483646 h 957"/>
                <a:gd name="T54" fmla="*/ 2147483646 w 1350"/>
                <a:gd name="T55" fmla="*/ 2147483646 h 957"/>
                <a:gd name="T56" fmla="*/ 2147483646 w 1350"/>
                <a:gd name="T57" fmla="*/ 2147483646 h 957"/>
                <a:gd name="T58" fmla="*/ 2147483646 w 1350"/>
                <a:gd name="T59" fmla="*/ 2147483646 h 957"/>
                <a:gd name="T60" fmla="*/ 2147483646 w 1350"/>
                <a:gd name="T61" fmla="*/ 2147483646 h 957"/>
                <a:gd name="T62" fmla="*/ 2147483646 w 1350"/>
                <a:gd name="T63" fmla="*/ 2147483646 h 957"/>
                <a:gd name="T64" fmla="*/ 2147483646 w 1350"/>
                <a:gd name="T65" fmla="*/ 2147483646 h 957"/>
                <a:gd name="T66" fmla="*/ 2147483646 w 1350"/>
                <a:gd name="T67" fmla="*/ 2147483646 h 957"/>
                <a:gd name="T68" fmla="*/ 2147483646 w 1350"/>
                <a:gd name="T69" fmla="*/ 2147483646 h 957"/>
                <a:gd name="T70" fmla="*/ 2147483646 w 1350"/>
                <a:gd name="T71" fmla="*/ 2147483646 h 957"/>
                <a:gd name="T72" fmla="*/ 2147483646 w 1350"/>
                <a:gd name="T73" fmla="*/ 2147483646 h 957"/>
                <a:gd name="T74" fmla="*/ 2147483646 w 1350"/>
                <a:gd name="T75" fmla="*/ 2147483646 h 957"/>
                <a:gd name="T76" fmla="*/ 2147483646 w 1350"/>
                <a:gd name="T77" fmla="*/ 2147483646 h 957"/>
                <a:gd name="T78" fmla="*/ 0 w 1350"/>
                <a:gd name="T79" fmla="*/ 2147483646 h 957"/>
                <a:gd name="T80" fmla="*/ 2147483646 w 1350"/>
                <a:gd name="T81" fmla="*/ 0 h 957"/>
                <a:gd name="T82" fmla="*/ 2147483646 w 1350"/>
                <a:gd name="T83" fmla="*/ 2147483646 h 95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350"/>
                <a:gd name="T127" fmla="*/ 0 h 957"/>
                <a:gd name="T128" fmla="*/ 1350 w 1350"/>
                <a:gd name="T129" fmla="*/ 957 h 95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350" h="957">
                  <a:moveTo>
                    <a:pt x="1350" y="406"/>
                  </a:moveTo>
                  <a:lnTo>
                    <a:pt x="1321" y="435"/>
                  </a:lnTo>
                  <a:lnTo>
                    <a:pt x="1306" y="464"/>
                  </a:lnTo>
                  <a:lnTo>
                    <a:pt x="1292" y="493"/>
                  </a:lnTo>
                  <a:lnTo>
                    <a:pt x="1263" y="522"/>
                  </a:lnTo>
                  <a:lnTo>
                    <a:pt x="1234" y="551"/>
                  </a:lnTo>
                  <a:lnTo>
                    <a:pt x="1219" y="566"/>
                  </a:lnTo>
                  <a:lnTo>
                    <a:pt x="1205" y="580"/>
                  </a:lnTo>
                  <a:lnTo>
                    <a:pt x="1176" y="609"/>
                  </a:lnTo>
                  <a:lnTo>
                    <a:pt x="1147" y="638"/>
                  </a:lnTo>
                  <a:lnTo>
                    <a:pt x="1118" y="667"/>
                  </a:lnTo>
                  <a:lnTo>
                    <a:pt x="1089" y="682"/>
                  </a:lnTo>
                  <a:lnTo>
                    <a:pt x="1045" y="711"/>
                  </a:lnTo>
                  <a:lnTo>
                    <a:pt x="1016" y="725"/>
                  </a:lnTo>
                  <a:lnTo>
                    <a:pt x="987" y="754"/>
                  </a:lnTo>
                  <a:lnTo>
                    <a:pt x="958" y="769"/>
                  </a:lnTo>
                  <a:lnTo>
                    <a:pt x="914" y="783"/>
                  </a:lnTo>
                  <a:lnTo>
                    <a:pt x="885" y="812"/>
                  </a:lnTo>
                  <a:lnTo>
                    <a:pt x="842" y="827"/>
                  </a:lnTo>
                  <a:lnTo>
                    <a:pt x="798" y="841"/>
                  </a:lnTo>
                  <a:lnTo>
                    <a:pt x="784" y="856"/>
                  </a:lnTo>
                  <a:lnTo>
                    <a:pt x="740" y="870"/>
                  </a:lnTo>
                  <a:lnTo>
                    <a:pt x="711" y="885"/>
                  </a:lnTo>
                  <a:lnTo>
                    <a:pt x="667" y="885"/>
                  </a:lnTo>
                  <a:lnTo>
                    <a:pt x="624" y="899"/>
                  </a:lnTo>
                  <a:lnTo>
                    <a:pt x="580" y="914"/>
                  </a:lnTo>
                  <a:lnTo>
                    <a:pt x="537" y="928"/>
                  </a:lnTo>
                  <a:lnTo>
                    <a:pt x="493" y="928"/>
                  </a:lnTo>
                  <a:lnTo>
                    <a:pt x="464" y="943"/>
                  </a:lnTo>
                  <a:lnTo>
                    <a:pt x="421" y="943"/>
                  </a:lnTo>
                  <a:lnTo>
                    <a:pt x="377" y="943"/>
                  </a:lnTo>
                  <a:lnTo>
                    <a:pt x="334" y="943"/>
                  </a:lnTo>
                  <a:lnTo>
                    <a:pt x="290" y="957"/>
                  </a:lnTo>
                  <a:lnTo>
                    <a:pt x="261" y="957"/>
                  </a:lnTo>
                  <a:lnTo>
                    <a:pt x="217" y="957"/>
                  </a:lnTo>
                  <a:lnTo>
                    <a:pt x="174" y="957"/>
                  </a:lnTo>
                  <a:lnTo>
                    <a:pt x="130" y="957"/>
                  </a:lnTo>
                  <a:lnTo>
                    <a:pt x="87" y="943"/>
                  </a:lnTo>
                  <a:lnTo>
                    <a:pt x="43" y="943"/>
                  </a:lnTo>
                  <a:lnTo>
                    <a:pt x="0" y="943"/>
                  </a:lnTo>
                  <a:lnTo>
                    <a:pt x="217" y="0"/>
                  </a:lnTo>
                  <a:lnTo>
                    <a:pt x="1350" y="406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28" name="Rectangle 29"/>
            <p:cNvSpPr>
              <a:spLocks noChangeArrowheads="1"/>
            </p:cNvSpPr>
            <p:nvPr/>
          </p:nvSpPr>
          <p:spPr bwMode="auto">
            <a:xfrm>
              <a:off x="7769225" y="4906963"/>
              <a:ext cx="968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Biophysics</a:t>
              </a:r>
            </a:p>
          </p:txBody>
        </p:sp>
        <p:sp>
          <p:nvSpPr>
            <p:cNvPr id="25629" name="Rectangle 30"/>
            <p:cNvSpPr>
              <a:spLocks noChangeArrowheads="1"/>
            </p:cNvSpPr>
            <p:nvPr/>
          </p:nvSpPr>
          <p:spPr bwMode="auto">
            <a:xfrm>
              <a:off x="7970838" y="5357813"/>
              <a:ext cx="88806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IC Failure</a:t>
              </a:r>
            </a:p>
          </p:txBody>
        </p:sp>
        <p:sp>
          <p:nvSpPr>
            <p:cNvPr id="25630" name="Rectangle 31"/>
            <p:cNvSpPr>
              <a:spLocks noChangeArrowheads="1"/>
            </p:cNvSpPr>
            <p:nvPr/>
          </p:nvSpPr>
          <p:spPr bwMode="auto">
            <a:xfrm>
              <a:off x="7939088" y="5516563"/>
              <a:ext cx="76142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Analysis</a:t>
              </a:r>
            </a:p>
          </p:txBody>
        </p:sp>
        <p:sp>
          <p:nvSpPr>
            <p:cNvPr id="25631" name="Rectangle 32"/>
            <p:cNvSpPr>
              <a:spLocks noChangeArrowheads="1"/>
            </p:cNvSpPr>
            <p:nvPr/>
          </p:nvSpPr>
          <p:spPr bwMode="auto">
            <a:xfrm>
              <a:off x="7388225" y="6354763"/>
              <a:ext cx="8810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Materials </a:t>
              </a:r>
            </a:p>
          </p:txBody>
        </p:sp>
        <p:sp>
          <p:nvSpPr>
            <p:cNvPr id="25632" name="Rectangle 33"/>
            <p:cNvSpPr>
              <a:spLocks noChangeArrowheads="1"/>
            </p:cNvSpPr>
            <p:nvPr/>
          </p:nvSpPr>
          <p:spPr bwMode="auto">
            <a:xfrm>
              <a:off x="7207250" y="6515100"/>
              <a:ext cx="143351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characterisation</a:t>
              </a:r>
              <a:endPara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3" name="Rectangle 34"/>
            <p:cNvSpPr>
              <a:spLocks noChangeArrowheads="1"/>
            </p:cNvSpPr>
            <p:nvPr/>
          </p:nvSpPr>
          <p:spPr bwMode="auto">
            <a:xfrm>
              <a:off x="5394325" y="6370638"/>
              <a:ext cx="13652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Microphotonics</a:t>
              </a:r>
            </a:p>
          </p:txBody>
        </p:sp>
        <p:sp>
          <p:nvSpPr>
            <p:cNvPr id="25634" name="Rectangle 35"/>
            <p:cNvSpPr>
              <a:spLocks noChangeArrowheads="1"/>
            </p:cNvSpPr>
            <p:nvPr/>
          </p:nvSpPr>
          <p:spPr bwMode="auto">
            <a:xfrm>
              <a:off x="4645025" y="5745163"/>
              <a:ext cx="1058863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Nano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engineering</a:t>
              </a:r>
            </a:p>
          </p:txBody>
        </p:sp>
        <p:sp>
          <p:nvSpPr>
            <p:cNvPr id="25635" name="Rectangle 36"/>
            <p:cNvSpPr>
              <a:spLocks noChangeArrowheads="1"/>
            </p:cNvSpPr>
            <p:nvPr/>
          </p:nvSpPr>
          <p:spPr bwMode="auto">
            <a:xfrm>
              <a:off x="4678363" y="5102225"/>
              <a:ext cx="1038225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Micro/Nano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fluidics</a:t>
              </a:r>
            </a:p>
          </p:txBody>
        </p:sp>
        <p:sp>
          <p:nvSpPr>
            <p:cNvPr id="25636" name="Rectangle 37"/>
            <p:cNvSpPr>
              <a:spLocks noChangeArrowheads="1"/>
            </p:cNvSpPr>
            <p:nvPr/>
          </p:nvSpPr>
          <p:spPr bwMode="auto">
            <a:xfrm>
              <a:off x="4968875" y="4449763"/>
              <a:ext cx="6524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Silicon </a:t>
              </a:r>
            </a:p>
          </p:txBody>
        </p:sp>
        <p:sp>
          <p:nvSpPr>
            <p:cNvPr id="25637" name="Rectangle 38"/>
            <p:cNvSpPr>
              <a:spLocks noChangeArrowheads="1"/>
            </p:cNvSpPr>
            <p:nvPr/>
          </p:nvSpPr>
          <p:spPr bwMode="auto">
            <a:xfrm>
              <a:off x="4748213" y="4608513"/>
              <a:ext cx="143468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micromachining</a:t>
              </a:r>
            </a:p>
          </p:txBody>
        </p:sp>
        <p:sp>
          <p:nvSpPr>
            <p:cNvPr id="25638" name="Rectangle 39"/>
            <p:cNvSpPr>
              <a:spLocks noChangeArrowheads="1"/>
            </p:cNvSpPr>
            <p:nvPr/>
          </p:nvSpPr>
          <p:spPr bwMode="auto">
            <a:xfrm>
              <a:off x="6473825" y="4373563"/>
              <a:ext cx="1476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Nano-replication</a:t>
              </a:r>
            </a:p>
          </p:txBody>
        </p:sp>
        <p:sp>
          <p:nvSpPr>
            <p:cNvPr id="25639" name="Rectangle 40"/>
            <p:cNvSpPr>
              <a:spLocks noChangeArrowheads="1"/>
            </p:cNvSpPr>
            <p:nvPr/>
          </p:nvSpPr>
          <p:spPr bwMode="auto">
            <a:xfrm>
              <a:off x="7378700" y="4602163"/>
              <a:ext cx="17240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Tissue-engineering</a:t>
              </a:r>
            </a:p>
          </p:txBody>
        </p:sp>
      </p:grpSp>
      <p:pic>
        <p:nvPicPr>
          <p:cNvPr id="25645" name="Picture 8" descr="C:\stuff_I_need\Conferences\2012 ICNMTA\talk\photos\IMG_0504_beamli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2" t="10159" r="21422" b="20670"/>
          <a:stretch>
            <a:fillRect/>
          </a:stretch>
        </p:blipFill>
        <p:spPr bwMode="auto">
          <a:xfrm>
            <a:off x="64008" y="1444752"/>
            <a:ext cx="6146906" cy="5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3">
            <a:extLst>
              <a:ext uri="{FF2B5EF4-FFF2-40B4-BE49-F238E27FC236}">
                <a16:creationId xmlns:a16="http://schemas.microsoft.com/office/drawing/2014/main" id="{295A7270-B4D4-A47C-EC8E-3DB867C94869}"/>
              </a:ext>
            </a:extLst>
          </p:cNvPr>
          <p:cNvSpPr txBox="1">
            <a:spLocks/>
          </p:cNvSpPr>
          <p:nvPr/>
        </p:nvSpPr>
        <p:spPr>
          <a:xfrm>
            <a:off x="1069848" y="134821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Beam Writing Line</a:t>
            </a: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2EFE2DC1-551C-CFBD-67AF-ACDDFFBC2171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E747D0D-7FDF-3E7F-062F-BDC1A62E2229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0FB2EF2-F4E8-BD6C-67E9-023021092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1A0C8F-1AFE-8BB9-D2AF-4D908495E4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52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386E82-76AA-970E-6578-2076D54E7158}"/>
              </a:ext>
            </a:extLst>
          </p:cNvPr>
          <p:cNvSpPr/>
          <p:nvPr/>
        </p:nvSpPr>
        <p:spPr>
          <a:xfrm>
            <a:off x="1607457" y="850602"/>
            <a:ext cx="9031105" cy="59228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3" name="Group 12"/>
          <p:cNvGrpSpPr/>
          <p:nvPr/>
        </p:nvGrpSpPr>
        <p:grpSpPr>
          <a:xfrm>
            <a:off x="1607457" y="875710"/>
            <a:ext cx="9035296" cy="5684921"/>
            <a:chOff x="524767" y="6463925"/>
            <a:chExt cx="8562084" cy="5387180"/>
          </a:xfrm>
          <a:solidFill>
            <a:schemeClr val="bg1"/>
          </a:solidFill>
        </p:grpSpPr>
        <p:sp>
          <p:nvSpPr>
            <p:cNvPr id="12" name="Rectangle 11"/>
            <p:cNvSpPr/>
            <p:nvPr/>
          </p:nvSpPr>
          <p:spPr bwMode="auto">
            <a:xfrm>
              <a:off x="524767" y="6744998"/>
              <a:ext cx="8562084" cy="5106107"/>
            </a:xfrm>
            <a:prstGeom prst="rect">
              <a:avLst/>
            </a:prstGeom>
            <a:grpFill/>
            <a:ln w="762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93399" y="6463925"/>
              <a:ext cx="8207103" cy="5272526"/>
              <a:chOff x="637547" y="1488491"/>
              <a:chExt cx="8207103" cy="5272526"/>
            </a:xfrm>
            <a:grpFill/>
          </p:grpSpPr>
          <p:grpSp>
            <p:nvGrpSpPr>
              <p:cNvPr id="9" name="Group 8"/>
              <p:cNvGrpSpPr/>
              <p:nvPr/>
            </p:nvGrpSpPr>
            <p:grpSpPr>
              <a:xfrm>
                <a:off x="637547" y="1884218"/>
                <a:ext cx="8207103" cy="4876799"/>
                <a:chOff x="576978" y="2730498"/>
                <a:chExt cx="6782908" cy="4030519"/>
              </a:xfrm>
              <a:grpFill/>
            </p:grpSpPr>
            <p:grpSp>
              <p:nvGrpSpPr>
                <p:cNvPr id="93" name="Group 14"/>
                <p:cNvGrpSpPr>
                  <a:grpSpLocks noChangeAspect="1"/>
                </p:cNvGrpSpPr>
                <p:nvPr/>
              </p:nvGrpSpPr>
              <p:grpSpPr bwMode="auto">
                <a:xfrm>
                  <a:off x="1062182" y="2730498"/>
                  <a:ext cx="6297704" cy="4030519"/>
                  <a:chOff x="-7027677" y="-2514854"/>
                  <a:chExt cx="8393792" cy="5196840"/>
                </a:xfrm>
                <a:grpFill/>
              </p:grpSpPr>
              <p:pic>
                <p:nvPicPr>
                  <p:cNvPr id="97" name="Picture 13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045" t="17363" r="21728" b="5296"/>
                  <a:stretch/>
                </p:blipFill>
                <p:spPr bwMode="auto">
                  <a:xfrm>
                    <a:off x="-2571249" y="-2514854"/>
                    <a:ext cx="3937364" cy="519684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762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98" name="Picture 1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3524" t="19011" r="14861" b="4945"/>
                  <a:stretch/>
                </p:blipFill>
                <p:spPr bwMode="auto">
                  <a:xfrm>
                    <a:off x="-7027677" y="-2507231"/>
                    <a:ext cx="3987862" cy="5112001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762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8" name="Group 7"/>
                <p:cNvGrpSpPr/>
                <p:nvPr/>
              </p:nvGrpSpPr>
              <p:grpSpPr>
                <a:xfrm>
                  <a:off x="576978" y="2847037"/>
                  <a:ext cx="409777" cy="3530235"/>
                  <a:chOff x="576978" y="2847037"/>
                  <a:chExt cx="409777" cy="3530235"/>
                </a:xfrm>
                <a:grpFill/>
              </p:grpSpPr>
              <p:cxnSp>
                <p:nvCxnSpPr>
                  <p:cNvPr id="6" name="Straight Arrow Connector 5"/>
                  <p:cNvCxnSpPr/>
                  <p:nvPr/>
                </p:nvCxnSpPr>
                <p:spPr bwMode="auto">
                  <a:xfrm>
                    <a:off x="793459" y="2847037"/>
                    <a:ext cx="0" cy="3530235"/>
                  </a:xfrm>
                  <a:prstGeom prst="straightConnector1">
                    <a:avLst/>
                  </a:prstGeom>
                  <a:grpFill/>
                  <a:ln w="444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</p:cxnSp>
              <p:sp>
                <p:nvSpPr>
                  <p:cNvPr id="7" name="TextBox 6"/>
                  <p:cNvSpPr txBox="1"/>
                  <p:nvPr/>
                </p:nvSpPr>
                <p:spPr>
                  <a:xfrm rot="16200000">
                    <a:off x="160924" y="4383885"/>
                    <a:ext cx="1241885" cy="409777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0000"/>
                        </a:solidFill>
                      </a:rPr>
                      <a:t>1000 nm</a:t>
                    </a:r>
                  </a:p>
                </p:txBody>
              </p:sp>
            </p:grpSp>
          </p:grpSp>
          <p:sp>
            <p:nvSpPr>
              <p:cNvPr id="106" name="TextBox 2"/>
              <p:cNvSpPr txBox="1">
                <a:spLocks noChangeArrowheads="1"/>
              </p:cNvSpPr>
              <p:nvPr/>
            </p:nvSpPr>
            <p:spPr bwMode="auto">
              <a:xfrm>
                <a:off x="5348846" y="1545878"/>
                <a:ext cx="2543190" cy="43748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400" dirty="0">
                    <a:solidFill>
                      <a:srgbClr val="000000"/>
                    </a:solidFill>
                  </a:rPr>
                  <a:t>100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keV</a:t>
                </a:r>
                <a:r>
                  <a:rPr lang="en-US" sz="2400" dirty="0">
                    <a:solidFill>
                      <a:srgbClr val="000000"/>
                    </a:solidFill>
                  </a:rPr>
                  <a:t> Electrons</a:t>
                </a:r>
              </a:p>
            </p:txBody>
          </p:sp>
          <p:sp>
            <p:nvSpPr>
              <p:cNvPr id="107" name="TextBox 27"/>
              <p:cNvSpPr txBox="1">
                <a:spLocks noChangeArrowheads="1"/>
              </p:cNvSpPr>
              <p:nvPr/>
            </p:nvSpPr>
            <p:spPr bwMode="auto">
              <a:xfrm>
                <a:off x="1356689" y="1488491"/>
                <a:ext cx="2412552" cy="43748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400" dirty="0">
                    <a:solidFill>
                      <a:srgbClr val="000000"/>
                    </a:solidFill>
                  </a:rPr>
                  <a:t>500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keV</a:t>
                </a:r>
                <a:r>
                  <a:rPr lang="en-US" sz="2400" dirty="0">
                    <a:solidFill>
                      <a:srgbClr val="000000"/>
                    </a:solidFill>
                  </a:rPr>
                  <a:t>  Protons</a:t>
                </a: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3535457" y="925425"/>
            <a:ext cx="7103105" cy="5813184"/>
            <a:chOff x="2035652" y="1021514"/>
            <a:chExt cx="7103105" cy="5813184"/>
          </a:xfrm>
        </p:grpSpPr>
        <p:grpSp>
          <p:nvGrpSpPr>
            <p:cNvPr id="20" name="Group 19"/>
            <p:cNvGrpSpPr/>
            <p:nvPr/>
          </p:nvGrpSpPr>
          <p:grpSpPr>
            <a:xfrm>
              <a:off x="2035652" y="1021514"/>
              <a:ext cx="7017652" cy="5813184"/>
              <a:chOff x="2035652" y="1021514"/>
              <a:chExt cx="7017652" cy="5813184"/>
            </a:xfrm>
          </p:grpSpPr>
          <p:sp>
            <p:nvSpPr>
              <p:cNvPr id="14" name="Rectangle 13"/>
              <p:cNvSpPr/>
              <p:nvPr/>
            </p:nvSpPr>
            <p:spPr bwMode="auto">
              <a:xfrm>
                <a:off x="2035652" y="1499130"/>
                <a:ext cx="290458" cy="2250115"/>
              </a:xfrm>
              <a:prstGeom prst="rect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4747071" y="1021514"/>
                <a:ext cx="4306233" cy="5813184"/>
                <a:chOff x="6258294" y="-2410172"/>
                <a:chExt cx="4306233" cy="5813184"/>
              </a:xfrm>
            </p:grpSpPr>
            <p:sp>
              <p:nvSpPr>
                <p:cNvPr id="15" name="Rectangle 14"/>
                <p:cNvSpPr/>
                <p:nvPr/>
              </p:nvSpPr>
              <p:spPr bwMode="auto">
                <a:xfrm>
                  <a:off x="6258294" y="-2410172"/>
                  <a:ext cx="4148024" cy="5813184"/>
                </a:xfrm>
                <a:prstGeom prst="rect">
                  <a:avLst/>
                </a:prstGeom>
                <a:solidFill>
                  <a:schemeClr val="bg1"/>
                </a:solidFill>
                <a:ln w="762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112" name="Group 111"/>
                <p:cNvGrpSpPr/>
                <p:nvPr/>
              </p:nvGrpSpPr>
              <p:grpSpPr>
                <a:xfrm>
                  <a:off x="6867873" y="-2219098"/>
                  <a:ext cx="3696654" cy="5622109"/>
                  <a:chOff x="2391508" y="-944112"/>
                  <a:chExt cx="5984360" cy="9101403"/>
                </a:xfrm>
                <a:solidFill>
                  <a:schemeClr val="bg1"/>
                </a:solidFill>
              </p:grpSpPr>
              <p:grpSp>
                <p:nvGrpSpPr>
                  <p:cNvPr id="113" name="Group 112"/>
                  <p:cNvGrpSpPr/>
                  <p:nvPr/>
                </p:nvGrpSpPr>
                <p:grpSpPr>
                  <a:xfrm>
                    <a:off x="3140242" y="-944112"/>
                    <a:ext cx="5235626" cy="9101403"/>
                    <a:chOff x="3140242" y="-944112"/>
                    <a:chExt cx="5235626" cy="9101403"/>
                  </a:xfrm>
                  <a:grpFill/>
                </p:grpSpPr>
                <p:pic>
                  <p:nvPicPr>
                    <p:cNvPr id="115" name="Picture 114"/>
                    <p:cNvPicPr>
                      <a:picLocks noChangeAspect="1"/>
                    </p:cNvPicPr>
                    <p:nvPr/>
                  </p:nvPicPr>
                  <p:blipFill rotWithShape="1">
                    <a:blip r:embed="rId5"/>
                    <a:srcRect l="15808" t="37104" r="74777" b="10447"/>
                    <a:stretch/>
                  </p:blipFill>
                  <p:spPr>
                    <a:xfrm>
                      <a:off x="3140242" y="-944112"/>
                      <a:ext cx="4751314" cy="8866215"/>
                    </a:xfrm>
                    <a:prstGeom prst="rect">
                      <a:avLst/>
                    </a:prstGeom>
                    <a:grpFill/>
                  </p:spPr>
                </p:pic>
                <p:sp>
                  <p:nvSpPr>
                    <p:cNvPr id="116" name="TextBox 115"/>
                    <p:cNvSpPr txBox="1"/>
                    <p:nvPr/>
                  </p:nvSpPr>
                  <p:spPr>
                    <a:xfrm>
                      <a:off x="4199937" y="7509569"/>
                      <a:ext cx="4175931" cy="647722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SG" sz="2000" dirty="0">
                          <a:solidFill>
                            <a:srgbClr val="000000"/>
                          </a:solidFill>
                        </a:rPr>
                        <a:t>Radial Distance (nm)</a:t>
                      </a:r>
                      <a:endParaRPr lang="en-US" sz="2000" dirty="0">
                        <a:solidFill>
                          <a:srgbClr val="000000"/>
                        </a:solidFill>
                      </a:endParaRPr>
                    </a:p>
                  </p:txBody>
                </p:sp>
                <p:cxnSp>
                  <p:nvCxnSpPr>
                    <p:cNvPr id="117" name="Straight Arrow Connector 116"/>
                    <p:cNvCxnSpPr/>
                    <p:nvPr/>
                  </p:nvCxnSpPr>
                  <p:spPr bwMode="auto">
                    <a:xfrm flipH="1">
                      <a:off x="4804950" y="2019699"/>
                      <a:ext cx="720550" cy="0"/>
                    </a:xfrm>
                    <a:prstGeom prst="straightConnector1">
                      <a:avLst/>
                    </a:prstGeom>
                    <a:grpFill/>
                    <a:ln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sp>
                  <p:nvSpPr>
                    <p:cNvPr id="118" name="TextBox 117"/>
                    <p:cNvSpPr txBox="1"/>
                    <p:nvPr/>
                  </p:nvSpPr>
                  <p:spPr>
                    <a:xfrm>
                      <a:off x="5575742" y="1592951"/>
                      <a:ext cx="1593872" cy="847020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2 nm</a:t>
                      </a:r>
                    </a:p>
                  </p:txBody>
                </p:sp>
                <p:cxnSp>
                  <p:nvCxnSpPr>
                    <p:cNvPr id="119" name="Straight Arrow Connector 118"/>
                    <p:cNvCxnSpPr/>
                    <p:nvPr/>
                  </p:nvCxnSpPr>
                  <p:spPr bwMode="auto">
                    <a:xfrm flipH="1">
                      <a:off x="4646369" y="959079"/>
                      <a:ext cx="879130" cy="0"/>
                    </a:xfrm>
                    <a:prstGeom prst="straightConnector1">
                      <a:avLst/>
                    </a:prstGeom>
                    <a:grpFill/>
                    <a:ln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sp>
                  <p:nvSpPr>
                    <p:cNvPr id="120" name="TextBox 119"/>
                    <p:cNvSpPr txBox="1"/>
                    <p:nvPr/>
                  </p:nvSpPr>
                  <p:spPr>
                    <a:xfrm>
                      <a:off x="5468537" y="546653"/>
                      <a:ext cx="1593872" cy="847020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1 nm</a:t>
                      </a:r>
                    </a:p>
                  </p:txBody>
                </p:sp>
              </p:grpSp>
              <p:sp>
                <p:nvSpPr>
                  <p:cNvPr id="114" name="TextBox 113"/>
                  <p:cNvSpPr txBox="1"/>
                  <p:nvPr/>
                </p:nvSpPr>
                <p:spPr>
                  <a:xfrm rot="16200000">
                    <a:off x="-561488" y="3785380"/>
                    <a:ext cx="6653362" cy="747370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rgbClr val="000000"/>
                        </a:solidFill>
                      </a:rPr>
                      <a:t>Normalized Deposited Energy</a:t>
                    </a:r>
                  </a:p>
                </p:txBody>
              </p:sp>
            </p:grpSp>
          </p:grpSp>
          <p:cxnSp>
            <p:nvCxnSpPr>
              <p:cNvPr id="18" name="Straight Connector 17"/>
              <p:cNvCxnSpPr/>
              <p:nvPr/>
            </p:nvCxnSpPr>
            <p:spPr bwMode="auto">
              <a:xfrm flipV="1">
                <a:off x="2326110" y="1371944"/>
                <a:ext cx="4257253" cy="12718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8" name="Straight Connector 127"/>
              <p:cNvCxnSpPr/>
              <p:nvPr/>
            </p:nvCxnSpPr>
            <p:spPr bwMode="auto">
              <a:xfrm>
                <a:off x="2351147" y="3768854"/>
                <a:ext cx="4232216" cy="241793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31" name="Group 130"/>
            <p:cNvGrpSpPr/>
            <p:nvPr/>
          </p:nvGrpSpPr>
          <p:grpSpPr>
            <a:xfrm>
              <a:off x="7277979" y="4360943"/>
              <a:ext cx="1860778" cy="1754326"/>
              <a:chOff x="2369459" y="0"/>
              <a:chExt cx="1860778" cy="1754326"/>
            </a:xfrm>
          </p:grpSpPr>
          <p:pic>
            <p:nvPicPr>
              <p:cNvPr id="132" name="Picture 131"/>
              <p:cNvPicPr>
                <a:picLocks noChangeAspect="1"/>
              </p:cNvPicPr>
              <p:nvPr/>
            </p:nvPicPr>
            <p:blipFill rotWithShape="1">
              <a:blip r:embed="rId6"/>
              <a:srcRect l="80937" t="63601" r="14265" b="20044"/>
              <a:stretch/>
            </p:blipFill>
            <p:spPr>
              <a:xfrm>
                <a:off x="3454984" y="113780"/>
                <a:ext cx="775253" cy="1556426"/>
              </a:xfrm>
              <a:prstGeom prst="rect">
                <a:avLst/>
              </a:prstGeom>
            </p:spPr>
          </p:pic>
          <p:sp>
            <p:nvSpPr>
              <p:cNvPr id="133" name="TextBox 132"/>
              <p:cNvSpPr txBox="1"/>
              <p:nvPr/>
            </p:nvSpPr>
            <p:spPr>
              <a:xfrm>
                <a:off x="2369459" y="0"/>
                <a:ext cx="1149161" cy="17543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1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st</a:t>
                </a:r>
                <a:r>
                  <a:rPr lang="en-US" dirty="0">
                    <a:solidFill>
                      <a:srgbClr val="000000"/>
                    </a:solidFill>
                  </a:rPr>
                  <a:t>  Gen-e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2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nd</a:t>
                </a:r>
                <a:r>
                  <a:rPr lang="en-US" dirty="0">
                    <a:solidFill>
                      <a:srgbClr val="000000"/>
                    </a:solidFill>
                  </a:rPr>
                  <a:t> Gen-e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3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rd</a:t>
                </a:r>
                <a:r>
                  <a:rPr lang="en-US" dirty="0">
                    <a:solidFill>
                      <a:srgbClr val="000000"/>
                    </a:solidFill>
                  </a:rPr>
                  <a:t>  Gen-e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th</a:t>
                </a:r>
                <a:r>
                  <a:rPr lang="en-US" dirty="0">
                    <a:solidFill>
                      <a:srgbClr val="000000"/>
                    </a:solidFill>
                  </a:rPr>
                  <a:t>  Gen-e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All (e + P)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Primary P</a:t>
                </a:r>
              </a:p>
            </p:txBody>
          </p:sp>
        </p:grpSp>
      </p:grpSp>
      <p:sp>
        <p:nvSpPr>
          <p:cNvPr id="37" name="Rectangle 2"/>
          <p:cNvSpPr>
            <a:spLocks noChangeArrowheads="1"/>
          </p:cNvSpPr>
          <p:nvPr/>
        </p:nvSpPr>
        <p:spPr bwMode="auto">
          <a:xfrm>
            <a:off x="0" y="6550341"/>
            <a:ext cx="1076276" cy="286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0000"/>
                </a:solidFill>
              </a:rPr>
              <a:t>PRB (2009)</a:t>
            </a: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A2A0CBDC-3DE5-A34B-553C-FD30C3A525B8}"/>
              </a:ext>
            </a:extLst>
          </p:cNvPr>
          <p:cNvSpPr txBox="1">
            <a:spLocks/>
          </p:cNvSpPr>
          <p:nvPr/>
        </p:nvSpPr>
        <p:spPr>
          <a:xfrm>
            <a:off x="536034" y="117180"/>
            <a:ext cx="1093638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Interaction With Material at Nano Scale</a:t>
            </a:r>
          </a:p>
        </p:txBody>
      </p:sp>
      <p:sp>
        <p:nvSpPr>
          <p:cNvPr id="19" name="Rectangle: Single Corner Rounded 18">
            <a:extLst>
              <a:ext uri="{FF2B5EF4-FFF2-40B4-BE49-F238E27FC236}">
                <a16:creationId xmlns:a16="http://schemas.microsoft.com/office/drawing/2014/main" id="{8BD22D30-6A9E-BE2C-29DE-44F967F1003D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53553906-8BB4-6672-5CC4-842F0191B160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AD035FE-D566-A452-3014-08E01E1F6E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6E330B-46FE-C2FE-5684-B41E956842B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7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9" name="Group 3"/>
          <p:cNvGrpSpPr>
            <a:grpSpLocks noChangeAspect="1"/>
          </p:cNvGrpSpPr>
          <p:nvPr/>
        </p:nvGrpSpPr>
        <p:grpSpPr bwMode="auto">
          <a:xfrm>
            <a:off x="979240" y="1402077"/>
            <a:ext cx="2202136" cy="741049"/>
            <a:chOff x="9538" y="15873"/>
            <a:chExt cx="1541" cy="518"/>
          </a:xfrm>
        </p:grpSpPr>
        <p:sp>
          <p:nvSpPr>
            <p:cNvPr id="40122" name="Rectangle 4"/>
            <p:cNvSpPr>
              <a:spLocks noChangeAspect="1" noChangeArrowheads="1"/>
            </p:cNvSpPr>
            <p:nvPr/>
          </p:nvSpPr>
          <p:spPr bwMode="auto">
            <a:xfrm>
              <a:off x="9538" y="15890"/>
              <a:ext cx="147" cy="1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123" name="Rectangle 5"/>
            <p:cNvSpPr>
              <a:spLocks noChangeAspect="1" noChangeArrowheads="1"/>
            </p:cNvSpPr>
            <p:nvPr/>
          </p:nvSpPr>
          <p:spPr bwMode="auto">
            <a:xfrm>
              <a:off x="9538" y="16110"/>
              <a:ext cx="147" cy="93"/>
            </a:xfrm>
            <a:prstGeom prst="rect">
              <a:avLst/>
            </a:prstGeom>
            <a:solidFill>
              <a:srgbClr val="D2CE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124" name="Text Box 6"/>
            <p:cNvSpPr txBox="1">
              <a:spLocks noChangeAspect="1" noChangeArrowheads="1"/>
            </p:cNvSpPr>
            <p:nvPr/>
          </p:nvSpPr>
          <p:spPr bwMode="auto">
            <a:xfrm>
              <a:off x="9754" y="15873"/>
              <a:ext cx="132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ea typeface="SimSun" panose="02010600030101010101" pitchFamily="2" charset="-122"/>
                </a:rPr>
                <a:t>Neg or Positive Resist</a:t>
              </a:r>
            </a:p>
          </p:txBody>
        </p:sp>
        <p:sp>
          <p:nvSpPr>
            <p:cNvPr id="40125" name="Text Box 7"/>
            <p:cNvSpPr txBox="1">
              <a:spLocks noChangeAspect="1" noChangeArrowheads="1"/>
            </p:cNvSpPr>
            <p:nvPr/>
          </p:nvSpPr>
          <p:spPr bwMode="auto">
            <a:xfrm>
              <a:off x="9754" y="16051"/>
              <a:ext cx="24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SimSun" panose="02010600030101010101" pitchFamily="2" charset="-122"/>
                </a:rPr>
                <a:t>Ni</a:t>
              </a:r>
            </a:p>
          </p:txBody>
        </p:sp>
        <p:sp>
          <p:nvSpPr>
            <p:cNvPr id="40126" name="Rectangle 8"/>
            <p:cNvSpPr>
              <a:spLocks noChangeAspect="1" noChangeArrowheads="1"/>
            </p:cNvSpPr>
            <p:nvPr/>
          </p:nvSpPr>
          <p:spPr bwMode="auto">
            <a:xfrm>
              <a:off x="9538" y="16278"/>
              <a:ext cx="147" cy="3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127" name="Text Box 9"/>
            <p:cNvSpPr txBox="1">
              <a:spLocks noChangeAspect="1" noChangeArrowheads="1"/>
            </p:cNvSpPr>
            <p:nvPr/>
          </p:nvSpPr>
          <p:spPr bwMode="auto">
            <a:xfrm>
              <a:off x="9750" y="16176"/>
              <a:ext cx="70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SimSun" panose="02010600030101010101" pitchFamily="2" charset="-122"/>
                </a:rPr>
                <a:t>Seed layer</a:t>
              </a:r>
            </a:p>
          </p:txBody>
        </p:sp>
      </p:grpSp>
      <p:grpSp>
        <p:nvGrpSpPr>
          <p:cNvPr id="39940" name="Group 10"/>
          <p:cNvGrpSpPr>
            <a:grpSpLocks noChangeAspect="1"/>
          </p:cNvGrpSpPr>
          <p:nvPr/>
        </p:nvGrpSpPr>
        <p:grpSpPr bwMode="auto">
          <a:xfrm>
            <a:off x="7121528" y="2184400"/>
            <a:ext cx="460375" cy="465138"/>
            <a:chOff x="7081" y="15293"/>
            <a:chExt cx="322" cy="325"/>
          </a:xfrm>
        </p:grpSpPr>
        <p:sp>
          <p:nvSpPr>
            <p:cNvPr id="40115" name="Freeform 11"/>
            <p:cNvSpPr>
              <a:spLocks noChangeAspect="1"/>
            </p:cNvSpPr>
            <p:nvPr/>
          </p:nvSpPr>
          <p:spPr bwMode="auto">
            <a:xfrm>
              <a:off x="7274" y="15293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6" name="Freeform 12"/>
            <p:cNvSpPr>
              <a:spLocks noChangeAspect="1"/>
            </p:cNvSpPr>
            <p:nvPr/>
          </p:nvSpPr>
          <p:spPr bwMode="auto">
            <a:xfrm>
              <a:off x="7274" y="15293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7" name="Freeform 13"/>
            <p:cNvSpPr>
              <a:spLocks noChangeAspect="1"/>
            </p:cNvSpPr>
            <p:nvPr/>
          </p:nvSpPr>
          <p:spPr bwMode="auto">
            <a:xfrm>
              <a:off x="7081" y="15488"/>
              <a:ext cx="322" cy="130"/>
            </a:xfrm>
            <a:custGeom>
              <a:avLst/>
              <a:gdLst>
                <a:gd name="T0" fmla="*/ 0 w 718"/>
                <a:gd name="T1" fmla="*/ 0 h 288"/>
                <a:gd name="T2" fmla="*/ 0 w 718"/>
                <a:gd name="T3" fmla="*/ 0 h 288"/>
                <a:gd name="T4" fmla="*/ 0 w 718"/>
                <a:gd name="T5" fmla="*/ 0 h 288"/>
                <a:gd name="T6" fmla="*/ 0 w 718"/>
                <a:gd name="T7" fmla="*/ 0 h 288"/>
                <a:gd name="T8" fmla="*/ 0 w 718"/>
                <a:gd name="T9" fmla="*/ 0 h 288"/>
                <a:gd name="T10" fmla="*/ 0 w 718"/>
                <a:gd name="T11" fmla="*/ 0 h 288"/>
                <a:gd name="T12" fmla="*/ 0 w 718"/>
                <a:gd name="T13" fmla="*/ 0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8"/>
                <a:gd name="T22" fmla="*/ 0 h 288"/>
                <a:gd name="T23" fmla="*/ 718 w 718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8" h="288">
                  <a:moveTo>
                    <a:pt x="575" y="0"/>
                  </a:moveTo>
                  <a:lnTo>
                    <a:pt x="718" y="142"/>
                  </a:lnTo>
                  <a:lnTo>
                    <a:pt x="430" y="288"/>
                  </a:lnTo>
                  <a:lnTo>
                    <a:pt x="142" y="142"/>
                  </a:lnTo>
                  <a:lnTo>
                    <a:pt x="0" y="0"/>
                  </a:lnTo>
                  <a:lnTo>
                    <a:pt x="287" y="142"/>
                  </a:lnTo>
                  <a:lnTo>
                    <a:pt x="57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8" name="Freeform 14"/>
            <p:cNvSpPr>
              <a:spLocks noChangeAspect="1"/>
            </p:cNvSpPr>
            <p:nvPr/>
          </p:nvSpPr>
          <p:spPr bwMode="auto">
            <a:xfrm>
              <a:off x="7081" y="15488"/>
              <a:ext cx="322" cy="130"/>
            </a:xfrm>
            <a:custGeom>
              <a:avLst/>
              <a:gdLst>
                <a:gd name="T0" fmla="*/ 0 w 718"/>
                <a:gd name="T1" fmla="*/ 0 h 288"/>
                <a:gd name="T2" fmla="*/ 0 w 718"/>
                <a:gd name="T3" fmla="*/ 0 h 288"/>
                <a:gd name="T4" fmla="*/ 0 w 718"/>
                <a:gd name="T5" fmla="*/ 0 h 288"/>
                <a:gd name="T6" fmla="*/ 0 w 718"/>
                <a:gd name="T7" fmla="*/ 0 h 288"/>
                <a:gd name="T8" fmla="*/ 0 w 718"/>
                <a:gd name="T9" fmla="*/ 0 h 288"/>
                <a:gd name="T10" fmla="*/ 0 w 718"/>
                <a:gd name="T11" fmla="*/ 0 h 288"/>
                <a:gd name="T12" fmla="*/ 0 w 718"/>
                <a:gd name="T13" fmla="*/ 0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8"/>
                <a:gd name="T22" fmla="*/ 0 h 288"/>
                <a:gd name="T23" fmla="*/ 718 w 718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8" h="288">
                  <a:moveTo>
                    <a:pt x="575" y="0"/>
                  </a:moveTo>
                  <a:lnTo>
                    <a:pt x="718" y="142"/>
                  </a:lnTo>
                  <a:lnTo>
                    <a:pt x="430" y="288"/>
                  </a:lnTo>
                  <a:lnTo>
                    <a:pt x="142" y="142"/>
                  </a:lnTo>
                  <a:lnTo>
                    <a:pt x="0" y="0"/>
                  </a:lnTo>
                  <a:lnTo>
                    <a:pt x="287" y="142"/>
                  </a:lnTo>
                  <a:lnTo>
                    <a:pt x="57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9" name="Line 15"/>
            <p:cNvSpPr>
              <a:spLocks noChangeAspect="1" noChangeShapeType="1"/>
            </p:cNvSpPr>
            <p:nvPr/>
          </p:nvSpPr>
          <p:spPr bwMode="auto">
            <a:xfrm>
              <a:off x="7210" y="15552"/>
              <a:ext cx="64" cy="6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0" name="Freeform 16"/>
            <p:cNvSpPr>
              <a:spLocks noChangeAspect="1"/>
            </p:cNvSpPr>
            <p:nvPr/>
          </p:nvSpPr>
          <p:spPr bwMode="auto">
            <a:xfrm>
              <a:off x="7081" y="15293"/>
              <a:ext cx="259" cy="259"/>
            </a:xfrm>
            <a:custGeom>
              <a:avLst/>
              <a:gdLst>
                <a:gd name="T0" fmla="*/ 0 w 575"/>
                <a:gd name="T1" fmla="*/ 0 h 576"/>
                <a:gd name="T2" fmla="*/ 0 w 575"/>
                <a:gd name="T3" fmla="*/ 0 h 576"/>
                <a:gd name="T4" fmla="*/ 0 w 575"/>
                <a:gd name="T5" fmla="*/ 0 h 576"/>
                <a:gd name="T6" fmla="*/ 0 w 575"/>
                <a:gd name="T7" fmla="*/ 0 h 576"/>
                <a:gd name="T8" fmla="*/ 0 w 575"/>
                <a:gd name="T9" fmla="*/ 0 h 576"/>
                <a:gd name="T10" fmla="*/ 0 w 575"/>
                <a:gd name="T11" fmla="*/ 0 h 576"/>
                <a:gd name="T12" fmla="*/ 0 w 575"/>
                <a:gd name="T13" fmla="*/ 0 h 576"/>
                <a:gd name="T14" fmla="*/ 0 w 575"/>
                <a:gd name="T15" fmla="*/ 0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5"/>
                <a:gd name="T25" fmla="*/ 0 h 576"/>
                <a:gd name="T26" fmla="*/ 575 w 575"/>
                <a:gd name="T27" fmla="*/ 576 h 5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5" h="576">
                  <a:moveTo>
                    <a:pt x="142" y="0"/>
                  </a:moveTo>
                  <a:lnTo>
                    <a:pt x="430" y="0"/>
                  </a:lnTo>
                  <a:lnTo>
                    <a:pt x="430" y="434"/>
                  </a:lnTo>
                  <a:lnTo>
                    <a:pt x="575" y="434"/>
                  </a:lnTo>
                  <a:lnTo>
                    <a:pt x="287" y="576"/>
                  </a:lnTo>
                  <a:lnTo>
                    <a:pt x="0" y="434"/>
                  </a:lnTo>
                  <a:lnTo>
                    <a:pt x="142" y="43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1" name="Freeform 17"/>
            <p:cNvSpPr>
              <a:spLocks noChangeAspect="1"/>
            </p:cNvSpPr>
            <p:nvPr/>
          </p:nvSpPr>
          <p:spPr bwMode="auto">
            <a:xfrm>
              <a:off x="7081" y="15293"/>
              <a:ext cx="259" cy="259"/>
            </a:xfrm>
            <a:custGeom>
              <a:avLst/>
              <a:gdLst>
                <a:gd name="T0" fmla="*/ 0 w 575"/>
                <a:gd name="T1" fmla="*/ 0 h 576"/>
                <a:gd name="T2" fmla="*/ 0 w 575"/>
                <a:gd name="T3" fmla="*/ 0 h 576"/>
                <a:gd name="T4" fmla="*/ 0 w 575"/>
                <a:gd name="T5" fmla="*/ 0 h 576"/>
                <a:gd name="T6" fmla="*/ 0 w 575"/>
                <a:gd name="T7" fmla="*/ 0 h 576"/>
                <a:gd name="T8" fmla="*/ 0 w 575"/>
                <a:gd name="T9" fmla="*/ 0 h 576"/>
                <a:gd name="T10" fmla="*/ 0 w 575"/>
                <a:gd name="T11" fmla="*/ 0 h 576"/>
                <a:gd name="T12" fmla="*/ 0 w 575"/>
                <a:gd name="T13" fmla="*/ 0 h 576"/>
                <a:gd name="T14" fmla="*/ 0 w 575"/>
                <a:gd name="T15" fmla="*/ 0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5"/>
                <a:gd name="T25" fmla="*/ 0 h 576"/>
                <a:gd name="T26" fmla="*/ 575 w 575"/>
                <a:gd name="T27" fmla="*/ 576 h 5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5" h="576">
                  <a:moveTo>
                    <a:pt x="142" y="0"/>
                  </a:moveTo>
                  <a:lnTo>
                    <a:pt x="430" y="0"/>
                  </a:lnTo>
                  <a:lnTo>
                    <a:pt x="430" y="434"/>
                  </a:lnTo>
                  <a:lnTo>
                    <a:pt x="575" y="434"/>
                  </a:lnTo>
                  <a:lnTo>
                    <a:pt x="287" y="576"/>
                  </a:lnTo>
                  <a:lnTo>
                    <a:pt x="0" y="434"/>
                  </a:lnTo>
                  <a:lnTo>
                    <a:pt x="142" y="434"/>
                  </a:lnTo>
                  <a:lnTo>
                    <a:pt x="1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1" name="Group 18"/>
          <p:cNvGrpSpPr>
            <a:grpSpLocks noChangeAspect="1"/>
          </p:cNvGrpSpPr>
          <p:nvPr/>
        </p:nvGrpSpPr>
        <p:grpSpPr bwMode="auto">
          <a:xfrm>
            <a:off x="6565903" y="2682878"/>
            <a:ext cx="1573213" cy="835025"/>
            <a:chOff x="6733" y="15680"/>
            <a:chExt cx="1101" cy="584"/>
          </a:xfrm>
        </p:grpSpPr>
        <p:sp>
          <p:nvSpPr>
            <p:cNvPr id="40084" name="Freeform 19"/>
            <p:cNvSpPr>
              <a:spLocks noChangeAspect="1"/>
            </p:cNvSpPr>
            <p:nvPr/>
          </p:nvSpPr>
          <p:spPr bwMode="auto">
            <a:xfrm>
              <a:off x="6733" y="16198"/>
              <a:ext cx="1101" cy="66"/>
            </a:xfrm>
            <a:custGeom>
              <a:avLst/>
              <a:gdLst>
                <a:gd name="T0" fmla="*/ 0 w 2450"/>
                <a:gd name="T1" fmla="*/ 0 h 146"/>
                <a:gd name="T2" fmla="*/ 0 w 2450"/>
                <a:gd name="T3" fmla="*/ 0 h 146"/>
                <a:gd name="T4" fmla="*/ 0 w 2450"/>
                <a:gd name="T5" fmla="*/ 0 h 146"/>
                <a:gd name="T6" fmla="*/ 0 w 2450"/>
                <a:gd name="T7" fmla="*/ 0 h 146"/>
                <a:gd name="T8" fmla="*/ 0 w 2450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6"/>
                <a:gd name="T17" fmla="*/ 2450 w 2450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6">
                  <a:moveTo>
                    <a:pt x="2303" y="0"/>
                  </a:moveTo>
                  <a:lnTo>
                    <a:pt x="0" y="0"/>
                  </a:lnTo>
                  <a:lnTo>
                    <a:pt x="146" y="146"/>
                  </a:lnTo>
                  <a:lnTo>
                    <a:pt x="2450" y="146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5" name="Freeform 20"/>
            <p:cNvSpPr>
              <a:spLocks noChangeAspect="1"/>
            </p:cNvSpPr>
            <p:nvPr/>
          </p:nvSpPr>
          <p:spPr bwMode="auto">
            <a:xfrm>
              <a:off x="6733" y="16198"/>
              <a:ext cx="1101" cy="66"/>
            </a:xfrm>
            <a:custGeom>
              <a:avLst/>
              <a:gdLst>
                <a:gd name="T0" fmla="*/ 0 w 2450"/>
                <a:gd name="T1" fmla="*/ 0 h 146"/>
                <a:gd name="T2" fmla="*/ 0 w 2450"/>
                <a:gd name="T3" fmla="*/ 0 h 146"/>
                <a:gd name="T4" fmla="*/ 0 w 2450"/>
                <a:gd name="T5" fmla="*/ 0 h 146"/>
                <a:gd name="T6" fmla="*/ 0 w 2450"/>
                <a:gd name="T7" fmla="*/ 0 h 146"/>
                <a:gd name="T8" fmla="*/ 0 w 2450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6"/>
                <a:gd name="T17" fmla="*/ 2450 w 2450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6">
                  <a:moveTo>
                    <a:pt x="2303" y="0"/>
                  </a:moveTo>
                  <a:lnTo>
                    <a:pt x="0" y="0"/>
                  </a:lnTo>
                  <a:lnTo>
                    <a:pt x="146" y="146"/>
                  </a:lnTo>
                  <a:lnTo>
                    <a:pt x="2450" y="146"/>
                  </a:lnTo>
                  <a:lnTo>
                    <a:pt x="230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6" name="Freeform 21"/>
            <p:cNvSpPr>
              <a:spLocks noChangeAspect="1"/>
            </p:cNvSpPr>
            <p:nvPr/>
          </p:nvSpPr>
          <p:spPr bwMode="auto">
            <a:xfrm>
              <a:off x="7768" y="15680"/>
              <a:ext cx="66" cy="584"/>
            </a:xfrm>
            <a:custGeom>
              <a:avLst/>
              <a:gdLst>
                <a:gd name="T0" fmla="*/ 0 w 147"/>
                <a:gd name="T1" fmla="*/ 0 h 1298"/>
                <a:gd name="T2" fmla="*/ 0 w 147"/>
                <a:gd name="T3" fmla="*/ 0 h 1298"/>
                <a:gd name="T4" fmla="*/ 0 w 147"/>
                <a:gd name="T5" fmla="*/ 0 h 1298"/>
                <a:gd name="T6" fmla="*/ 0 w 147"/>
                <a:gd name="T7" fmla="*/ 0 h 1298"/>
                <a:gd name="T8" fmla="*/ 0 w 147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8"/>
                <a:gd name="T17" fmla="*/ 147 w 147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8">
                  <a:moveTo>
                    <a:pt x="147" y="1298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6"/>
                  </a:lnTo>
                  <a:lnTo>
                    <a:pt x="147" y="1298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7" name="Freeform 22"/>
            <p:cNvSpPr>
              <a:spLocks noChangeAspect="1"/>
            </p:cNvSpPr>
            <p:nvPr/>
          </p:nvSpPr>
          <p:spPr bwMode="auto">
            <a:xfrm>
              <a:off x="7768" y="15680"/>
              <a:ext cx="66" cy="584"/>
            </a:xfrm>
            <a:custGeom>
              <a:avLst/>
              <a:gdLst>
                <a:gd name="T0" fmla="*/ 0 w 147"/>
                <a:gd name="T1" fmla="*/ 0 h 1298"/>
                <a:gd name="T2" fmla="*/ 0 w 147"/>
                <a:gd name="T3" fmla="*/ 0 h 1298"/>
                <a:gd name="T4" fmla="*/ 0 w 147"/>
                <a:gd name="T5" fmla="*/ 0 h 1298"/>
                <a:gd name="T6" fmla="*/ 0 w 147"/>
                <a:gd name="T7" fmla="*/ 0 h 1298"/>
                <a:gd name="T8" fmla="*/ 0 w 147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8"/>
                <a:gd name="T17" fmla="*/ 147 w 147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8">
                  <a:moveTo>
                    <a:pt x="147" y="1298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6"/>
                  </a:lnTo>
                  <a:lnTo>
                    <a:pt x="147" y="129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8" name="Rectangle 23"/>
            <p:cNvSpPr>
              <a:spLocks noChangeAspect="1" noChangeArrowheads="1"/>
            </p:cNvSpPr>
            <p:nvPr/>
          </p:nvSpPr>
          <p:spPr bwMode="auto">
            <a:xfrm>
              <a:off x="6733" y="15680"/>
              <a:ext cx="1035" cy="5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89" name="Rectangle 24"/>
            <p:cNvSpPr>
              <a:spLocks noChangeAspect="1" noChangeArrowheads="1"/>
            </p:cNvSpPr>
            <p:nvPr/>
          </p:nvSpPr>
          <p:spPr bwMode="auto">
            <a:xfrm>
              <a:off x="6733" y="15680"/>
              <a:ext cx="1035" cy="518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90" name="Freeform 25"/>
            <p:cNvSpPr>
              <a:spLocks noChangeAspect="1" noEditPoints="1"/>
            </p:cNvSpPr>
            <p:nvPr/>
          </p:nvSpPr>
          <p:spPr bwMode="auto">
            <a:xfrm>
              <a:off x="6817" y="15738"/>
              <a:ext cx="141" cy="155"/>
            </a:xfrm>
            <a:custGeom>
              <a:avLst/>
              <a:gdLst>
                <a:gd name="T0" fmla="*/ 0 w 313"/>
                <a:gd name="T1" fmla="*/ 0 h 347"/>
                <a:gd name="T2" fmla="*/ 0 w 313"/>
                <a:gd name="T3" fmla="*/ 0 h 347"/>
                <a:gd name="T4" fmla="*/ 0 w 313"/>
                <a:gd name="T5" fmla="*/ 0 h 347"/>
                <a:gd name="T6" fmla="*/ 0 w 313"/>
                <a:gd name="T7" fmla="*/ 0 h 347"/>
                <a:gd name="T8" fmla="*/ 0 w 313"/>
                <a:gd name="T9" fmla="*/ 0 h 347"/>
                <a:gd name="T10" fmla="*/ 0 w 313"/>
                <a:gd name="T11" fmla="*/ 0 h 347"/>
                <a:gd name="T12" fmla="*/ 0 w 313"/>
                <a:gd name="T13" fmla="*/ 0 h 347"/>
                <a:gd name="T14" fmla="*/ 0 w 313"/>
                <a:gd name="T15" fmla="*/ 0 h 347"/>
                <a:gd name="T16" fmla="*/ 0 w 313"/>
                <a:gd name="T17" fmla="*/ 0 h 347"/>
                <a:gd name="T18" fmla="*/ 0 w 313"/>
                <a:gd name="T19" fmla="*/ 0 h 347"/>
                <a:gd name="T20" fmla="*/ 0 w 313"/>
                <a:gd name="T21" fmla="*/ 0 h 347"/>
                <a:gd name="T22" fmla="*/ 0 w 313"/>
                <a:gd name="T23" fmla="*/ 0 h 347"/>
                <a:gd name="T24" fmla="*/ 0 w 313"/>
                <a:gd name="T25" fmla="*/ 0 h 347"/>
                <a:gd name="T26" fmla="*/ 0 w 313"/>
                <a:gd name="T27" fmla="*/ 0 h 347"/>
                <a:gd name="T28" fmla="*/ 0 w 313"/>
                <a:gd name="T29" fmla="*/ 0 h 347"/>
                <a:gd name="T30" fmla="*/ 0 w 313"/>
                <a:gd name="T31" fmla="*/ 0 h 347"/>
                <a:gd name="T32" fmla="*/ 0 w 313"/>
                <a:gd name="T33" fmla="*/ 0 h 347"/>
                <a:gd name="T34" fmla="*/ 0 w 313"/>
                <a:gd name="T35" fmla="*/ 0 h 347"/>
                <a:gd name="T36" fmla="*/ 0 w 313"/>
                <a:gd name="T37" fmla="*/ 0 h 347"/>
                <a:gd name="T38" fmla="*/ 0 w 313"/>
                <a:gd name="T39" fmla="*/ 0 h 347"/>
                <a:gd name="T40" fmla="*/ 0 w 313"/>
                <a:gd name="T41" fmla="*/ 0 h 347"/>
                <a:gd name="T42" fmla="*/ 0 w 313"/>
                <a:gd name="T43" fmla="*/ 0 h 347"/>
                <a:gd name="T44" fmla="*/ 0 w 313"/>
                <a:gd name="T45" fmla="*/ 0 h 347"/>
                <a:gd name="T46" fmla="*/ 0 w 313"/>
                <a:gd name="T47" fmla="*/ 0 h 347"/>
                <a:gd name="T48" fmla="*/ 0 w 313"/>
                <a:gd name="T49" fmla="*/ 0 h 347"/>
                <a:gd name="T50" fmla="*/ 0 w 313"/>
                <a:gd name="T51" fmla="*/ 0 h 347"/>
                <a:gd name="T52" fmla="*/ 0 w 313"/>
                <a:gd name="T53" fmla="*/ 0 h 347"/>
                <a:gd name="T54" fmla="*/ 0 w 313"/>
                <a:gd name="T55" fmla="*/ 0 h 347"/>
                <a:gd name="T56" fmla="*/ 0 w 313"/>
                <a:gd name="T57" fmla="*/ 0 h 347"/>
                <a:gd name="T58" fmla="*/ 0 w 313"/>
                <a:gd name="T59" fmla="*/ 0 h 347"/>
                <a:gd name="T60" fmla="*/ 0 w 313"/>
                <a:gd name="T61" fmla="*/ 0 h 347"/>
                <a:gd name="T62" fmla="*/ 0 w 313"/>
                <a:gd name="T63" fmla="*/ 0 h 347"/>
                <a:gd name="T64" fmla="*/ 0 w 313"/>
                <a:gd name="T65" fmla="*/ 0 h 347"/>
                <a:gd name="T66" fmla="*/ 0 w 313"/>
                <a:gd name="T67" fmla="*/ 0 h 347"/>
                <a:gd name="T68" fmla="*/ 0 w 313"/>
                <a:gd name="T69" fmla="*/ 0 h 347"/>
                <a:gd name="T70" fmla="*/ 0 w 313"/>
                <a:gd name="T71" fmla="*/ 0 h 347"/>
                <a:gd name="T72" fmla="*/ 0 w 313"/>
                <a:gd name="T73" fmla="*/ 0 h 347"/>
                <a:gd name="T74" fmla="*/ 0 w 313"/>
                <a:gd name="T75" fmla="*/ 0 h 347"/>
                <a:gd name="T76" fmla="*/ 0 w 313"/>
                <a:gd name="T77" fmla="*/ 0 h 347"/>
                <a:gd name="T78" fmla="*/ 0 w 313"/>
                <a:gd name="T79" fmla="*/ 0 h 347"/>
                <a:gd name="T80" fmla="*/ 0 w 313"/>
                <a:gd name="T81" fmla="*/ 0 h 347"/>
                <a:gd name="T82" fmla="*/ 0 w 313"/>
                <a:gd name="T83" fmla="*/ 0 h 347"/>
                <a:gd name="T84" fmla="*/ 0 w 313"/>
                <a:gd name="T85" fmla="*/ 0 h 347"/>
                <a:gd name="T86" fmla="*/ 0 w 313"/>
                <a:gd name="T87" fmla="*/ 0 h 347"/>
                <a:gd name="T88" fmla="*/ 0 w 313"/>
                <a:gd name="T89" fmla="*/ 0 h 347"/>
                <a:gd name="T90" fmla="*/ 0 w 313"/>
                <a:gd name="T91" fmla="*/ 0 h 347"/>
                <a:gd name="T92" fmla="*/ 0 w 313"/>
                <a:gd name="T93" fmla="*/ 0 h 347"/>
                <a:gd name="T94" fmla="*/ 0 w 313"/>
                <a:gd name="T95" fmla="*/ 0 h 347"/>
                <a:gd name="T96" fmla="*/ 0 w 313"/>
                <a:gd name="T97" fmla="*/ 0 h 347"/>
                <a:gd name="T98" fmla="*/ 0 w 313"/>
                <a:gd name="T99" fmla="*/ 0 h 347"/>
                <a:gd name="T100" fmla="*/ 0 w 313"/>
                <a:gd name="T101" fmla="*/ 0 h 347"/>
                <a:gd name="T102" fmla="*/ 0 w 313"/>
                <a:gd name="T103" fmla="*/ 0 h 347"/>
                <a:gd name="T104" fmla="*/ 0 w 313"/>
                <a:gd name="T105" fmla="*/ 0 h 347"/>
                <a:gd name="T106" fmla="*/ 0 w 313"/>
                <a:gd name="T107" fmla="*/ 0 h 347"/>
                <a:gd name="T108" fmla="*/ 0 w 313"/>
                <a:gd name="T109" fmla="*/ 0 h 347"/>
                <a:gd name="T110" fmla="*/ 0 w 313"/>
                <a:gd name="T111" fmla="*/ 0 h 347"/>
                <a:gd name="T112" fmla="*/ 0 w 313"/>
                <a:gd name="T113" fmla="*/ 0 h 347"/>
                <a:gd name="T114" fmla="*/ 0 w 313"/>
                <a:gd name="T115" fmla="*/ 0 h 347"/>
                <a:gd name="T116" fmla="*/ 0 w 313"/>
                <a:gd name="T117" fmla="*/ 0 h 34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13"/>
                <a:gd name="T178" fmla="*/ 0 h 347"/>
                <a:gd name="T179" fmla="*/ 313 w 313"/>
                <a:gd name="T180" fmla="*/ 347 h 34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13" h="347">
                  <a:moveTo>
                    <a:pt x="298" y="19"/>
                  </a:moveTo>
                  <a:lnTo>
                    <a:pt x="294" y="19"/>
                  </a:lnTo>
                  <a:lnTo>
                    <a:pt x="290" y="21"/>
                  </a:lnTo>
                  <a:lnTo>
                    <a:pt x="288" y="23"/>
                  </a:lnTo>
                  <a:lnTo>
                    <a:pt x="287" y="24"/>
                  </a:lnTo>
                  <a:lnTo>
                    <a:pt x="287" y="331"/>
                  </a:lnTo>
                  <a:lnTo>
                    <a:pt x="283" y="335"/>
                  </a:lnTo>
                  <a:lnTo>
                    <a:pt x="275" y="339"/>
                  </a:lnTo>
                  <a:lnTo>
                    <a:pt x="263" y="342"/>
                  </a:lnTo>
                  <a:lnTo>
                    <a:pt x="246" y="344"/>
                  </a:lnTo>
                  <a:lnTo>
                    <a:pt x="227" y="346"/>
                  </a:lnTo>
                  <a:lnTo>
                    <a:pt x="204" y="347"/>
                  </a:lnTo>
                  <a:lnTo>
                    <a:pt x="181" y="347"/>
                  </a:lnTo>
                  <a:lnTo>
                    <a:pt x="157" y="347"/>
                  </a:lnTo>
                  <a:lnTo>
                    <a:pt x="132" y="347"/>
                  </a:lnTo>
                  <a:lnTo>
                    <a:pt x="109" y="346"/>
                  </a:lnTo>
                  <a:lnTo>
                    <a:pt x="86" y="344"/>
                  </a:lnTo>
                  <a:lnTo>
                    <a:pt x="67" y="342"/>
                  </a:lnTo>
                  <a:lnTo>
                    <a:pt x="51" y="340"/>
                  </a:lnTo>
                  <a:lnTo>
                    <a:pt x="38" y="336"/>
                  </a:lnTo>
                  <a:lnTo>
                    <a:pt x="30" y="334"/>
                  </a:lnTo>
                  <a:lnTo>
                    <a:pt x="26" y="331"/>
                  </a:lnTo>
                  <a:lnTo>
                    <a:pt x="26" y="25"/>
                  </a:lnTo>
                  <a:lnTo>
                    <a:pt x="26" y="24"/>
                  </a:lnTo>
                  <a:lnTo>
                    <a:pt x="25" y="23"/>
                  </a:lnTo>
                  <a:lnTo>
                    <a:pt x="24" y="22"/>
                  </a:lnTo>
                  <a:lnTo>
                    <a:pt x="23" y="21"/>
                  </a:lnTo>
                  <a:lnTo>
                    <a:pt x="21" y="19"/>
                  </a:lnTo>
                  <a:lnTo>
                    <a:pt x="17" y="18"/>
                  </a:lnTo>
                  <a:lnTo>
                    <a:pt x="13" y="17"/>
                  </a:lnTo>
                  <a:lnTo>
                    <a:pt x="7" y="17"/>
                  </a:lnTo>
                  <a:lnTo>
                    <a:pt x="3" y="15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3" y="10"/>
                  </a:lnTo>
                  <a:lnTo>
                    <a:pt x="13" y="8"/>
                  </a:lnTo>
                  <a:lnTo>
                    <a:pt x="26" y="6"/>
                  </a:lnTo>
                  <a:lnTo>
                    <a:pt x="45" y="3"/>
                  </a:lnTo>
                  <a:lnTo>
                    <a:pt x="68" y="2"/>
                  </a:lnTo>
                  <a:lnTo>
                    <a:pt x="94" y="1"/>
                  </a:lnTo>
                  <a:lnTo>
                    <a:pt x="124" y="0"/>
                  </a:lnTo>
                  <a:lnTo>
                    <a:pt x="155" y="0"/>
                  </a:lnTo>
                  <a:lnTo>
                    <a:pt x="187" y="0"/>
                  </a:lnTo>
                  <a:lnTo>
                    <a:pt x="217" y="1"/>
                  </a:lnTo>
                  <a:lnTo>
                    <a:pt x="243" y="2"/>
                  </a:lnTo>
                  <a:lnTo>
                    <a:pt x="267" y="5"/>
                  </a:lnTo>
                  <a:lnTo>
                    <a:pt x="286" y="6"/>
                  </a:lnTo>
                  <a:lnTo>
                    <a:pt x="301" y="8"/>
                  </a:lnTo>
                  <a:lnTo>
                    <a:pt x="310" y="10"/>
                  </a:lnTo>
                  <a:lnTo>
                    <a:pt x="313" y="13"/>
                  </a:lnTo>
                  <a:lnTo>
                    <a:pt x="312" y="14"/>
                  </a:lnTo>
                  <a:lnTo>
                    <a:pt x="310" y="16"/>
                  </a:lnTo>
                  <a:lnTo>
                    <a:pt x="305" y="18"/>
                  </a:lnTo>
                  <a:lnTo>
                    <a:pt x="298" y="19"/>
                  </a:lnTo>
                  <a:close/>
                  <a:moveTo>
                    <a:pt x="283" y="329"/>
                  </a:moveTo>
                  <a:lnTo>
                    <a:pt x="283" y="30"/>
                  </a:lnTo>
                  <a:lnTo>
                    <a:pt x="283" y="29"/>
                  </a:lnTo>
                  <a:lnTo>
                    <a:pt x="283" y="25"/>
                  </a:lnTo>
                  <a:lnTo>
                    <a:pt x="283" y="23"/>
                  </a:lnTo>
                  <a:lnTo>
                    <a:pt x="283" y="22"/>
                  </a:lnTo>
                  <a:lnTo>
                    <a:pt x="266" y="22"/>
                  </a:lnTo>
                  <a:lnTo>
                    <a:pt x="249" y="23"/>
                  </a:lnTo>
                  <a:lnTo>
                    <a:pt x="234" y="23"/>
                  </a:lnTo>
                  <a:lnTo>
                    <a:pt x="219" y="23"/>
                  </a:lnTo>
                  <a:lnTo>
                    <a:pt x="205" y="24"/>
                  </a:lnTo>
                  <a:lnTo>
                    <a:pt x="191" y="24"/>
                  </a:lnTo>
                  <a:lnTo>
                    <a:pt x="177" y="24"/>
                  </a:lnTo>
                  <a:lnTo>
                    <a:pt x="165" y="24"/>
                  </a:lnTo>
                  <a:lnTo>
                    <a:pt x="151" y="24"/>
                  </a:lnTo>
                  <a:lnTo>
                    <a:pt x="137" y="24"/>
                  </a:lnTo>
                  <a:lnTo>
                    <a:pt x="122" y="24"/>
                  </a:lnTo>
                  <a:lnTo>
                    <a:pt x="106" y="24"/>
                  </a:lnTo>
                  <a:lnTo>
                    <a:pt x="90" y="24"/>
                  </a:lnTo>
                  <a:lnTo>
                    <a:pt x="72" y="24"/>
                  </a:lnTo>
                  <a:lnTo>
                    <a:pt x="53" y="23"/>
                  </a:lnTo>
                  <a:lnTo>
                    <a:pt x="32" y="23"/>
                  </a:lnTo>
                  <a:lnTo>
                    <a:pt x="31" y="23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1" y="31"/>
                  </a:lnTo>
                  <a:lnTo>
                    <a:pt x="30" y="327"/>
                  </a:lnTo>
                  <a:lnTo>
                    <a:pt x="33" y="331"/>
                  </a:lnTo>
                  <a:lnTo>
                    <a:pt x="41" y="333"/>
                  </a:lnTo>
                  <a:lnTo>
                    <a:pt x="55" y="335"/>
                  </a:lnTo>
                  <a:lnTo>
                    <a:pt x="74" y="337"/>
                  </a:lnTo>
                  <a:lnTo>
                    <a:pt x="94" y="340"/>
                  </a:lnTo>
                  <a:lnTo>
                    <a:pt x="117" y="341"/>
                  </a:lnTo>
                  <a:lnTo>
                    <a:pt x="142" y="342"/>
                  </a:lnTo>
                  <a:lnTo>
                    <a:pt x="167" y="342"/>
                  </a:lnTo>
                  <a:lnTo>
                    <a:pt x="205" y="342"/>
                  </a:lnTo>
                  <a:lnTo>
                    <a:pt x="234" y="341"/>
                  </a:lnTo>
                  <a:lnTo>
                    <a:pt x="255" y="339"/>
                  </a:lnTo>
                  <a:lnTo>
                    <a:pt x="268" y="336"/>
                  </a:lnTo>
                  <a:lnTo>
                    <a:pt x="278" y="334"/>
                  </a:lnTo>
                  <a:lnTo>
                    <a:pt x="281" y="333"/>
                  </a:lnTo>
                  <a:lnTo>
                    <a:pt x="283" y="331"/>
                  </a:lnTo>
                  <a:lnTo>
                    <a:pt x="283" y="329"/>
                  </a:lnTo>
                  <a:close/>
                  <a:moveTo>
                    <a:pt x="46" y="44"/>
                  </a:moveTo>
                  <a:lnTo>
                    <a:pt x="48" y="41"/>
                  </a:lnTo>
                  <a:lnTo>
                    <a:pt x="53" y="40"/>
                  </a:lnTo>
                  <a:lnTo>
                    <a:pt x="58" y="41"/>
                  </a:lnTo>
                  <a:lnTo>
                    <a:pt x="60" y="44"/>
                  </a:lnTo>
                  <a:lnTo>
                    <a:pt x="60" y="46"/>
                  </a:lnTo>
                  <a:lnTo>
                    <a:pt x="61" y="51"/>
                  </a:lnTo>
                  <a:lnTo>
                    <a:pt x="61" y="58"/>
                  </a:lnTo>
                  <a:lnTo>
                    <a:pt x="62" y="66"/>
                  </a:lnTo>
                  <a:lnTo>
                    <a:pt x="62" y="75"/>
                  </a:lnTo>
                  <a:lnTo>
                    <a:pt x="62" y="84"/>
                  </a:lnTo>
                  <a:lnTo>
                    <a:pt x="62" y="96"/>
                  </a:lnTo>
                  <a:lnTo>
                    <a:pt x="62" y="106"/>
                  </a:lnTo>
                  <a:lnTo>
                    <a:pt x="60" y="107"/>
                  </a:lnTo>
                  <a:lnTo>
                    <a:pt x="54" y="102"/>
                  </a:lnTo>
                  <a:lnTo>
                    <a:pt x="49" y="97"/>
                  </a:lnTo>
                  <a:lnTo>
                    <a:pt x="47" y="90"/>
                  </a:lnTo>
                  <a:lnTo>
                    <a:pt x="46" y="44"/>
                  </a:lnTo>
                  <a:close/>
                  <a:moveTo>
                    <a:pt x="99" y="229"/>
                  </a:moveTo>
                  <a:lnTo>
                    <a:pt x="122" y="230"/>
                  </a:lnTo>
                  <a:lnTo>
                    <a:pt x="144" y="230"/>
                  </a:lnTo>
                  <a:lnTo>
                    <a:pt x="167" y="230"/>
                  </a:lnTo>
                  <a:lnTo>
                    <a:pt x="189" y="230"/>
                  </a:lnTo>
                  <a:lnTo>
                    <a:pt x="212" y="230"/>
                  </a:lnTo>
                  <a:lnTo>
                    <a:pt x="235" y="230"/>
                  </a:lnTo>
                  <a:lnTo>
                    <a:pt x="258" y="230"/>
                  </a:lnTo>
                  <a:lnTo>
                    <a:pt x="281" y="229"/>
                  </a:lnTo>
                  <a:lnTo>
                    <a:pt x="281" y="231"/>
                  </a:lnTo>
                  <a:lnTo>
                    <a:pt x="258" y="233"/>
                  </a:lnTo>
                  <a:lnTo>
                    <a:pt x="235" y="233"/>
                  </a:lnTo>
                  <a:lnTo>
                    <a:pt x="213" y="233"/>
                  </a:lnTo>
                  <a:lnTo>
                    <a:pt x="191" y="233"/>
                  </a:lnTo>
                  <a:lnTo>
                    <a:pt x="168" y="233"/>
                  </a:lnTo>
                  <a:lnTo>
                    <a:pt x="146" y="233"/>
                  </a:lnTo>
                  <a:lnTo>
                    <a:pt x="123" y="233"/>
                  </a:lnTo>
                  <a:lnTo>
                    <a:pt x="99" y="231"/>
                  </a:lnTo>
                  <a:lnTo>
                    <a:pt x="99" y="229"/>
                  </a:lnTo>
                  <a:close/>
                  <a:moveTo>
                    <a:pt x="98" y="257"/>
                  </a:moveTo>
                  <a:lnTo>
                    <a:pt x="121" y="258"/>
                  </a:lnTo>
                  <a:lnTo>
                    <a:pt x="143" y="258"/>
                  </a:lnTo>
                  <a:lnTo>
                    <a:pt x="166" y="258"/>
                  </a:lnTo>
                  <a:lnTo>
                    <a:pt x="189" y="258"/>
                  </a:lnTo>
                  <a:lnTo>
                    <a:pt x="211" y="258"/>
                  </a:lnTo>
                  <a:lnTo>
                    <a:pt x="234" y="258"/>
                  </a:lnTo>
                  <a:lnTo>
                    <a:pt x="257" y="258"/>
                  </a:lnTo>
                  <a:lnTo>
                    <a:pt x="280" y="257"/>
                  </a:lnTo>
                  <a:lnTo>
                    <a:pt x="280" y="259"/>
                  </a:lnTo>
                  <a:lnTo>
                    <a:pt x="257" y="260"/>
                  </a:lnTo>
                  <a:lnTo>
                    <a:pt x="235" y="261"/>
                  </a:lnTo>
                  <a:lnTo>
                    <a:pt x="212" y="261"/>
                  </a:lnTo>
                  <a:lnTo>
                    <a:pt x="190" y="261"/>
                  </a:lnTo>
                  <a:lnTo>
                    <a:pt x="168" y="261"/>
                  </a:lnTo>
                  <a:lnTo>
                    <a:pt x="145" y="261"/>
                  </a:lnTo>
                  <a:lnTo>
                    <a:pt x="122" y="260"/>
                  </a:lnTo>
                  <a:lnTo>
                    <a:pt x="98" y="259"/>
                  </a:lnTo>
                  <a:lnTo>
                    <a:pt x="98" y="257"/>
                  </a:lnTo>
                  <a:close/>
                  <a:moveTo>
                    <a:pt x="100" y="127"/>
                  </a:moveTo>
                  <a:lnTo>
                    <a:pt x="123" y="128"/>
                  </a:lnTo>
                  <a:lnTo>
                    <a:pt x="145" y="128"/>
                  </a:lnTo>
                  <a:lnTo>
                    <a:pt x="168" y="128"/>
                  </a:lnTo>
                  <a:lnTo>
                    <a:pt x="191" y="128"/>
                  </a:lnTo>
                  <a:lnTo>
                    <a:pt x="213" y="128"/>
                  </a:lnTo>
                  <a:lnTo>
                    <a:pt x="236" y="128"/>
                  </a:lnTo>
                  <a:lnTo>
                    <a:pt x="259" y="128"/>
                  </a:lnTo>
                  <a:lnTo>
                    <a:pt x="282" y="127"/>
                  </a:lnTo>
                  <a:lnTo>
                    <a:pt x="282" y="128"/>
                  </a:lnTo>
                  <a:lnTo>
                    <a:pt x="259" y="129"/>
                  </a:lnTo>
                  <a:lnTo>
                    <a:pt x="237" y="130"/>
                  </a:lnTo>
                  <a:lnTo>
                    <a:pt x="214" y="130"/>
                  </a:lnTo>
                  <a:lnTo>
                    <a:pt x="192" y="130"/>
                  </a:lnTo>
                  <a:lnTo>
                    <a:pt x="170" y="130"/>
                  </a:lnTo>
                  <a:lnTo>
                    <a:pt x="147" y="130"/>
                  </a:lnTo>
                  <a:lnTo>
                    <a:pt x="124" y="129"/>
                  </a:lnTo>
                  <a:lnTo>
                    <a:pt x="100" y="128"/>
                  </a:lnTo>
                  <a:lnTo>
                    <a:pt x="100" y="127"/>
                  </a:lnTo>
                  <a:close/>
                  <a:moveTo>
                    <a:pt x="99" y="151"/>
                  </a:moveTo>
                  <a:lnTo>
                    <a:pt x="122" y="152"/>
                  </a:lnTo>
                  <a:lnTo>
                    <a:pt x="144" y="152"/>
                  </a:lnTo>
                  <a:lnTo>
                    <a:pt x="167" y="152"/>
                  </a:lnTo>
                  <a:lnTo>
                    <a:pt x="190" y="152"/>
                  </a:lnTo>
                  <a:lnTo>
                    <a:pt x="213" y="152"/>
                  </a:lnTo>
                  <a:lnTo>
                    <a:pt x="236" y="152"/>
                  </a:lnTo>
                  <a:lnTo>
                    <a:pt x="258" y="152"/>
                  </a:lnTo>
                  <a:lnTo>
                    <a:pt x="281" y="151"/>
                  </a:lnTo>
                  <a:lnTo>
                    <a:pt x="281" y="152"/>
                  </a:lnTo>
                  <a:lnTo>
                    <a:pt x="259" y="153"/>
                  </a:lnTo>
                  <a:lnTo>
                    <a:pt x="236" y="154"/>
                  </a:lnTo>
                  <a:lnTo>
                    <a:pt x="214" y="154"/>
                  </a:lnTo>
                  <a:lnTo>
                    <a:pt x="192" y="154"/>
                  </a:lnTo>
                  <a:lnTo>
                    <a:pt x="169" y="154"/>
                  </a:lnTo>
                  <a:lnTo>
                    <a:pt x="146" y="154"/>
                  </a:lnTo>
                  <a:lnTo>
                    <a:pt x="123" y="153"/>
                  </a:lnTo>
                  <a:lnTo>
                    <a:pt x="99" y="152"/>
                  </a:lnTo>
                  <a:lnTo>
                    <a:pt x="99" y="151"/>
                  </a:lnTo>
                  <a:close/>
                  <a:moveTo>
                    <a:pt x="99" y="174"/>
                  </a:moveTo>
                  <a:lnTo>
                    <a:pt x="122" y="175"/>
                  </a:lnTo>
                  <a:lnTo>
                    <a:pt x="144" y="176"/>
                  </a:lnTo>
                  <a:lnTo>
                    <a:pt x="167" y="176"/>
                  </a:lnTo>
                  <a:lnTo>
                    <a:pt x="190" y="176"/>
                  </a:lnTo>
                  <a:lnTo>
                    <a:pt x="212" y="176"/>
                  </a:lnTo>
                  <a:lnTo>
                    <a:pt x="235" y="176"/>
                  </a:lnTo>
                  <a:lnTo>
                    <a:pt x="258" y="175"/>
                  </a:lnTo>
                  <a:lnTo>
                    <a:pt x="281" y="174"/>
                  </a:lnTo>
                  <a:lnTo>
                    <a:pt x="281" y="176"/>
                  </a:lnTo>
                  <a:lnTo>
                    <a:pt x="258" y="177"/>
                  </a:lnTo>
                  <a:lnTo>
                    <a:pt x="236" y="177"/>
                  </a:lnTo>
                  <a:lnTo>
                    <a:pt x="213" y="177"/>
                  </a:lnTo>
                  <a:lnTo>
                    <a:pt x="191" y="177"/>
                  </a:lnTo>
                  <a:lnTo>
                    <a:pt x="169" y="177"/>
                  </a:lnTo>
                  <a:lnTo>
                    <a:pt x="146" y="177"/>
                  </a:lnTo>
                  <a:lnTo>
                    <a:pt x="123" y="177"/>
                  </a:lnTo>
                  <a:lnTo>
                    <a:pt x="99" y="176"/>
                  </a:lnTo>
                  <a:lnTo>
                    <a:pt x="99" y="174"/>
                  </a:lnTo>
                  <a:close/>
                  <a:moveTo>
                    <a:pt x="99" y="202"/>
                  </a:moveTo>
                  <a:lnTo>
                    <a:pt x="122" y="203"/>
                  </a:lnTo>
                  <a:lnTo>
                    <a:pt x="144" y="203"/>
                  </a:lnTo>
                  <a:lnTo>
                    <a:pt x="167" y="203"/>
                  </a:lnTo>
                  <a:lnTo>
                    <a:pt x="189" y="203"/>
                  </a:lnTo>
                  <a:lnTo>
                    <a:pt x="212" y="203"/>
                  </a:lnTo>
                  <a:lnTo>
                    <a:pt x="235" y="203"/>
                  </a:lnTo>
                  <a:lnTo>
                    <a:pt x="258" y="203"/>
                  </a:lnTo>
                  <a:lnTo>
                    <a:pt x="281" y="202"/>
                  </a:lnTo>
                  <a:lnTo>
                    <a:pt x="281" y="204"/>
                  </a:lnTo>
                  <a:lnTo>
                    <a:pt x="258" y="205"/>
                  </a:lnTo>
                  <a:lnTo>
                    <a:pt x="235" y="205"/>
                  </a:lnTo>
                  <a:lnTo>
                    <a:pt x="213" y="205"/>
                  </a:lnTo>
                  <a:lnTo>
                    <a:pt x="190" y="205"/>
                  </a:lnTo>
                  <a:lnTo>
                    <a:pt x="168" y="205"/>
                  </a:lnTo>
                  <a:lnTo>
                    <a:pt x="145" y="205"/>
                  </a:lnTo>
                  <a:lnTo>
                    <a:pt x="122" y="205"/>
                  </a:lnTo>
                  <a:lnTo>
                    <a:pt x="99" y="204"/>
                  </a:lnTo>
                  <a:lnTo>
                    <a:pt x="99" y="202"/>
                  </a:lnTo>
                  <a:close/>
                  <a:moveTo>
                    <a:pt x="155" y="3"/>
                  </a:moveTo>
                  <a:lnTo>
                    <a:pt x="185" y="3"/>
                  </a:lnTo>
                  <a:lnTo>
                    <a:pt x="213" y="5"/>
                  </a:lnTo>
                  <a:lnTo>
                    <a:pt x="240" y="6"/>
                  </a:lnTo>
                  <a:lnTo>
                    <a:pt x="261" y="7"/>
                  </a:lnTo>
                  <a:lnTo>
                    <a:pt x="280" y="8"/>
                  </a:lnTo>
                  <a:lnTo>
                    <a:pt x="295" y="9"/>
                  </a:lnTo>
                  <a:lnTo>
                    <a:pt x="303" y="11"/>
                  </a:lnTo>
                  <a:lnTo>
                    <a:pt x="306" y="13"/>
                  </a:lnTo>
                  <a:lnTo>
                    <a:pt x="303" y="14"/>
                  </a:lnTo>
                  <a:lnTo>
                    <a:pt x="295" y="16"/>
                  </a:lnTo>
                  <a:lnTo>
                    <a:pt x="280" y="17"/>
                  </a:lnTo>
                  <a:lnTo>
                    <a:pt x="261" y="17"/>
                  </a:lnTo>
                  <a:lnTo>
                    <a:pt x="240" y="18"/>
                  </a:lnTo>
                  <a:lnTo>
                    <a:pt x="213" y="19"/>
                  </a:lnTo>
                  <a:lnTo>
                    <a:pt x="185" y="19"/>
                  </a:lnTo>
                  <a:lnTo>
                    <a:pt x="155" y="19"/>
                  </a:lnTo>
                  <a:lnTo>
                    <a:pt x="125" y="19"/>
                  </a:lnTo>
                  <a:lnTo>
                    <a:pt x="98" y="19"/>
                  </a:lnTo>
                  <a:lnTo>
                    <a:pt x="72" y="18"/>
                  </a:lnTo>
                  <a:lnTo>
                    <a:pt x="51" y="17"/>
                  </a:lnTo>
                  <a:lnTo>
                    <a:pt x="32" y="17"/>
                  </a:lnTo>
                  <a:lnTo>
                    <a:pt x="18" y="16"/>
                  </a:lnTo>
                  <a:lnTo>
                    <a:pt x="10" y="14"/>
                  </a:lnTo>
                  <a:lnTo>
                    <a:pt x="7" y="13"/>
                  </a:lnTo>
                  <a:lnTo>
                    <a:pt x="10" y="11"/>
                  </a:lnTo>
                  <a:lnTo>
                    <a:pt x="18" y="9"/>
                  </a:lnTo>
                  <a:lnTo>
                    <a:pt x="32" y="8"/>
                  </a:lnTo>
                  <a:lnTo>
                    <a:pt x="51" y="6"/>
                  </a:lnTo>
                  <a:lnTo>
                    <a:pt x="72" y="5"/>
                  </a:lnTo>
                  <a:lnTo>
                    <a:pt x="98" y="5"/>
                  </a:lnTo>
                  <a:lnTo>
                    <a:pt x="125" y="3"/>
                  </a:lnTo>
                  <a:lnTo>
                    <a:pt x="155" y="3"/>
                  </a:lnTo>
                  <a:close/>
                  <a:moveTo>
                    <a:pt x="16" y="13"/>
                  </a:moveTo>
                  <a:lnTo>
                    <a:pt x="30" y="14"/>
                  </a:lnTo>
                  <a:lnTo>
                    <a:pt x="47" y="13"/>
                  </a:lnTo>
                  <a:lnTo>
                    <a:pt x="66" y="11"/>
                  </a:lnTo>
                  <a:lnTo>
                    <a:pt x="86" y="10"/>
                  </a:lnTo>
                  <a:lnTo>
                    <a:pt x="108" y="10"/>
                  </a:lnTo>
                  <a:lnTo>
                    <a:pt x="130" y="9"/>
                  </a:lnTo>
                  <a:lnTo>
                    <a:pt x="152" y="9"/>
                  </a:lnTo>
                  <a:lnTo>
                    <a:pt x="173" y="10"/>
                  </a:lnTo>
                  <a:lnTo>
                    <a:pt x="192" y="10"/>
                  </a:lnTo>
                  <a:lnTo>
                    <a:pt x="212" y="10"/>
                  </a:lnTo>
                  <a:lnTo>
                    <a:pt x="229" y="10"/>
                  </a:lnTo>
                  <a:lnTo>
                    <a:pt x="245" y="11"/>
                  </a:lnTo>
                  <a:lnTo>
                    <a:pt x="258" y="11"/>
                  </a:lnTo>
                  <a:lnTo>
                    <a:pt x="268" y="13"/>
                  </a:lnTo>
                  <a:lnTo>
                    <a:pt x="275" y="14"/>
                  </a:lnTo>
                  <a:lnTo>
                    <a:pt x="280" y="14"/>
                  </a:lnTo>
                  <a:lnTo>
                    <a:pt x="282" y="14"/>
                  </a:lnTo>
                  <a:lnTo>
                    <a:pt x="294" y="13"/>
                  </a:lnTo>
                  <a:lnTo>
                    <a:pt x="293" y="13"/>
                  </a:lnTo>
                  <a:lnTo>
                    <a:pt x="288" y="13"/>
                  </a:lnTo>
                  <a:lnTo>
                    <a:pt x="281" y="11"/>
                  </a:lnTo>
                  <a:lnTo>
                    <a:pt x="272" y="10"/>
                  </a:lnTo>
                  <a:lnTo>
                    <a:pt x="259" y="10"/>
                  </a:lnTo>
                  <a:lnTo>
                    <a:pt x="244" y="9"/>
                  </a:lnTo>
                  <a:lnTo>
                    <a:pt x="228" y="8"/>
                  </a:lnTo>
                  <a:lnTo>
                    <a:pt x="210" y="7"/>
                  </a:lnTo>
                  <a:lnTo>
                    <a:pt x="189" y="7"/>
                  </a:lnTo>
                  <a:lnTo>
                    <a:pt x="167" y="7"/>
                  </a:lnTo>
                  <a:lnTo>
                    <a:pt x="144" y="7"/>
                  </a:lnTo>
                  <a:lnTo>
                    <a:pt x="120" y="7"/>
                  </a:lnTo>
                  <a:lnTo>
                    <a:pt x="94" y="8"/>
                  </a:lnTo>
                  <a:lnTo>
                    <a:pt x="69" y="9"/>
                  </a:lnTo>
                  <a:lnTo>
                    <a:pt x="43" y="10"/>
                  </a:lnTo>
                  <a:lnTo>
                    <a:pt x="16" y="13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1" name="Freeform 26"/>
            <p:cNvSpPr>
              <a:spLocks noChangeAspect="1"/>
            </p:cNvSpPr>
            <p:nvPr/>
          </p:nvSpPr>
          <p:spPr bwMode="auto">
            <a:xfrm>
              <a:off x="6817" y="15738"/>
              <a:ext cx="141" cy="155"/>
            </a:xfrm>
            <a:custGeom>
              <a:avLst/>
              <a:gdLst>
                <a:gd name="T0" fmla="*/ 0 w 313"/>
                <a:gd name="T1" fmla="*/ 0 h 347"/>
                <a:gd name="T2" fmla="*/ 0 w 313"/>
                <a:gd name="T3" fmla="*/ 0 h 347"/>
                <a:gd name="T4" fmla="*/ 0 w 313"/>
                <a:gd name="T5" fmla="*/ 0 h 347"/>
                <a:gd name="T6" fmla="*/ 0 w 313"/>
                <a:gd name="T7" fmla="*/ 0 h 347"/>
                <a:gd name="T8" fmla="*/ 0 w 313"/>
                <a:gd name="T9" fmla="*/ 0 h 347"/>
                <a:gd name="T10" fmla="*/ 0 w 313"/>
                <a:gd name="T11" fmla="*/ 0 h 347"/>
                <a:gd name="T12" fmla="*/ 0 w 313"/>
                <a:gd name="T13" fmla="*/ 0 h 347"/>
                <a:gd name="T14" fmla="*/ 0 w 313"/>
                <a:gd name="T15" fmla="*/ 0 h 347"/>
                <a:gd name="T16" fmla="*/ 0 w 313"/>
                <a:gd name="T17" fmla="*/ 0 h 347"/>
                <a:gd name="T18" fmla="*/ 0 w 313"/>
                <a:gd name="T19" fmla="*/ 0 h 347"/>
                <a:gd name="T20" fmla="*/ 0 w 313"/>
                <a:gd name="T21" fmla="*/ 0 h 347"/>
                <a:gd name="T22" fmla="*/ 0 w 313"/>
                <a:gd name="T23" fmla="*/ 0 h 347"/>
                <a:gd name="T24" fmla="*/ 0 w 313"/>
                <a:gd name="T25" fmla="*/ 0 h 347"/>
                <a:gd name="T26" fmla="*/ 0 w 313"/>
                <a:gd name="T27" fmla="*/ 0 h 347"/>
                <a:gd name="T28" fmla="*/ 0 w 313"/>
                <a:gd name="T29" fmla="*/ 0 h 347"/>
                <a:gd name="T30" fmla="*/ 0 w 313"/>
                <a:gd name="T31" fmla="*/ 0 h 347"/>
                <a:gd name="T32" fmla="*/ 0 w 313"/>
                <a:gd name="T33" fmla="*/ 0 h 347"/>
                <a:gd name="T34" fmla="*/ 0 w 313"/>
                <a:gd name="T35" fmla="*/ 0 h 347"/>
                <a:gd name="T36" fmla="*/ 0 w 313"/>
                <a:gd name="T37" fmla="*/ 0 h 347"/>
                <a:gd name="T38" fmla="*/ 0 w 313"/>
                <a:gd name="T39" fmla="*/ 0 h 347"/>
                <a:gd name="T40" fmla="*/ 0 w 313"/>
                <a:gd name="T41" fmla="*/ 0 h 347"/>
                <a:gd name="T42" fmla="*/ 0 w 313"/>
                <a:gd name="T43" fmla="*/ 0 h 347"/>
                <a:gd name="T44" fmla="*/ 0 w 313"/>
                <a:gd name="T45" fmla="*/ 0 h 347"/>
                <a:gd name="T46" fmla="*/ 0 w 313"/>
                <a:gd name="T47" fmla="*/ 0 h 347"/>
                <a:gd name="T48" fmla="*/ 0 w 313"/>
                <a:gd name="T49" fmla="*/ 0 h 347"/>
                <a:gd name="T50" fmla="*/ 0 w 313"/>
                <a:gd name="T51" fmla="*/ 0 h 347"/>
                <a:gd name="T52" fmla="*/ 0 w 313"/>
                <a:gd name="T53" fmla="*/ 0 h 347"/>
                <a:gd name="T54" fmla="*/ 0 w 313"/>
                <a:gd name="T55" fmla="*/ 0 h 347"/>
                <a:gd name="T56" fmla="*/ 0 w 313"/>
                <a:gd name="T57" fmla="*/ 0 h 347"/>
                <a:gd name="T58" fmla="*/ 0 w 313"/>
                <a:gd name="T59" fmla="*/ 0 h 347"/>
                <a:gd name="T60" fmla="*/ 0 w 313"/>
                <a:gd name="T61" fmla="*/ 0 h 347"/>
                <a:gd name="T62" fmla="*/ 0 w 313"/>
                <a:gd name="T63" fmla="*/ 0 h 347"/>
                <a:gd name="T64" fmla="*/ 0 w 313"/>
                <a:gd name="T65" fmla="*/ 0 h 347"/>
                <a:gd name="T66" fmla="*/ 0 w 313"/>
                <a:gd name="T67" fmla="*/ 0 h 347"/>
                <a:gd name="T68" fmla="*/ 0 w 313"/>
                <a:gd name="T69" fmla="*/ 0 h 347"/>
                <a:gd name="T70" fmla="*/ 0 w 313"/>
                <a:gd name="T71" fmla="*/ 0 h 347"/>
                <a:gd name="T72" fmla="*/ 0 w 313"/>
                <a:gd name="T73" fmla="*/ 0 h 347"/>
                <a:gd name="T74" fmla="*/ 0 w 313"/>
                <a:gd name="T75" fmla="*/ 0 h 347"/>
                <a:gd name="T76" fmla="*/ 0 w 313"/>
                <a:gd name="T77" fmla="*/ 0 h 347"/>
                <a:gd name="T78" fmla="*/ 0 w 313"/>
                <a:gd name="T79" fmla="*/ 0 h 347"/>
                <a:gd name="T80" fmla="*/ 0 w 313"/>
                <a:gd name="T81" fmla="*/ 0 h 347"/>
                <a:gd name="T82" fmla="*/ 0 w 313"/>
                <a:gd name="T83" fmla="*/ 0 h 347"/>
                <a:gd name="T84" fmla="*/ 0 w 313"/>
                <a:gd name="T85" fmla="*/ 0 h 347"/>
                <a:gd name="T86" fmla="*/ 0 w 313"/>
                <a:gd name="T87" fmla="*/ 0 h 347"/>
                <a:gd name="T88" fmla="*/ 0 w 313"/>
                <a:gd name="T89" fmla="*/ 0 h 347"/>
                <a:gd name="T90" fmla="*/ 0 w 313"/>
                <a:gd name="T91" fmla="*/ 0 h 347"/>
                <a:gd name="T92" fmla="*/ 0 w 313"/>
                <a:gd name="T93" fmla="*/ 0 h 347"/>
                <a:gd name="T94" fmla="*/ 0 w 313"/>
                <a:gd name="T95" fmla="*/ 0 h 347"/>
                <a:gd name="T96" fmla="*/ 0 w 313"/>
                <a:gd name="T97" fmla="*/ 0 h 347"/>
                <a:gd name="T98" fmla="*/ 0 w 313"/>
                <a:gd name="T99" fmla="*/ 0 h 347"/>
                <a:gd name="T100" fmla="*/ 0 w 313"/>
                <a:gd name="T101" fmla="*/ 0 h 347"/>
                <a:gd name="T102" fmla="*/ 0 w 313"/>
                <a:gd name="T103" fmla="*/ 0 h 347"/>
                <a:gd name="T104" fmla="*/ 0 w 313"/>
                <a:gd name="T105" fmla="*/ 0 h 347"/>
                <a:gd name="T106" fmla="*/ 0 w 313"/>
                <a:gd name="T107" fmla="*/ 0 h 347"/>
                <a:gd name="T108" fmla="*/ 0 w 313"/>
                <a:gd name="T109" fmla="*/ 0 h 347"/>
                <a:gd name="T110" fmla="*/ 0 w 313"/>
                <a:gd name="T111" fmla="*/ 0 h 347"/>
                <a:gd name="T112" fmla="*/ 0 w 313"/>
                <a:gd name="T113" fmla="*/ 0 h 347"/>
                <a:gd name="T114" fmla="*/ 0 w 313"/>
                <a:gd name="T115" fmla="*/ 0 h 347"/>
                <a:gd name="T116" fmla="*/ 0 w 313"/>
                <a:gd name="T117" fmla="*/ 0 h 347"/>
                <a:gd name="T118" fmla="*/ 0 w 313"/>
                <a:gd name="T119" fmla="*/ 0 h 347"/>
                <a:gd name="T120" fmla="*/ 0 w 313"/>
                <a:gd name="T121" fmla="*/ 0 h 347"/>
                <a:gd name="T122" fmla="*/ 0 w 313"/>
                <a:gd name="T123" fmla="*/ 0 h 347"/>
                <a:gd name="T124" fmla="*/ 0 w 313"/>
                <a:gd name="T125" fmla="*/ 0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13"/>
                <a:gd name="T190" fmla="*/ 0 h 347"/>
                <a:gd name="T191" fmla="*/ 313 w 313"/>
                <a:gd name="T192" fmla="*/ 347 h 347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13" h="347">
                  <a:moveTo>
                    <a:pt x="298" y="19"/>
                  </a:moveTo>
                  <a:lnTo>
                    <a:pt x="298" y="19"/>
                  </a:lnTo>
                  <a:lnTo>
                    <a:pt x="294" y="19"/>
                  </a:lnTo>
                  <a:lnTo>
                    <a:pt x="290" y="21"/>
                  </a:lnTo>
                  <a:lnTo>
                    <a:pt x="288" y="23"/>
                  </a:lnTo>
                  <a:lnTo>
                    <a:pt x="287" y="24"/>
                  </a:lnTo>
                  <a:lnTo>
                    <a:pt x="287" y="331"/>
                  </a:lnTo>
                  <a:lnTo>
                    <a:pt x="283" y="335"/>
                  </a:lnTo>
                  <a:lnTo>
                    <a:pt x="275" y="339"/>
                  </a:lnTo>
                  <a:lnTo>
                    <a:pt x="263" y="342"/>
                  </a:lnTo>
                  <a:lnTo>
                    <a:pt x="246" y="344"/>
                  </a:lnTo>
                  <a:lnTo>
                    <a:pt x="227" y="346"/>
                  </a:lnTo>
                  <a:lnTo>
                    <a:pt x="204" y="347"/>
                  </a:lnTo>
                  <a:lnTo>
                    <a:pt x="181" y="347"/>
                  </a:lnTo>
                  <a:lnTo>
                    <a:pt x="157" y="347"/>
                  </a:lnTo>
                  <a:lnTo>
                    <a:pt x="132" y="347"/>
                  </a:lnTo>
                  <a:lnTo>
                    <a:pt x="109" y="346"/>
                  </a:lnTo>
                  <a:lnTo>
                    <a:pt x="86" y="344"/>
                  </a:lnTo>
                  <a:lnTo>
                    <a:pt x="67" y="342"/>
                  </a:lnTo>
                  <a:lnTo>
                    <a:pt x="51" y="340"/>
                  </a:lnTo>
                  <a:lnTo>
                    <a:pt x="38" y="336"/>
                  </a:lnTo>
                  <a:lnTo>
                    <a:pt x="30" y="334"/>
                  </a:lnTo>
                  <a:lnTo>
                    <a:pt x="26" y="331"/>
                  </a:lnTo>
                  <a:lnTo>
                    <a:pt x="26" y="25"/>
                  </a:lnTo>
                  <a:lnTo>
                    <a:pt x="26" y="24"/>
                  </a:lnTo>
                  <a:lnTo>
                    <a:pt x="25" y="23"/>
                  </a:lnTo>
                  <a:lnTo>
                    <a:pt x="24" y="22"/>
                  </a:lnTo>
                  <a:lnTo>
                    <a:pt x="23" y="21"/>
                  </a:lnTo>
                  <a:lnTo>
                    <a:pt x="21" y="19"/>
                  </a:lnTo>
                  <a:lnTo>
                    <a:pt x="17" y="18"/>
                  </a:lnTo>
                  <a:lnTo>
                    <a:pt x="13" y="17"/>
                  </a:lnTo>
                  <a:lnTo>
                    <a:pt x="7" y="17"/>
                  </a:lnTo>
                  <a:lnTo>
                    <a:pt x="3" y="15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3" y="10"/>
                  </a:lnTo>
                  <a:lnTo>
                    <a:pt x="13" y="8"/>
                  </a:lnTo>
                  <a:lnTo>
                    <a:pt x="26" y="6"/>
                  </a:lnTo>
                  <a:lnTo>
                    <a:pt x="45" y="3"/>
                  </a:lnTo>
                  <a:lnTo>
                    <a:pt x="68" y="2"/>
                  </a:lnTo>
                  <a:lnTo>
                    <a:pt x="94" y="1"/>
                  </a:lnTo>
                  <a:lnTo>
                    <a:pt x="124" y="0"/>
                  </a:lnTo>
                  <a:lnTo>
                    <a:pt x="155" y="0"/>
                  </a:lnTo>
                  <a:lnTo>
                    <a:pt x="187" y="0"/>
                  </a:lnTo>
                  <a:lnTo>
                    <a:pt x="217" y="1"/>
                  </a:lnTo>
                  <a:lnTo>
                    <a:pt x="243" y="2"/>
                  </a:lnTo>
                  <a:lnTo>
                    <a:pt x="267" y="5"/>
                  </a:lnTo>
                  <a:lnTo>
                    <a:pt x="286" y="6"/>
                  </a:lnTo>
                  <a:lnTo>
                    <a:pt x="301" y="8"/>
                  </a:lnTo>
                  <a:lnTo>
                    <a:pt x="310" y="10"/>
                  </a:lnTo>
                  <a:lnTo>
                    <a:pt x="313" y="13"/>
                  </a:lnTo>
                  <a:lnTo>
                    <a:pt x="312" y="14"/>
                  </a:lnTo>
                  <a:lnTo>
                    <a:pt x="310" y="16"/>
                  </a:lnTo>
                  <a:lnTo>
                    <a:pt x="305" y="18"/>
                  </a:lnTo>
                  <a:lnTo>
                    <a:pt x="298" y="1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2" name="Freeform 27"/>
            <p:cNvSpPr>
              <a:spLocks noChangeAspect="1"/>
            </p:cNvSpPr>
            <p:nvPr/>
          </p:nvSpPr>
          <p:spPr bwMode="auto">
            <a:xfrm>
              <a:off x="6831" y="15748"/>
              <a:ext cx="114" cy="144"/>
            </a:xfrm>
            <a:custGeom>
              <a:avLst/>
              <a:gdLst>
                <a:gd name="T0" fmla="*/ 0 w 253"/>
                <a:gd name="T1" fmla="*/ 0 h 320"/>
                <a:gd name="T2" fmla="*/ 0 w 253"/>
                <a:gd name="T3" fmla="*/ 0 h 320"/>
                <a:gd name="T4" fmla="*/ 0 w 253"/>
                <a:gd name="T5" fmla="*/ 0 h 320"/>
                <a:gd name="T6" fmla="*/ 0 w 253"/>
                <a:gd name="T7" fmla="*/ 0 h 320"/>
                <a:gd name="T8" fmla="*/ 0 w 253"/>
                <a:gd name="T9" fmla="*/ 0 h 320"/>
                <a:gd name="T10" fmla="*/ 0 w 253"/>
                <a:gd name="T11" fmla="*/ 0 h 320"/>
                <a:gd name="T12" fmla="*/ 0 w 253"/>
                <a:gd name="T13" fmla="*/ 0 h 320"/>
                <a:gd name="T14" fmla="*/ 0 w 253"/>
                <a:gd name="T15" fmla="*/ 0 h 320"/>
                <a:gd name="T16" fmla="*/ 0 w 253"/>
                <a:gd name="T17" fmla="*/ 0 h 320"/>
                <a:gd name="T18" fmla="*/ 0 w 253"/>
                <a:gd name="T19" fmla="*/ 0 h 320"/>
                <a:gd name="T20" fmla="*/ 0 w 253"/>
                <a:gd name="T21" fmla="*/ 0 h 320"/>
                <a:gd name="T22" fmla="*/ 0 w 253"/>
                <a:gd name="T23" fmla="*/ 0 h 320"/>
                <a:gd name="T24" fmla="*/ 0 w 253"/>
                <a:gd name="T25" fmla="*/ 0 h 320"/>
                <a:gd name="T26" fmla="*/ 0 w 253"/>
                <a:gd name="T27" fmla="*/ 0 h 320"/>
                <a:gd name="T28" fmla="*/ 0 w 253"/>
                <a:gd name="T29" fmla="*/ 0 h 320"/>
                <a:gd name="T30" fmla="*/ 0 w 253"/>
                <a:gd name="T31" fmla="*/ 0 h 320"/>
                <a:gd name="T32" fmla="*/ 0 w 253"/>
                <a:gd name="T33" fmla="*/ 0 h 320"/>
                <a:gd name="T34" fmla="*/ 0 w 253"/>
                <a:gd name="T35" fmla="*/ 0 h 320"/>
                <a:gd name="T36" fmla="*/ 0 w 253"/>
                <a:gd name="T37" fmla="*/ 0 h 320"/>
                <a:gd name="T38" fmla="*/ 0 w 253"/>
                <a:gd name="T39" fmla="*/ 0 h 320"/>
                <a:gd name="T40" fmla="*/ 0 w 253"/>
                <a:gd name="T41" fmla="*/ 0 h 320"/>
                <a:gd name="T42" fmla="*/ 0 w 253"/>
                <a:gd name="T43" fmla="*/ 0 h 320"/>
                <a:gd name="T44" fmla="*/ 0 w 253"/>
                <a:gd name="T45" fmla="*/ 0 h 320"/>
                <a:gd name="T46" fmla="*/ 0 w 253"/>
                <a:gd name="T47" fmla="*/ 0 h 320"/>
                <a:gd name="T48" fmla="*/ 0 w 253"/>
                <a:gd name="T49" fmla="*/ 0 h 320"/>
                <a:gd name="T50" fmla="*/ 0 w 253"/>
                <a:gd name="T51" fmla="*/ 0 h 320"/>
                <a:gd name="T52" fmla="*/ 0 w 253"/>
                <a:gd name="T53" fmla="*/ 0 h 320"/>
                <a:gd name="T54" fmla="*/ 0 w 253"/>
                <a:gd name="T55" fmla="*/ 0 h 320"/>
                <a:gd name="T56" fmla="*/ 0 w 253"/>
                <a:gd name="T57" fmla="*/ 0 h 320"/>
                <a:gd name="T58" fmla="*/ 0 w 253"/>
                <a:gd name="T59" fmla="*/ 0 h 320"/>
                <a:gd name="T60" fmla="*/ 0 w 253"/>
                <a:gd name="T61" fmla="*/ 0 h 320"/>
                <a:gd name="T62" fmla="*/ 0 w 253"/>
                <a:gd name="T63" fmla="*/ 0 h 320"/>
                <a:gd name="T64" fmla="*/ 0 w 253"/>
                <a:gd name="T65" fmla="*/ 0 h 320"/>
                <a:gd name="T66" fmla="*/ 0 w 253"/>
                <a:gd name="T67" fmla="*/ 0 h 320"/>
                <a:gd name="T68" fmla="*/ 0 w 253"/>
                <a:gd name="T69" fmla="*/ 0 h 320"/>
                <a:gd name="T70" fmla="*/ 0 w 253"/>
                <a:gd name="T71" fmla="*/ 0 h 320"/>
                <a:gd name="T72" fmla="*/ 0 w 253"/>
                <a:gd name="T73" fmla="*/ 0 h 320"/>
                <a:gd name="T74" fmla="*/ 0 w 253"/>
                <a:gd name="T75" fmla="*/ 0 h 320"/>
                <a:gd name="T76" fmla="*/ 0 w 253"/>
                <a:gd name="T77" fmla="*/ 0 h 320"/>
                <a:gd name="T78" fmla="*/ 0 w 253"/>
                <a:gd name="T79" fmla="*/ 0 h 320"/>
                <a:gd name="T80" fmla="*/ 0 w 253"/>
                <a:gd name="T81" fmla="*/ 0 h 320"/>
                <a:gd name="T82" fmla="*/ 0 w 253"/>
                <a:gd name="T83" fmla="*/ 0 h 320"/>
                <a:gd name="T84" fmla="*/ 0 w 253"/>
                <a:gd name="T85" fmla="*/ 0 h 320"/>
                <a:gd name="T86" fmla="*/ 0 w 253"/>
                <a:gd name="T87" fmla="*/ 0 h 320"/>
                <a:gd name="T88" fmla="*/ 0 w 253"/>
                <a:gd name="T89" fmla="*/ 0 h 320"/>
                <a:gd name="T90" fmla="*/ 0 w 253"/>
                <a:gd name="T91" fmla="*/ 0 h 320"/>
                <a:gd name="T92" fmla="*/ 0 w 253"/>
                <a:gd name="T93" fmla="*/ 0 h 320"/>
                <a:gd name="T94" fmla="*/ 0 w 253"/>
                <a:gd name="T95" fmla="*/ 0 h 32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53"/>
                <a:gd name="T145" fmla="*/ 0 h 320"/>
                <a:gd name="T146" fmla="*/ 253 w 253"/>
                <a:gd name="T147" fmla="*/ 320 h 32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53" h="320">
                  <a:moveTo>
                    <a:pt x="253" y="307"/>
                  </a:moveTo>
                  <a:lnTo>
                    <a:pt x="253" y="8"/>
                  </a:lnTo>
                  <a:lnTo>
                    <a:pt x="253" y="7"/>
                  </a:lnTo>
                  <a:lnTo>
                    <a:pt x="253" y="3"/>
                  </a:lnTo>
                  <a:lnTo>
                    <a:pt x="253" y="1"/>
                  </a:lnTo>
                  <a:lnTo>
                    <a:pt x="253" y="0"/>
                  </a:lnTo>
                  <a:lnTo>
                    <a:pt x="236" y="0"/>
                  </a:lnTo>
                  <a:lnTo>
                    <a:pt x="219" y="1"/>
                  </a:lnTo>
                  <a:lnTo>
                    <a:pt x="204" y="1"/>
                  </a:lnTo>
                  <a:lnTo>
                    <a:pt x="189" y="1"/>
                  </a:lnTo>
                  <a:lnTo>
                    <a:pt x="175" y="2"/>
                  </a:lnTo>
                  <a:lnTo>
                    <a:pt x="161" y="2"/>
                  </a:lnTo>
                  <a:lnTo>
                    <a:pt x="147" y="2"/>
                  </a:lnTo>
                  <a:lnTo>
                    <a:pt x="135" y="2"/>
                  </a:lnTo>
                  <a:lnTo>
                    <a:pt x="121" y="2"/>
                  </a:lnTo>
                  <a:lnTo>
                    <a:pt x="107" y="2"/>
                  </a:lnTo>
                  <a:lnTo>
                    <a:pt x="92" y="2"/>
                  </a:lnTo>
                  <a:lnTo>
                    <a:pt x="76" y="2"/>
                  </a:lnTo>
                  <a:lnTo>
                    <a:pt x="60" y="2"/>
                  </a:lnTo>
                  <a:lnTo>
                    <a:pt x="42" y="2"/>
                  </a:lnTo>
                  <a:lnTo>
                    <a:pt x="23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9"/>
                  </a:lnTo>
                  <a:lnTo>
                    <a:pt x="0" y="305"/>
                  </a:lnTo>
                  <a:lnTo>
                    <a:pt x="3" y="309"/>
                  </a:lnTo>
                  <a:lnTo>
                    <a:pt x="11" y="311"/>
                  </a:lnTo>
                  <a:lnTo>
                    <a:pt x="25" y="313"/>
                  </a:lnTo>
                  <a:lnTo>
                    <a:pt x="44" y="315"/>
                  </a:lnTo>
                  <a:lnTo>
                    <a:pt x="64" y="318"/>
                  </a:lnTo>
                  <a:lnTo>
                    <a:pt x="87" y="319"/>
                  </a:lnTo>
                  <a:lnTo>
                    <a:pt x="112" y="320"/>
                  </a:lnTo>
                  <a:lnTo>
                    <a:pt x="137" y="320"/>
                  </a:lnTo>
                  <a:lnTo>
                    <a:pt x="175" y="320"/>
                  </a:lnTo>
                  <a:lnTo>
                    <a:pt x="204" y="319"/>
                  </a:lnTo>
                  <a:lnTo>
                    <a:pt x="225" y="317"/>
                  </a:lnTo>
                  <a:lnTo>
                    <a:pt x="238" y="314"/>
                  </a:lnTo>
                  <a:lnTo>
                    <a:pt x="248" y="312"/>
                  </a:lnTo>
                  <a:lnTo>
                    <a:pt x="251" y="311"/>
                  </a:lnTo>
                  <a:lnTo>
                    <a:pt x="253" y="309"/>
                  </a:lnTo>
                  <a:lnTo>
                    <a:pt x="253" y="3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3" name="Freeform 28"/>
            <p:cNvSpPr>
              <a:spLocks noChangeAspect="1"/>
            </p:cNvSpPr>
            <p:nvPr/>
          </p:nvSpPr>
          <p:spPr bwMode="auto">
            <a:xfrm>
              <a:off x="6838" y="15756"/>
              <a:ext cx="7" cy="30"/>
            </a:xfrm>
            <a:custGeom>
              <a:avLst/>
              <a:gdLst>
                <a:gd name="T0" fmla="*/ 0 w 16"/>
                <a:gd name="T1" fmla="*/ 0 h 67"/>
                <a:gd name="T2" fmla="*/ 0 w 16"/>
                <a:gd name="T3" fmla="*/ 0 h 67"/>
                <a:gd name="T4" fmla="*/ 0 w 16"/>
                <a:gd name="T5" fmla="*/ 0 h 67"/>
                <a:gd name="T6" fmla="*/ 0 w 16"/>
                <a:gd name="T7" fmla="*/ 0 h 67"/>
                <a:gd name="T8" fmla="*/ 0 w 16"/>
                <a:gd name="T9" fmla="*/ 0 h 67"/>
                <a:gd name="T10" fmla="*/ 0 w 16"/>
                <a:gd name="T11" fmla="*/ 0 h 67"/>
                <a:gd name="T12" fmla="*/ 0 w 16"/>
                <a:gd name="T13" fmla="*/ 0 h 67"/>
                <a:gd name="T14" fmla="*/ 0 w 16"/>
                <a:gd name="T15" fmla="*/ 0 h 67"/>
                <a:gd name="T16" fmla="*/ 0 w 16"/>
                <a:gd name="T17" fmla="*/ 0 h 67"/>
                <a:gd name="T18" fmla="*/ 0 w 16"/>
                <a:gd name="T19" fmla="*/ 0 h 67"/>
                <a:gd name="T20" fmla="*/ 0 w 16"/>
                <a:gd name="T21" fmla="*/ 0 h 67"/>
                <a:gd name="T22" fmla="*/ 0 w 16"/>
                <a:gd name="T23" fmla="*/ 0 h 67"/>
                <a:gd name="T24" fmla="*/ 0 w 16"/>
                <a:gd name="T25" fmla="*/ 0 h 67"/>
                <a:gd name="T26" fmla="*/ 0 w 16"/>
                <a:gd name="T27" fmla="*/ 0 h 67"/>
                <a:gd name="T28" fmla="*/ 0 w 16"/>
                <a:gd name="T29" fmla="*/ 0 h 67"/>
                <a:gd name="T30" fmla="*/ 0 w 16"/>
                <a:gd name="T31" fmla="*/ 0 h 67"/>
                <a:gd name="T32" fmla="*/ 0 w 16"/>
                <a:gd name="T33" fmla="*/ 0 h 67"/>
                <a:gd name="T34" fmla="*/ 0 w 16"/>
                <a:gd name="T35" fmla="*/ 0 h 67"/>
                <a:gd name="T36" fmla="*/ 0 w 16"/>
                <a:gd name="T37" fmla="*/ 0 h 67"/>
                <a:gd name="T38" fmla="*/ 0 w 16"/>
                <a:gd name="T39" fmla="*/ 0 h 67"/>
                <a:gd name="T40" fmla="*/ 0 w 16"/>
                <a:gd name="T41" fmla="*/ 0 h 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"/>
                <a:gd name="T64" fmla="*/ 0 h 67"/>
                <a:gd name="T65" fmla="*/ 16 w 16"/>
                <a:gd name="T66" fmla="*/ 67 h 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" h="67">
                  <a:moveTo>
                    <a:pt x="0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7" y="0"/>
                  </a:lnTo>
                  <a:lnTo>
                    <a:pt x="12" y="1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5" y="11"/>
                  </a:lnTo>
                  <a:lnTo>
                    <a:pt x="15" y="18"/>
                  </a:lnTo>
                  <a:lnTo>
                    <a:pt x="16" y="26"/>
                  </a:lnTo>
                  <a:lnTo>
                    <a:pt x="16" y="35"/>
                  </a:lnTo>
                  <a:lnTo>
                    <a:pt x="16" y="44"/>
                  </a:lnTo>
                  <a:lnTo>
                    <a:pt x="16" y="56"/>
                  </a:lnTo>
                  <a:lnTo>
                    <a:pt x="16" y="66"/>
                  </a:lnTo>
                  <a:lnTo>
                    <a:pt x="14" y="67"/>
                  </a:lnTo>
                  <a:lnTo>
                    <a:pt x="8" y="62"/>
                  </a:lnTo>
                  <a:lnTo>
                    <a:pt x="3" y="57"/>
                  </a:lnTo>
                  <a:lnTo>
                    <a:pt x="1" y="50"/>
                  </a:lnTo>
                  <a:lnTo>
                    <a:pt x="0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4" name="Freeform 29"/>
            <p:cNvSpPr>
              <a:spLocks noChangeAspect="1"/>
            </p:cNvSpPr>
            <p:nvPr/>
          </p:nvSpPr>
          <p:spPr bwMode="auto">
            <a:xfrm>
              <a:off x="6861" y="15841"/>
              <a:ext cx="83" cy="1"/>
            </a:xfrm>
            <a:custGeom>
              <a:avLst/>
              <a:gdLst>
                <a:gd name="T0" fmla="*/ 0 w 182"/>
                <a:gd name="T1" fmla="*/ 0 h 4"/>
                <a:gd name="T2" fmla="*/ 0 w 182"/>
                <a:gd name="T3" fmla="*/ 0 h 4"/>
                <a:gd name="T4" fmla="*/ 0 w 182"/>
                <a:gd name="T5" fmla="*/ 0 h 4"/>
                <a:gd name="T6" fmla="*/ 0 w 182"/>
                <a:gd name="T7" fmla="*/ 0 h 4"/>
                <a:gd name="T8" fmla="*/ 0 w 182"/>
                <a:gd name="T9" fmla="*/ 0 h 4"/>
                <a:gd name="T10" fmla="*/ 0 w 182"/>
                <a:gd name="T11" fmla="*/ 0 h 4"/>
                <a:gd name="T12" fmla="*/ 0 w 182"/>
                <a:gd name="T13" fmla="*/ 0 h 4"/>
                <a:gd name="T14" fmla="*/ 0 w 182"/>
                <a:gd name="T15" fmla="*/ 0 h 4"/>
                <a:gd name="T16" fmla="*/ 0 w 182"/>
                <a:gd name="T17" fmla="*/ 0 h 4"/>
                <a:gd name="T18" fmla="*/ 0 w 182"/>
                <a:gd name="T19" fmla="*/ 0 h 4"/>
                <a:gd name="T20" fmla="*/ 0 w 182"/>
                <a:gd name="T21" fmla="*/ 0 h 4"/>
                <a:gd name="T22" fmla="*/ 0 w 182"/>
                <a:gd name="T23" fmla="*/ 0 h 4"/>
                <a:gd name="T24" fmla="*/ 0 w 182"/>
                <a:gd name="T25" fmla="*/ 0 h 4"/>
                <a:gd name="T26" fmla="*/ 0 w 182"/>
                <a:gd name="T27" fmla="*/ 0 h 4"/>
                <a:gd name="T28" fmla="*/ 0 w 182"/>
                <a:gd name="T29" fmla="*/ 0 h 4"/>
                <a:gd name="T30" fmla="*/ 0 w 182"/>
                <a:gd name="T31" fmla="*/ 0 h 4"/>
                <a:gd name="T32" fmla="*/ 0 w 182"/>
                <a:gd name="T33" fmla="*/ 0 h 4"/>
                <a:gd name="T34" fmla="*/ 0 w 182"/>
                <a:gd name="T35" fmla="*/ 0 h 4"/>
                <a:gd name="T36" fmla="*/ 0 w 182"/>
                <a:gd name="T37" fmla="*/ 0 h 4"/>
                <a:gd name="T38" fmla="*/ 0 w 182"/>
                <a:gd name="T39" fmla="*/ 0 h 4"/>
                <a:gd name="T40" fmla="*/ 0 w 182"/>
                <a:gd name="T41" fmla="*/ 0 h 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4"/>
                <a:gd name="T65" fmla="*/ 182 w 182"/>
                <a:gd name="T66" fmla="*/ 4 h 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4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1"/>
                  </a:lnTo>
                  <a:lnTo>
                    <a:pt x="68" y="1"/>
                  </a:lnTo>
                  <a:lnTo>
                    <a:pt x="90" y="1"/>
                  </a:lnTo>
                  <a:lnTo>
                    <a:pt x="113" y="1"/>
                  </a:lnTo>
                  <a:lnTo>
                    <a:pt x="136" y="1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2"/>
                  </a:lnTo>
                  <a:lnTo>
                    <a:pt x="159" y="4"/>
                  </a:lnTo>
                  <a:lnTo>
                    <a:pt x="136" y="4"/>
                  </a:lnTo>
                  <a:lnTo>
                    <a:pt x="114" y="4"/>
                  </a:lnTo>
                  <a:lnTo>
                    <a:pt x="92" y="4"/>
                  </a:lnTo>
                  <a:lnTo>
                    <a:pt x="69" y="4"/>
                  </a:lnTo>
                  <a:lnTo>
                    <a:pt x="47" y="4"/>
                  </a:lnTo>
                  <a:lnTo>
                    <a:pt x="24" y="4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5" name="Freeform 30"/>
            <p:cNvSpPr>
              <a:spLocks noChangeAspect="1"/>
            </p:cNvSpPr>
            <p:nvPr/>
          </p:nvSpPr>
          <p:spPr bwMode="auto">
            <a:xfrm>
              <a:off x="6861" y="15853"/>
              <a:ext cx="82" cy="3"/>
            </a:xfrm>
            <a:custGeom>
              <a:avLst/>
              <a:gdLst>
                <a:gd name="T0" fmla="*/ 0 w 182"/>
                <a:gd name="T1" fmla="*/ 0 h 4"/>
                <a:gd name="T2" fmla="*/ 0 w 182"/>
                <a:gd name="T3" fmla="*/ 0 h 4"/>
                <a:gd name="T4" fmla="*/ 0 w 182"/>
                <a:gd name="T5" fmla="*/ 1 h 4"/>
                <a:gd name="T6" fmla="*/ 0 w 182"/>
                <a:gd name="T7" fmla="*/ 1 h 4"/>
                <a:gd name="T8" fmla="*/ 0 w 182"/>
                <a:gd name="T9" fmla="*/ 1 h 4"/>
                <a:gd name="T10" fmla="*/ 0 w 182"/>
                <a:gd name="T11" fmla="*/ 1 h 4"/>
                <a:gd name="T12" fmla="*/ 0 w 182"/>
                <a:gd name="T13" fmla="*/ 1 h 4"/>
                <a:gd name="T14" fmla="*/ 0 w 182"/>
                <a:gd name="T15" fmla="*/ 1 h 4"/>
                <a:gd name="T16" fmla="*/ 0 w 182"/>
                <a:gd name="T17" fmla="*/ 1 h 4"/>
                <a:gd name="T18" fmla="*/ 0 w 182"/>
                <a:gd name="T19" fmla="*/ 0 h 4"/>
                <a:gd name="T20" fmla="*/ 0 w 182"/>
                <a:gd name="T21" fmla="*/ 2 h 4"/>
                <a:gd name="T22" fmla="*/ 0 w 182"/>
                <a:gd name="T23" fmla="*/ 2 h 4"/>
                <a:gd name="T24" fmla="*/ 0 w 182"/>
                <a:gd name="T25" fmla="*/ 2 h 4"/>
                <a:gd name="T26" fmla="*/ 0 w 182"/>
                <a:gd name="T27" fmla="*/ 2 h 4"/>
                <a:gd name="T28" fmla="*/ 0 w 182"/>
                <a:gd name="T29" fmla="*/ 2 h 4"/>
                <a:gd name="T30" fmla="*/ 0 w 182"/>
                <a:gd name="T31" fmla="*/ 2 h 4"/>
                <a:gd name="T32" fmla="*/ 0 w 182"/>
                <a:gd name="T33" fmla="*/ 2 h 4"/>
                <a:gd name="T34" fmla="*/ 0 w 182"/>
                <a:gd name="T35" fmla="*/ 2 h 4"/>
                <a:gd name="T36" fmla="*/ 0 w 182"/>
                <a:gd name="T37" fmla="*/ 2 h 4"/>
                <a:gd name="T38" fmla="*/ 0 w 182"/>
                <a:gd name="T39" fmla="*/ 2 h 4"/>
                <a:gd name="T40" fmla="*/ 0 w 182"/>
                <a:gd name="T41" fmla="*/ 0 h 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4"/>
                <a:gd name="T65" fmla="*/ 182 w 182"/>
                <a:gd name="T66" fmla="*/ 4 h 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4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1"/>
                  </a:lnTo>
                  <a:lnTo>
                    <a:pt x="68" y="1"/>
                  </a:lnTo>
                  <a:lnTo>
                    <a:pt x="91" y="1"/>
                  </a:lnTo>
                  <a:lnTo>
                    <a:pt x="113" y="1"/>
                  </a:lnTo>
                  <a:lnTo>
                    <a:pt x="136" y="1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2"/>
                  </a:lnTo>
                  <a:lnTo>
                    <a:pt x="159" y="3"/>
                  </a:lnTo>
                  <a:lnTo>
                    <a:pt x="137" y="4"/>
                  </a:lnTo>
                  <a:lnTo>
                    <a:pt x="114" y="4"/>
                  </a:lnTo>
                  <a:lnTo>
                    <a:pt x="92" y="4"/>
                  </a:lnTo>
                  <a:lnTo>
                    <a:pt x="70" y="4"/>
                  </a:lnTo>
                  <a:lnTo>
                    <a:pt x="47" y="4"/>
                  </a:lnTo>
                  <a:lnTo>
                    <a:pt x="24" y="3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6" name="Freeform 31"/>
            <p:cNvSpPr>
              <a:spLocks noChangeAspect="1"/>
            </p:cNvSpPr>
            <p:nvPr/>
          </p:nvSpPr>
          <p:spPr bwMode="auto">
            <a:xfrm>
              <a:off x="6862" y="15795"/>
              <a:ext cx="82" cy="1"/>
            </a:xfrm>
            <a:custGeom>
              <a:avLst/>
              <a:gdLst>
                <a:gd name="T0" fmla="*/ 0 w 182"/>
                <a:gd name="T1" fmla="*/ 0 h 3"/>
                <a:gd name="T2" fmla="*/ 0 w 182"/>
                <a:gd name="T3" fmla="*/ 0 h 3"/>
                <a:gd name="T4" fmla="*/ 0 w 182"/>
                <a:gd name="T5" fmla="*/ 0 h 3"/>
                <a:gd name="T6" fmla="*/ 0 w 182"/>
                <a:gd name="T7" fmla="*/ 0 h 3"/>
                <a:gd name="T8" fmla="*/ 0 w 182"/>
                <a:gd name="T9" fmla="*/ 0 h 3"/>
                <a:gd name="T10" fmla="*/ 0 w 182"/>
                <a:gd name="T11" fmla="*/ 0 h 3"/>
                <a:gd name="T12" fmla="*/ 0 w 182"/>
                <a:gd name="T13" fmla="*/ 0 h 3"/>
                <a:gd name="T14" fmla="*/ 0 w 182"/>
                <a:gd name="T15" fmla="*/ 0 h 3"/>
                <a:gd name="T16" fmla="*/ 0 w 182"/>
                <a:gd name="T17" fmla="*/ 0 h 3"/>
                <a:gd name="T18" fmla="*/ 0 w 182"/>
                <a:gd name="T19" fmla="*/ 0 h 3"/>
                <a:gd name="T20" fmla="*/ 0 w 182"/>
                <a:gd name="T21" fmla="*/ 0 h 3"/>
                <a:gd name="T22" fmla="*/ 0 w 182"/>
                <a:gd name="T23" fmla="*/ 0 h 3"/>
                <a:gd name="T24" fmla="*/ 0 w 182"/>
                <a:gd name="T25" fmla="*/ 0 h 3"/>
                <a:gd name="T26" fmla="*/ 0 w 182"/>
                <a:gd name="T27" fmla="*/ 0 h 3"/>
                <a:gd name="T28" fmla="*/ 0 w 182"/>
                <a:gd name="T29" fmla="*/ 0 h 3"/>
                <a:gd name="T30" fmla="*/ 0 w 182"/>
                <a:gd name="T31" fmla="*/ 0 h 3"/>
                <a:gd name="T32" fmla="*/ 0 w 182"/>
                <a:gd name="T33" fmla="*/ 0 h 3"/>
                <a:gd name="T34" fmla="*/ 0 w 182"/>
                <a:gd name="T35" fmla="*/ 0 h 3"/>
                <a:gd name="T36" fmla="*/ 0 w 182"/>
                <a:gd name="T37" fmla="*/ 0 h 3"/>
                <a:gd name="T38" fmla="*/ 0 w 182"/>
                <a:gd name="T39" fmla="*/ 0 h 3"/>
                <a:gd name="T40" fmla="*/ 0 w 182"/>
                <a:gd name="T41" fmla="*/ 0 h 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3"/>
                <a:gd name="T65" fmla="*/ 182 w 182"/>
                <a:gd name="T66" fmla="*/ 3 h 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3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1"/>
                  </a:lnTo>
                  <a:lnTo>
                    <a:pt x="68" y="1"/>
                  </a:lnTo>
                  <a:lnTo>
                    <a:pt x="91" y="1"/>
                  </a:lnTo>
                  <a:lnTo>
                    <a:pt x="113" y="1"/>
                  </a:lnTo>
                  <a:lnTo>
                    <a:pt x="136" y="1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1"/>
                  </a:lnTo>
                  <a:lnTo>
                    <a:pt x="159" y="2"/>
                  </a:lnTo>
                  <a:lnTo>
                    <a:pt x="137" y="3"/>
                  </a:lnTo>
                  <a:lnTo>
                    <a:pt x="114" y="3"/>
                  </a:lnTo>
                  <a:lnTo>
                    <a:pt x="92" y="3"/>
                  </a:lnTo>
                  <a:lnTo>
                    <a:pt x="70" y="3"/>
                  </a:lnTo>
                  <a:lnTo>
                    <a:pt x="47" y="3"/>
                  </a:lnTo>
                  <a:lnTo>
                    <a:pt x="24" y="2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7" name="Freeform 32"/>
            <p:cNvSpPr>
              <a:spLocks noChangeAspect="1"/>
            </p:cNvSpPr>
            <p:nvPr/>
          </p:nvSpPr>
          <p:spPr bwMode="auto">
            <a:xfrm>
              <a:off x="6861" y="15805"/>
              <a:ext cx="83" cy="2"/>
            </a:xfrm>
            <a:custGeom>
              <a:avLst/>
              <a:gdLst>
                <a:gd name="T0" fmla="*/ 0 w 182"/>
                <a:gd name="T1" fmla="*/ 0 h 3"/>
                <a:gd name="T2" fmla="*/ 0 w 182"/>
                <a:gd name="T3" fmla="*/ 0 h 3"/>
                <a:gd name="T4" fmla="*/ 0 w 182"/>
                <a:gd name="T5" fmla="*/ 1 h 3"/>
                <a:gd name="T6" fmla="*/ 0 w 182"/>
                <a:gd name="T7" fmla="*/ 1 h 3"/>
                <a:gd name="T8" fmla="*/ 0 w 182"/>
                <a:gd name="T9" fmla="*/ 1 h 3"/>
                <a:gd name="T10" fmla="*/ 0 w 182"/>
                <a:gd name="T11" fmla="*/ 1 h 3"/>
                <a:gd name="T12" fmla="*/ 0 w 182"/>
                <a:gd name="T13" fmla="*/ 1 h 3"/>
                <a:gd name="T14" fmla="*/ 0 w 182"/>
                <a:gd name="T15" fmla="*/ 1 h 3"/>
                <a:gd name="T16" fmla="*/ 0 w 182"/>
                <a:gd name="T17" fmla="*/ 1 h 3"/>
                <a:gd name="T18" fmla="*/ 0 w 182"/>
                <a:gd name="T19" fmla="*/ 0 h 3"/>
                <a:gd name="T20" fmla="*/ 0 w 182"/>
                <a:gd name="T21" fmla="*/ 1 h 3"/>
                <a:gd name="T22" fmla="*/ 0 w 182"/>
                <a:gd name="T23" fmla="*/ 1 h 3"/>
                <a:gd name="T24" fmla="*/ 0 w 182"/>
                <a:gd name="T25" fmla="*/ 1 h 3"/>
                <a:gd name="T26" fmla="*/ 0 w 182"/>
                <a:gd name="T27" fmla="*/ 1 h 3"/>
                <a:gd name="T28" fmla="*/ 0 w 182"/>
                <a:gd name="T29" fmla="*/ 1 h 3"/>
                <a:gd name="T30" fmla="*/ 0 w 182"/>
                <a:gd name="T31" fmla="*/ 1 h 3"/>
                <a:gd name="T32" fmla="*/ 0 w 182"/>
                <a:gd name="T33" fmla="*/ 1 h 3"/>
                <a:gd name="T34" fmla="*/ 0 w 182"/>
                <a:gd name="T35" fmla="*/ 1 h 3"/>
                <a:gd name="T36" fmla="*/ 0 w 182"/>
                <a:gd name="T37" fmla="*/ 1 h 3"/>
                <a:gd name="T38" fmla="*/ 0 w 182"/>
                <a:gd name="T39" fmla="*/ 1 h 3"/>
                <a:gd name="T40" fmla="*/ 0 w 182"/>
                <a:gd name="T41" fmla="*/ 0 h 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3"/>
                <a:gd name="T65" fmla="*/ 182 w 182"/>
                <a:gd name="T66" fmla="*/ 3 h 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3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1"/>
                  </a:lnTo>
                  <a:lnTo>
                    <a:pt x="68" y="1"/>
                  </a:lnTo>
                  <a:lnTo>
                    <a:pt x="91" y="1"/>
                  </a:lnTo>
                  <a:lnTo>
                    <a:pt x="114" y="1"/>
                  </a:lnTo>
                  <a:lnTo>
                    <a:pt x="137" y="1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1"/>
                  </a:lnTo>
                  <a:lnTo>
                    <a:pt x="160" y="2"/>
                  </a:lnTo>
                  <a:lnTo>
                    <a:pt x="137" y="3"/>
                  </a:lnTo>
                  <a:lnTo>
                    <a:pt x="115" y="3"/>
                  </a:lnTo>
                  <a:lnTo>
                    <a:pt x="93" y="3"/>
                  </a:lnTo>
                  <a:lnTo>
                    <a:pt x="70" y="3"/>
                  </a:lnTo>
                  <a:lnTo>
                    <a:pt x="47" y="3"/>
                  </a:lnTo>
                  <a:lnTo>
                    <a:pt x="24" y="2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8" name="Freeform 33"/>
            <p:cNvSpPr>
              <a:spLocks noChangeAspect="1"/>
            </p:cNvSpPr>
            <p:nvPr/>
          </p:nvSpPr>
          <p:spPr bwMode="auto">
            <a:xfrm>
              <a:off x="6861" y="15816"/>
              <a:ext cx="83" cy="2"/>
            </a:xfrm>
            <a:custGeom>
              <a:avLst/>
              <a:gdLst>
                <a:gd name="T0" fmla="*/ 0 w 182"/>
                <a:gd name="T1" fmla="*/ 0 h 3"/>
                <a:gd name="T2" fmla="*/ 0 w 182"/>
                <a:gd name="T3" fmla="*/ 0 h 3"/>
                <a:gd name="T4" fmla="*/ 0 w 182"/>
                <a:gd name="T5" fmla="*/ 1 h 3"/>
                <a:gd name="T6" fmla="*/ 0 w 182"/>
                <a:gd name="T7" fmla="*/ 1 h 3"/>
                <a:gd name="T8" fmla="*/ 0 w 182"/>
                <a:gd name="T9" fmla="*/ 1 h 3"/>
                <a:gd name="T10" fmla="*/ 0 w 182"/>
                <a:gd name="T11" fmla="*/ 1 h 3"/>
                <a:gd name="T12" fmla="*/ 0 w 182"/>
                <a:gd name="T13" fmla="*/ 1 h 3"/>
                <a:gd name="T14" fmla="*/ 0 w 182"/>
                <a:gd name="T15" fmla="*/ 1 h 3"/>
                <a:gd name="T16" fmla="*/ 0 w 182"/>
                <a:gd name="T17" fmla="*/ 1 h 3"/>
                <a:gd name="T18" fmla="*/ 0 w 182"/>
                <a:gd name="T19" fmla="*/ 0 h 3"/>
                <a:gd name="T20" fmla="*/ 0 w 182"/>
                <a:gd name="T21" fmla="*/ 1 h 3"/>
                <a:gd name="T22" fmla="*/ 0 w 182"/>
                <a:gd name="T23" fmla="*/ 1 h 3"/>
                <a:gd name="T24" fmla="*/ 0 w 182"/>
                <a:gd name="T25" fmla="*/ 1 h 3"/>
                <a:gd name="T26" fmla="*/ 0 w 182"/>
                <a:gd name="T27" fmla="*/ 1 h 3"/>
                <a:gd name="T28" fmla="*/ 0 w 182"/>
                <a:gd name="T29" fmla="*/ 1 h 3"/>
                <a:gd name="T30" fmla="*/ 0 w 182"/>
                <a:gd name="T31" fmla="*/ 1 h 3"/>
                <a:gd name="T32" fmla="*/ 0 w 182"/>
                <a:gd name="T33" fmla="*/ 1 h 3"/>
                <a:gd name="T34" fmla="*/ 0 w 182"/>
                <a:gd name="T35" fmla="*/ 1 h 3"/>
                <a:gd name="T36" fmla="*/ 0 w 182"/>
                <a:gd name="T37" fmla="*/ 1 h 3"/>
                <a:gd name="T38" fmla="*/ 0 w 182"/>
                <a:gd name="T39" fmla="*/ 1 h 3"/>
                <a:gd name="T40" fmla="*/ 0 w 182"/>
                <a:gd name="T41" fmla="*/ 0 h 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3"/>
                <a:gd name="T65" fmla="*/ 182 w 182"/>
                <a:gd name="T66" fmla="*/ 3 h 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3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2"/>
                  </a:lnTo>
                  <a:lnTo>
                    <a:pt x="68" y="2"/>
                  </a:lnTo>
                  <a:lnTo>
                    <a:pt x="91" y="2"/>
                  </a:lnTo>
                  <a:lnTo>
                    <a:pt x="113" y="2"/>
                  </a:lnTo>
                  <a:lnTo>
                    <a:pt x="136" y="2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2"/>
                  </a:lnTo>
                  <a:lnTo>
                    <a:pt x="159" y="3"/>
                  </a:lnTo>
                  <a:lnTo>
                    <a:pt x="137" y="3"/>
                  </a:lnTo>
                  <a:lnTo>
                    <a:pt x="114" y="3"/>
                  </a:lnTo>
                  <a:lnTo>
                    <a:pt x="92" y="3"/>
                  </a:lnTo>
                  <a:lnTo>
                    <a:pt x="70" y="3"/>
                  </a:lnTo>
                  <a:lnTo>
                    <a:pt x="47" y="3"/>
                  </a:lnTo>
                  <a:lnTo>
                    <a:pt x="24" y="3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9" name="Freeform 34"/>
            <p:cNvSpPr>
              <a:spLocks noChangeAspect="1"/>
            </p:cNvSpPr>
            <p:nvPr/>
          </p:nvSpPr>
          <p:spPr bwMode="auto">
            <a:xfrm>
              <a:off x="6861" y="15829"/>
              <a:ext cx="83" cy="1"/>
            </a:xfrm>
            <a:custGeom>
              <a:avLst/>
              <a:gdLst>
                <a:gd name="T0" fmla="*/ 0 w 182"/>
                <a:gd name="T1" fmla="*/ 0 h 3"/>
                <a:gd name="T2" fmla="*/ 0 w 182"/>
                <a:gd name="T3" fmla="*/ 0 h 3"/>
                <a:gd name="T4" fmla="*/ 0 w 182"/>
                <a:gd name="T5" fmla="*/ 0 h 3"/>
                <a:gd name="T6" fmla="*/ 0 w 182"/>
                <a:gd name="T7" fmla="*/ 0 h 3"/>
                <a:gd name="T8" fmla="*/ 0 w 182"/>
                <a:gd name="T9" fmla="*/ 0 h 3"/>
                <a:gd name="T10" fmla="*/ 0 w 182"/>
                <a:gd name="T11" fmla="*/ 0 h 3"/>
                <a:gd name="T12" fmla="*/ 0 w 182"/>
                <a:gd name="T13" fmla="*/ 0 h 3"/>
                <a:gd name="T14" fmla="*/ 0 w 182"/>
                <a:gd name="T15" fmla="*/ 0 h 3"/>
                <a:gd name="T16" fmla="*/ 0 w 182"/>
                <a:gd name="T17" fmla="*/ 0 h 3"/>
                <a:gd name="T18" fmla="*/ 0 w 182"/>
                <a:gd name="T19" fmla="*/ 0 h 3"/>
                <a:gd name="T20" fmla="*/ 0 w 182"/>
                <a:gd name="T21" fmla="*/ 0 h 3"/>
                <a:gd name="T22" fmla="*/ 0 w 182"/>
                <a:gd name="T23" fmla="*/ 0 h 3"/>
                <a:gd name="T24" fmla="*/ 0 w 182"/>
                <a:gd name="T25" fmla="*/ 0 h 3"/>
                <a:gd name="T26" fmla="*/ 0 w 182"/>
                <a:gd name="T27" fmla="*/ 0 h 3"/>
                <a:gd name="T28" fmla="*/ 0 w 182"/>
                <a:gd name="T29" fmla="*/ 0 h 3"/>
                <a:gd name="T30" fmla="*/ 0 w 182"/>
                <a:gd name="T31" fmla="*/ 0 h 3"/>
                <a:gd name="T32" fmla="*/ 0 w 182"/>
                <a:gd name="T33" fmla="*/ 0 h 3"/>
                <a:gd name="T34" fmla="*/ 0 w 182"/>
                <a:gd name="T35" fmla="*/ 0 h 3"/>
                <a:gd name="T36" fmla="*/ 0 w 182"/>
                <a:gd name="T37" fmla="*/ 0 h 3"/>
                <a:gd name="T38" fmla="*/ 0 w 182"/>
                <a:gd name="T39" fmla="*/ 0 h 3"/>
                <a:gd name="T40" fmla="*/ 0 w 182"/>
                <a:gd name="T41" fmla="*/ 0 h 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82"/>
                <a:gd name="T64" fmla="*/ 0 h 3"/>
                <a:gd name="T65" fmla="*/ 182 w 182"/>
                <a:gd name="T66" fmla="*/ 3 h 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82" h="3">
                  <a:moveTo>
                    <a:pt x="0" y="0"/>
                  </a:moveTo>
                  <a:lnTo>
                    <a:pt x="0" y="0"/>
                  </a:lnTo>
                  <a:lnTo>
                    <a:pt x="23" y="1"/>
                  </a:lnTo>
                  <a:lnTo>
                    <a:pt x="45" y="1"/>
                  </a:lnTo>
                  <a:lnTo>
                    <a:pt x="68" y="1"/>
                  </a:lnTo>
                  <a:lnTo>
                    <a:pt x="90" y="1"/>
                  </a:lnTo>
                  <a:lnTo>
                    <a:pt x="113" y="1"/>
                  </a:lnTo>
                  <a:lnTo>
                    <a:pt x="136" y="1"/>
                  </a:lnTo>
                  <a:lnTo>
                    <a:pt x="159" y="1"/>
                  </a:lnTo>
                  <a:lnTo>
                    <a:pt x="182" y="0"/>
                  </a:lnTo>
                  <a:lnTo>
                    <a:pt x="182" y="2"/>
                  </a:lnTo>
                  <a:lnTo>
                    <a:pt x="159" y="3"/>
                  </a:lnTo>
                  <a:lnTo>
                    <a:pt x="136" y="3"/>
                  </a:lnTo>
                  <a:lnTo>
                    <a:pt x="114" y="3"/>
                  </a:lnTo>
                  <a:lnTo>
                    <a:pt x="91" y="3"/>
                  </a:lnTo>
                  <a:lnTo>
                    <a:pt x="69" y="3"/>
                  </a:lnTo>
                  <a:lnTo>
                    <a:pt x="46" y="3"/>
                  </a:lnTo>
                  <a:lnTo>
                    <a:pt x="23" y="3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0" name="Freeform 35"/>
            <p:cNvSpPr>
              <a:spLocks noChangeAspect="1"/>
            </p:cNvSpPr>
            <p:nvPr/>
          </p:nvSpPr>
          <p:spPr bwMode="auto">
            <a:xfrm>
              <a:off x="6820" y="15740"/>
              <a:ext cx="135" cy="7"/>
            </a:xfrm>
            <a:custGeom>
              <a:avLst/>
              <a:gdLst>
                <a:gd name="T0" fmla="*/ 0 w 299"/>
                <a:gd name="T1" fmla="*/ 0 h 16"/>
                <a:gd name="T2" fmla="*/ 0 w 299"/>
                <a:gd name="T3" fmla="*/ 0 h 16"/>
                <a:gd name="T4" fmla="*/ 0 w 299"/>
                <a:gd name="T5" fmla="*/ 0 h 16"/>
                <a:gd name="T6" fmla="*/ 0 w 299"/>
                <a:gd name="T7" fmla="*/ 0 h 16"/>
                <a:gd name="T8" fmla="*/ 0 w 299"/>
                <a:gd name="T9" fmla="*/ 0 h 16"/>
                <a:gd name="T10" fmla="*/ 0 w 299"/>
                <a:gd name="T11" fmla="*/ 0 h 16"/>
                <a:gd name="T12" fmla="*/ 0 w 299"/>
                <a:gd name="T13" fmla="*/ 0 h 16"/>
                <a:gd name="T14" fmla="*/ 0 w 299"/>
                <a:gd name="T15" fmla="*/ 0 h 16"/>
                <a:gd name="T16" fmla="*/ 0 w 299"/>
                <a:gd name="T17" fmla="*/ 0 h 16"/>
                <a:gd name="T18" fmla="*/ 0 w 299"/>
                <a:gd name="T19" fmla="*/ 0 h 16"/>
                <a:gd name="T20" fmla="*/ 0 w 299"/>
                <a:gd name="T21" fmla="*/ 0 h 16"/>
                <a:gd name="T22" fmla="*/ 0 w 299"/>
                <a:gd name="T23" fmla="*/ 0 h 16"/>
                <a:gd name="T24" fmla="*/ 0 w 299"/>
                <a:gd name="T25" fmla="*/ 0 h 16"/>
                <a:gd name="T26" fmla="*/ 0 w 299"/>
                <a:gd name="T27" fmla="*/ 0 h 16"/>
                <a:gd name="T28" fmla="*/ 0 w 299"/>
                <a:gd name="T29" fmla="*/ 0 h 16"/>
                <a:gd name="T30" fmla="*/ 0 w 299"/>
                <a:gd name="T31" fmla="*/ 0 h 16"/>
                <a:gd name="T32" fmla="*/ 0 w 299"/>
                <a:gd name="T33" fmla="*/ 0 h 16"/>
                <a:gd name="T34" fmla="*/ 0 w 299"/>
                <a:gd name="T35" fmla="*/ 0 h 16"/>
                <a:gd name="T36" fmla="*/ 0 w 299"/>
                <a:gd name="T37" fmla="*/ 0 h 16"/>
                <a:gd name="T38" fmla="*/ 0 w 299"/>
                <a:gd name="T39" fmla="*/ 0 h 16"/>
                <a:gd name="T40" fmla="*/ 0 w 299"/>
                <a:gd name="T41" fmla="*/ 0 h 16"/>
                <a:gd name="T42" fmla="*/ 0 w 299"/>
                <a:gd name="T43" fmla="*/ 0 h 16"/>
                <a:gd name="T44" fmla="*/ 0 w 299"/>
                <a:gd name="T45" fmla="*/ 0 h 16"/>
                <a:gd name="T46" fmla="*/ 0 w 299"/>
                <a:gd name="T47" fmla="*/ 0 h 16"/>
                <a:gd name="T48" fmla="*/ 0 w 299"/>
                <a:gd name="T49" fmla="*/ 0 h 16"/>
                <a:gd name="T50" fmla="*/ 0 w 299"/>
                <a:gd name="T51" fmla="*/ 0 h 16"/>
                <a:gd name="T52" fmla="*/ 0 w 299"/>
                <a:gd name="T53" fmla="*/ 0 h 16"/>
                <a:gd name="T54" fmla="*/ 0 w 299"/>
                <a:gd name="T55" fmla="*/ 0 h 16"/>
                <a:gd name="T56" fmla="*/ 0 w 299"/>
                <a:gd name="T57" fmla="*/ 0 h 16"/>
                <a:gd name="T58" fmla="*/ 0 w 299"/>
                <a:gd name="T59" fmla="*/ 0 h 16"/>
                <a:gd name="T60" fmla="*/ 0 w 299"/>
                <a:gd name="T61" fmla="*/ 0 h 16"/>
                <a:gd name="T62" fmla="*/ 0 w 299"/>
                <a:gd name="T63" fmla="*/ 0 h 16"/>
                <a:gd name="T64" fmla="*/ 0 w 299"/>
                <a:gd name="T65" fmla="*/ 0 h 16"/>
                <a:gd name="T66" fmla="*/ 0 w 299"/>
                <a:gd name="T67" fmla="*/ 0 h 16"/>
                <a:gd name="T68" fmla="*/ 0 w 299"/>
                <a:gd name="T69" fmla="*/ 0 h 16"/>
                <a:gd name="T70" fmla="*/ 0 w 299"/>
                <a:gd name="T71" fmla="*/ 0 h 16"/>
                <a:gd name="T72" fmla="*/ 0 w 299"/>
                <a:gd name="T73" fmla="*/ 0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99"/>
                <a:gd name="T112" fmla="*/ 0 h 16"/>
                <a:gd name="T113" fmla="*/ 299 w 299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99" h="16">
                  <a:moveTo>
                    <a:pt x="148" y="0"/>
                  </a:moveTo>
                  <a:lnTo>
                    <a:pt x="148" y="0"/>
                  </a:lnTo>
                  <a:lnTo>
                    <a:pt x="178" y="0"/>
                  </a:lnTo>
                  <a:lnTo>
                    <a:pt x="206" y="2"/>
                  </a:lnTo>
                  <a:lnTo>
                    <a:pt x="233" y="3"/>
                  </a:lnTo>
                  <a:lnTo>
                    <a:pt x="254" y="4"/>
                  </a:lnTo>
                  <a:lnTo>
                    <a:pt x="273" y="5"/>
                  </a:lnTo>
                  <a:lnTo>
                    <a:pt x="288" y="6"/>
                  </a:lnTo>
                  <a:lnTo>
                    <a:pt x="296" y="8"/>
                  </a:lnTo>
                  <a:lnTo>
                    <a:pt x="299" y="10"/>
                  </a:lnTo>
                  <a:lnTo>
                    <a:pt x="296" y="11"/>
                  </a:lnTo>
                  <a:lnTo>
                    <a:pt x="288" y="13"/>
                  </a:lnTo>
                  <a:lnTo>
                    <a:pt x="273" y="14"/>
                  </a:lnTo>
                  <a:lnTo>
                    <a:pt x="254" y="14"/>
                  </a:lnTo>
                  <a:lnTo>
                    <a:pt x="233" y="15"/>
                  </a:lnTo>
                  <a:lnTo>
                    <a:pt x="206" y="16"/>
                  </a:lnTo>
                  <a:lnTo>
                    <a:pt x="178" y="16"/>
                  </a:lnTo>
                  <a:lnTo>
                    <a:pt x="148" y="16"/>
                  </a:lnTo>
                  <a:lnTo>
                    <a:pt x="118" y="16"/>
                  </a:lnTo>
                  <a:lnTo>
                    <a:pt x="91" y="16"/>
                  </a:lnTo>
                  <a:lnTo>
                    <a:pt x="65" y="15"/>
                  </a:lnTo>
                  <a:lnTo>
                    <a:pt x="44" y="14"/>
                  </a:lnTo>
                  <a:lnTo>
                    <a:pt x="25" y="14"/>
                  </a:lnTo>
                  <a:lnTo>
                    <a:pt x="11" y="13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3" y="8"/>
                  </a:lnTo>
                  <a:lnTo>
                    <a:pt x="11" y="6"/>
                  </a:lnTo>
                  <a:lnTo>
                    <a:pt x="25" y="5"/>
                  </a:lnTo>
                  <a:lnTo>
                    <a:pt x="44" y="3"/>
                  </a:lnTo>
                  <a:lnTo>
                    <a:pt x="65" y="2"/>
                  </a:lnTo>
                  <a:lnTo>
                    <a:pt x="91" y="2"/>
                  </a:lnTo>
                  <a:lnTo>
                    <a:pt x="118" y="0"/>
                  </a:lnTo>
                  <a:lnTo>
                    <a:pt x="1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1" name="Freeform 36"/>
            <p:cNvSpPr>
              <a:spLocks noChangeAspect="1"/>
            </p:cNvSpPr>
            <p:nvPr/>
          </p:nvSpPr>
          <p:spPr bwMode="auto">
            <a:xfrm>
              <a:off x="6825" y="15741"/>
              <a:ext cx="124" cy="3"/>
            </a:xfrm>
            <a:custGeom>
              <a:avLst/>
              <a:gdLst>
                <a:gd name="T0" fmla="*/ 0 w 278"/>
                <a:gd name="T1" fmla="*/ 0 h 7"/>
                <a:gd name="T2" fmla="*/ 0 w 278"/>
                <a:gd name="T3" fmla="*/ 0 h 7"/>
                <a:gd name="T4" fmla="*/ 0 w 278"/>
                <a:gd name="T5" fmla="*/ 0 h 7"/>
                <a:gd name="T6" fmla="*/ 0 w 278"/>
                <a:gd name="T7" fmla="*/ 0 h 7"/>
                <a:gd name="T8" fmla="*/ 0 w 278"/>
                <a:gd name="T9" fmla="*/ 0 h 7"/>
                <a:gd name="T10" fmla="*/ 0 w 278"/>
                <a:gd name="T11" fmla="*/ 0 h 7"/>
                <a:gd name="T12" fmla="*/ 0 w 278"/>
                <a:gd name="T13" fmla="*/ 0 h 7"/>
                <a:gd name="T14" fmla="*/ 0 w 278"/>
                <a:gd name="T15" fmla="*/ 0 h 7"/>
                <a:gd name="T16" fmla="*/ 0 w 278"/>
                <a:gd name="T17" fmla="*/ 0 h 7"/>
                <a:gd name="T18" fmla="*/ 0 w 278"/>
                <a:gd name="T19" fmla="*/ 0 h 7"/>
                <a:gd name="T20" fmla="*/ 0 w 278"/>
                <a:gd name="T21" fmla="*/ 0 h 7"/>
                <a:gd name="T22" fmla="*/ 0 w 278"/>
                <a:gd name="T23" fmla="*/ 0 h 7"/>
                <a:gd name="T24" fmla="*/ 0 w 278"/>
                <a:gd name="T25" fmla="*/ 0 h 7"/>
                <a:gd name="T26" fmla="*/ 0 w 278"/>
                <a:gd name="T27" fmla="*/ 0 h 7"/>
                <a:gd name="T28" fmla="*/ 0 w 278"/>
                <a:gd name="T29" fmla="*/ 0 h 7"/>
                <a:gd name="T30" fmla="*/ 0 w 278"/>
                <a:gd name="T31" fmla="*/ 0 h 7"/>
                <a:gd name="T32" fmla="*/ 0 w 278"/>
                <a:gd name="T33" fmla="*/ 0 h 7"/>
                <a:gd name="T34" fmla="*/ 0 w 278"/>
                <a:gd name="T35" fmla="*/ 0 h 7"/>
                <a:gd name="T36" fmla="*/ 0 w 278"/>
                <a:gd name="T37" fmla="*/ 0 h 7"/>
                <a:gd name="T38" fmla="*/ 0 w 278"/>
                <a:gd name="T39" fmla="*/ 0 h 7"/>
                <a:gd name="T40" fmla="*/ 0 w 278"/>
                <a:gd name="T41" fmla="*/ 0 h 7"/>
                <a:gd name="T42" fmla="*/ 0 w 278"/>
                <a:gd name="T43" fmla="*/ 0 h 7"/>
                <a:gd name="T44" fmla="*/ 0 w 278"/>
                <a:gd name="T45" fmla="*/ 0 h 7"/>
                <a:gd name="T46" fmla="*/ 0 w 278"/>
                <a:gd name="T47" fmla="*/ 0 h 7"/>
                <a:gd name="T48" fmla="*/ 0 w 278"/>
                <a:gd name="T49" fmla="*/ 0 h 7"/>
                <a:gd name="T50" fmla="*/ 0 w 278"/>
                <a:gd name="T51" fmla="*/ 0 h 7"/>
                <a:gd name="T52" fmla="*/ 0 w 278"/>
                <a:gd name="T53" fmla="*/ 0 h 7"/>
                <a:gd name="T54" fmla="*/ 0 w 278"/>
                <a:gd name="T55" fmla="*/ 0 h 7"/>
                <a:gd name="T56" fmla="*/ 0 w 278"/>
                <a:gd name="T57" fmla="*/ 0 h 7"/>
                <a:gd name="T58" fmla="*/ 0 w 278"/>
                <a:gd name="T59" fmla="*/ 0 h 7"/>
                <a:gd name="T60" fmla="*/ 0 w 278"/>
                <a:gd name="T61" fmla="*/ 0 h 7"/>
                <a:gd name="T62" fmla="*/ 0 w 278"/>
                <a:gd name="T63" fmla="*/ 0 h 7"/>
                <a:gd name="T64" fmla="*/ 0 w 278"/>
                <a:gd name="T65" fmla="*/ 0 h 7"/>
                <a:gd name="T66" fmla="*/ 0 w 278"/>
                <a:gd name="T67" fmla="*/ 0 h 7"/>
                <a:gd name="T68" fmla="*/ 0 w 278"/>
                <a:gd name="T69" fmla="*/ 0 h 7"/>
                <a:gd name="T70" fmla="*/ 0 w 278"/>
                <a:gd name="T71" fmla="*/ 0 h 7"/>
                <a:gd name="T72" fmla="*/ 0 w 278"/>
                <a:gd name="T73" fmla="*/ 0 h 7"/>
                <a:gd name="T74" fmla="*/ 0 w 278"/>
                <a:gd name="T75" fmla="*/ 0 h 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78"/>
                <a:gd name="T115" fmla="*/ 0 h 7"/>
                <a:gd name="T116" fmla="*/ 278 w 278"/>
                <a:gd name="T117" fmla="*/ 7 h 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78" h="7">
                  <a:moveTo>
                    <a:pt x="0" y="6"/>
                  </a:moveTo>
                  <a:lnTo>
                    <a:pt x="14" y="7"/>
                  </a:lnTo>
                  <a:lnTo>
                    <a:pt x="31" y="6"/>
                  </a:lnTo>
                  <a:lnTo>
                    <a:pt x="50" y="4"/>
                  </a:lnTo>
                  <a:lnTo>
                    <a:pt x="70" y="3"/>
                  </a:lnTo>
                  <a:lnTo>
                    <a:pt x="92" y="3"/>
                  </a:lnTo>
                  <a:lnTo>
                    <a:pt x="114" y="2"/>
                  </a:lnTo>
                  <a:lnTo>
                    <a:pt x="136" y="2"/>
                  </a:lnTo>
                  <a:lnTo>
                    <a:pt x="157" y="3"/>
                  </a:lnTo>
                  <a:lnTo>
                    <a:pt x="176" y="3"/>
                  </a:lnTo>
                  <a:lnTo>
                    <a:pt x="196" y="3"/>
                  </a:lnTo>
                  <a:lnTo>
                    <a:pt x="213" y="3"/>
                  </a:lnTo>
                  <a:lnTo>
                    <a:pt x="229" y="4"/>
                  </a:lnTo>
                  <a:lnTo>
                    <a:pt x="242" y="4"/>
                  </a:lnTo>
                  <a:lnTo>
                    <a:pt x="252" y="6"/>
                  </a:lnTo>
                  <a:lnTo>
                    <a:pt x="259" y="7"/>
                  </a:lnTo>
                  <a:lnTo>
                    <a:pt x="264" y="7"/>
                  </a:lnTo>
                  <a:lnTo>
                    <a:pt x="266" y="7"/>
                  </a:lnTo>
                  <a:lnTo>
                    <a:pt x="278" y="6"/>
                  </a:lnTo>
                  <a:lnTo>
                    <a:pt x="277" y="6"/>
                  </a:lnTo>
                  <a:lnTo>
                    <a:pt x="272" y="6"/>
                  </a:lnTo>
                  <a:lnTo>
                    <a:pt x="265" y="4"/>
                  </a:lnTo>
                  <a:lnTo>
                    <a:pt x="256" y="3"/>
                  </a:lnTo>
                  <a:lnTo>
                    <a:pt x="243" y="3"/>
                  </a:lnTo>
                  <a:lnTo>
                    <a:pt x="228" y="2"/>
                  </a:lnTo>
                  <a:lnTo>
                    <a:pt x="212" y="1"/>
                  </a:lnTo>
                  <a:lnTo>
                    <a:pt x="194" y="0"/>
                  </a:lnTo>
                  <a:lnTo>
                    <a:pt x="173" y="0"/>
                  </a:lnTo>
                  <a:lnTo>
                    <a:pt x="151" y="0"/>
                  </a:lnTo>
                  <a:lnTo>
                    <a:pt x="128" y="0"/>
                  </a:lnTo>
                  <a:lnTo>
                    <a:pt x="104" y="0"/>
                  </a:lnTo>
                  <a:lnTo>
                    <a:pt x="78" y="1"/>
                  </a:lnTo>
                  <a:lnTo>
                    <a:pt x="53" y="2"/>
                  </a:lnTo>
                  <a:lnTo>
                    <a:pt x="27" y="3"/>
                  </a:lnTo>
                  <a:lnTo>
                    <a:pt x="0" y="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2" name="Freeform 37"/>
            <p:cNvSpPr>
              <a:spLocks noChangeAspect="1" noEditPoints="1"/>
            </p:cNvSpPr>
            <p:nvPr/>
          </p:nvSpPr>
          <p:spPr bwMode="auto">
            <a:xfrm>
              <a:off x="6771" y="15890"/>
              <a:ext cx="236" cy="118"/>
            </a:xfrm>
            <a:custGeom>
              <a:avLst/>
              <a:gdLst>
                <a:gd name="T0" fmla="*/ 0 w 524"/>
                <a:gd name="T1" fmla="*/ 0 h 260"/>
                <a:gd name="T2" fmla="*/ 0 w 524"/>
                <a:gd name="T3" fmla="*/ 0 h 260"/>
                <a:gd name="T4" fmla="*/ 0 w 524"/>
                <a:gd name="T5" fmla="*/ 0 h 260"/>
                <a:gd name="T6" fmla="*/ 0 w 524"/>
                <a:gd name="T7" fmla="*/ 0 h 260"/>
                <a:gd name="T8" fmla="*/ 0 w 524"/>
                <a:gd name="T9" fmla="*/ 0 h 260"/>
                <a:gd name="T10" fmla="*/ 0 w 524"/>
                <a:gd name="T11" fmla="*/ 0 h 260"/>
                <a:gd name="T12" fmla="*/ 0 w 524"/>
                <a:gd name="T13" fmla="*/ 0 h 260"/>
                <a:gd name="T14" fmla="*/ 0 w 524"/>
                <a:gd name="T15" fmla="*/ 0 h 260"/>
                <a:gd name="T16" fmla="*/ 0 w 524"/>
                <a:gd name="T17" fmla="*/ 0 h 260"/>
                <a:gd name="T18" fmla="*/ 0 w 524"/>
                <a:gd name="T19" fmla="*/ 0 h 260"/>
                <a:gd name="T20" fmla="*/ 0 w 524"/>
                <a:gd name="T21" fmla="*/ 0 h 260"/>
                <a:gd name="T22" fmla="*/ 0 w 524"/>
                <a:gd name="T23" fmla="*/ 0 h 260"/>
                <a:gd name="T24" fmla="*/ 0 w 524"/>
                <a:gd name="T25" fmla="*/ 0 h 260"/>
                <a:gd name="T26" fmla="*/ 0 w 524"/>
                <a:gd name="T27" fmla="*/ 0 h 260"/>
                <a:gd name="T28" fmla="*/ 0 w 524"/>
                <a:gd name="T29" fmla="*/ 0 h 260"/>
                <a:gd name="T30" fmla="*/ 0 w 524"/>
                <a:gd name="T31" fmla="*/ 0 h 260"/>
                <a:gd name="T32" fmla="*/ 0 w 524"/>
                <a:gd name="T33" fmla="*/ 0 h 260"/>
                <a:gd name="T34" fmla="*/ 0 w 524"/>
                <a:gd name="T35" fmla="*/ 0 h 260"/>
                <a:gd name="T36" fmla="*/ 0 w 524"/>
                <a:gd name="T37" fmla="*/ 0 h 260"/>
                <a:gd name="T38" fmla="*/ 0 w 524"/>
                <a:gd name="T39" fmla="*/ 0 h 260"/>
                <a:gd name="T40" fmla="*/ 0 w 524"/>
                <a:gd name="T41" fmla="*/ 0 h 260"/>
                <a:gd name="T42" fmla="*/ 0 w 524"/>
                <a:gd name="T43" fmla="*/ 0 h 260"/>
                <a:gd name="T44" fmla="*/ 0 w 524"/>
                <a:gd name="T45" fmla="*/ 0 h 260"/>
                <a:gd name="T46" fmla="*/ 0 w 524"/>
                <a:gd name="T47" fmla="*/ 0 h 260"/>
                <a:gd name="T48" fmla="*/ 0 w 524"/>
                <a:gd name="T49" fmla="*/ 0 h 260"/>
                <a:gd name="T50" fmla="*/ 0 w 524"/>
                <a:gd name="T51" fmla="*/ 0 h 260"/>
                <a:gd name="T52" fmla="*/ 0 w 524"/>
                <a:gd name="T53" fmla="*/ 0 h 260"/>
                <a:gd name="T54" fmla="*/ 0 w 524"/>
                <a:gd name="T55" fmla="*/ 0 h 260"/>
                <a:gd name="T56" fmla="*/ 0 w 524"/>
                <a:gd name="T57" fmla="*/ 0 h 260"/>
                <a:gd name="T58" fmla="*/ 0 w 524"/>
                <a:gd name="T59" fmla="*/ 0 h 260"/>
                <a:gd name="T60" fmla="*/ 0 w 524"/>
                <a:gd name="T61" fmla="*/ 0 h 260"/>
                <a:gd name="T62" fmla="*/ 0 w 524"/>
                <a:gd name="T63" fmla="*/ 0 h 260"/>
                <a:gd name="T64" fmla="*/ 0 w 524"/>
                <a:gd name="T65" fmla="*/ 0 h 260"/>
                <a:gd name="T66" fmla="*/ 0 w 524"/>
                <a:gd name="T67" fmla="*/ 0 h 260"/>
                <a:gd name="T68" fmla="*/ 0 w 524"/>
                <a:gd name="T69" fmla="*/ 0 h 260"/>
                <a:gd name="T70" fmla="*/ 0 w 524"/>
                <a:gd name="T71" fmla="*/ 0 h 260"/>
                <a:gd name="T72" fmla="*/ 0 w 524"/>
                <a:gd name="T73" fmla="*/ 0 h 260"/>
                <a:gd name="T74" fmla="*/ 0 w 524"/>
                <a:gd name="T75" fmla="*/ 0 h 260"/>
                <a:gd name="T76" fmla="*/ 0 w 524"/>
                <a:gd name="T77" fmla="*/ 0 h 260"/>
                <a:gd name="T78" fmla="*/ 0 w 524"/>
                <a:gd name="T79" fmla="*/ 0 h 260"/>
                <a:gd name="T80" fmla="*/ 0 w 524"/>
                <a:gd name="T81" fmla="*/ 0 h 260"/>
                <a:gd name="T82" fmla="*/ 0 w 524"/>
                <a:gd name="T83" fmla="*/ 0 h 260"/>
                <a:gd name="T84" fmla="*/ 0 w 524"/>
                <a:gd name="T85" fmla="*/ 0 h 260"/>
                <a:gd name="T86" fmla="*/ 0 w 524"/>
                <a:gd name="T87" fmla="*/ 0 h 260"/>
                <a:gd name="T88" fmla="*/ 0 w 524"/>
                <a:gd name="T89" fmla="*/ 0 h 260"/>
                <a:gd name="T90" fmla="*/ 0 w 524"/>
                <a:gd name="T91" fmla="*/ 0 h 260"/>
                <a:gd name="T92" fmla="*/ 0 w 524"/>
                <a:gd name="T93" fmla="*/ 0 h 260"/>
                <a:gd name="T94" fmla="*/ 0 w 524"/>
                <a:gd name="T95" fmla="*/ 0 h 260"/>
                <a:gd name="T96" fmla="*/ 0 w 524"/>
                <a:gd name="T97" fmla="*/ 0 h 260"/>
                <a:gd name="T98" fmla="*/ 0 w 524"/>
                <a:gd name="T99" fmla="*/ 0 h 260"/>
                <a:gd name="T100" fmla="*/ 0 w 524"/>
                <a:gd name="T101" fmla="*/ 0 h 260"/>
                <a:gd name="T102" fmla="*/ 0 w 524"/>
                <a:gd name="T103" fmla="*/ 0 h 260"/>
                <a:gd name="T104" fmla="*/ 0 w 524"/>
                <a:gd name="T105" fmla="*/ 0 h 260"/>
                <a:gd name="T106" fmla="*/ 0 w 524"/>
                <a:gd name="T107" fmla="*/ 0 h 260"/>
                <a:gd name="T108" fmla="*/ 0 w 524"/>
                <a:gd name="T109" fmla="*/ 0 h 260"/>
                <a:gd name="T110" fmla="*/ 0 w 524"/>
                <a:gd name="T111" fmla="*/ 0 h 260"/>
                <a:gd name="T112" fmla="*/ 0 w 524"/>
                <a:gd name="T113" fmla="*/ 0 h 260"/>
                <a:gd name="T114" fmla="*/ 0 w 524"/>
                <a:gd name="T115" fmla="*/ 0 h 260"/>
                <a:gd name="T116" fmla="*/ 0 w 524"/>
                <a:gd name="T117" fmla="*/ 0 h 26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24"/>
                <a:gd name="T178" fmla="*/ 0 h 260"/>
                <a:gd name="T179" fmla="*/ 524 w 524"/>
                <a:gd name="T180" fmla="*/ 260 h 26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24" h="260">
                  <a:moveTo>
                    <a:pt x="337" y="220"/>
                  </a:moveTo>
                  <a:lnTo>
                    <a:pt x="336" y="220"/>
                  </a:lnTo>
                  <a:lnTo>
                    <a:pt x="335" y="221"/>
                  </a:lnTo>
                  <a:lnTo>
                    <a:pt x="334" y="222"/>
                  </a:lnTo>
                  <a:lnTo>
                    <a:pt x="334" y="223"/>
                  </a:lnTo>
                  <a:lnTo>
                    <a:pt x="334" y="237"/>
                  </a:lnTo>
                  <a:lnTo>
                    <a:pt x="334" y="238"/>
                  </a:lnTo>
                  <a:lnTo>
                    <a:pt x="335" y="240"/>
                  </a:lnTo>
                  <a:lnTo>
                    <a:pt x="336" y="242"/>
                  </a:lnTo>
                  <a:lnTo>
                    <a:pt x="337" y="242"/>
                  </a:lnTo>
                  <a:lnTo>
                    <a:pt x="444" y="242"/>
                  </a:lnTo>
                  <a:lnTo>
                    <a:pt x="445" y="242"/>
                  </a:lnTo>
                  <a:lnTo>
                    <a:pt x="447" y="240"/>
                  </a:lnTo>
                  <a:lnTo>
                    <a:pt x="448" y="238"/>
                  </a:lnTo>
                  <a:lnTo>
                    <a:pt x="448" y="237"/>
                  </a:lnTo>
                  <a:lnTo>
                    <a:pt x="448" y="223"/>
                  </a:lnTo>
                  <a:lnTo>
                    <a:pt x="448" y="222"/>
                  </a:lnTo>
                  <a:lnTo>
                    <a:pt x="447" y="221"/>
                  </a:lnTo>
                  <a:lnTo>
                    <a:pt x="445" y="220"/>
                  </a:lnTo>
                  <a:lnTo>
                    <a:pt x="444" y="220"/>
                  </a:lnTo>
                  <a:lnTo>
                    <a:pt x="337" y="220"/>
                  </a:lnTo>
                  <a:close/>
                  <a:moveTo>
                    <a:pt x="82" y="221"/>
                  </a:moveTo>
                  <a:lnTo>
                    <a:pt x="81" y="221"/>
                  </a:lnTo>
                  <a:lnTo>
                    <a:pt x="79" y="222"/>
                  </a:lnTo>
                  <a:lnTo>
                    <a:pt x="78" y="223"/>
                  </a:lnTo>
                  <a:lnTo>
                    <a:pt x="78" y="224"/>
                  </a:lnTo>
                  <a:lnTo>
                    <a:pt x="78" y="238"/>
                  </a:lnTo>
                  <a:lnTo>
                    <a:pt x="78" y="239"/>
                  </a:lnTo>
                  <a:lnTo>
                    <a:pt x="79" y="242"/>
                  </a:lnTo>
                  <a:lnTo>
                    <a:pt x="81" y="243"/>
                  </a:lnTo>
                  <a:lnTo>
                    <a:pt x="82" y="243"/>
                  </a:lnTo>
                  <a:lnTo>
                    <a:pt x="188" y="243"/>
                  </a:lnTo>
                  <a:lnTo>
                    <a:pt x="191" y="243"/>
                  </a:lnTo>
                  <a:lnTo>
                    <a:pt x="192" y="242"/>
                  </a:lnTo>
                  <a:lnTo>
                    <a:pt x="193" y="239"/>
                  </a:lnTo>
                  <a:lnTo>
                    <a:pt x="193" y="238"/>
                  </a:lnTo>
                  <a:lnTo>
                    <a:pt x="193" y="224"/>
                  </a:lnTo>
                  <a:lnTo>
                    <a:pt x="193" y="223"/>
                  </a:lnTo>
                  <a:lnTo>
                    <a:pt x="192" y="222"/>
                  </a:lnTo>
                  <a:lnTo>
                    <a:pt x="191" y="221"/>
                  </a:lnTo>
                  <a:lnTo>
                    <a:pt x="188" y="221"/>
                  </a:lnTo>
                  <a:lnTo>
                    <a:pt x="82" y="221"/>
                  </a:lnTo>
                  <a:close/>
                  <a:moveTo>
                    <a:pt x="284" y="88"/>
                  </a:moveTo>
                  <a:lnTo>
                    <a:pt x="284" y="101"/>
                  </a:lnTo>
                  <a:lnTo>
                    <a:pt x="322" y="101"/>
                  </a:lnTo>
                  <a:lnTo>
                    <a:pt x="322" y="88"/>
                  </a:lnTo>
                  <a:lnTo>
                    <a:pt x="284" y="88"/>
                  </a:lnTo>
                  <a:close/>
                  <a:moveTo>
                    <a:pt x="217" y="88"/>
                  </a:moveTo>
                  <a:lnTo>
                    <a:pt x="217" y="101"/>
                  </a:lnTo>
                  <a:lnTo>
                    <a:pt x="256" y="101"/>
                  </a:lnTo>
                  <a:lnTo>
                    <a:pt x="256" y="88"/>
                  </a:lnTo>
                  <a:lnTo>
                    <a:pt x="217" y="88"/>
                  </a:lnTo>
                  <a:close/>
                  <a:moveTo>
                    <a:pt x="417" y="161"/>
                  </a:moveTo>
                  <a:lnTo>
                    <a:pt x="414" y="152"/>
                  </a:lnTo>
                  <a:lnTo>
                    <a:pt x="410" y="144"/>
                  </a:lnTo>
                  <a:lnTo>
                    <a:pt x="402" y="139"/>
                  </a:lnTo>
                  <a:lnTo>
                    <a:pt x="391" y="137"/>
                  </a:lnTo>
                  <a:lnTo>
                    <a:pt x="389" y="137"/>
                  </a:lnTo>
                  <a:lnTo>
                    <a:pt x="385" y="138"/>
                  </a:lnTo>
                  <a:lnTo>
                    <a:pt x="382" y="138"/>
                  </a:lnTo>
                  <a:lnTo>
                    <a:pt x="380" y="139"/>
                  </a:lnTo>
                  <a:lnTo>
                    <a:pt x="377" y="139"/>
                  </a:lnTo>
                  <a:lnTo>
                    <a:pt x="373" y="136"/>
                  </a:lnTo>
                  <a:lnTo>
                    <a:pt x="369" y="133"/>
                  </a:lnTo>
                  <a:lnTo>
                    <a:pt x="366" y="132"/>
                  </a:lnTo>
                  <a:lnTo>
                    <a:pt x="367" y="134"/>
                  </a:lnTo>
                  <a:lnTo>
                    <a:pt x="369" y="139"/>
                  </a:lnTo>
                  <a:lnTo>
                    <a:pt x="372" y="145"/>
                  </a:lnTo>
                  <a:lnTo>
                    <a:pt x="373" y="147"/>
                  </a:lnTo>
                  <a:lnTo>
                    <a:pt x="371" y="151"/>
                  </a:lnTo>
                  <a:lnTo>
                    <a:pt x="369" y="153"/>
                  </a:lnTo>
                  <a:lnTo>
                    <a:pt x="368" y="156"/>
                  </a:lnTo>
                  <a:lnTo>
                    <a:pt x="368" y="160"/>
                  </a:lnTo>
                  <a:lnTo>
                    <a:pt x="371" y="170"/>
                  </a:lnTo>
                  <a:lnTo>
                    <a:pt x="375" y="178"/>
                  </a:lnTo>
                  <a:lnTo>
                    <a:pt x="382" y="183"/>
                  </a:lnTo>
                  <a:lnTo>
                    <a:pt x="391" y="185"/>
                  </a:lnTo>
                  <a:lnTo>
                    <a:pt x="402" y="183"/>
                  </a:lnTo>
                  <a:lnTo>
                    <a:pt x="410" y="178"/>
                  </a:lnTo>
                  <a:lnTo>
                    <a:pt x="414" y="170"/>
                  </a:lnTo>
                  <a:lnTo>
                    <a:pt x="417" y="161"/>
                  </a:lnTo>
                  <a:close/>
                  <a:moveTo>
                    <a:pt x="137" y="184"/>
                  </a:moveTo>
                  <a:lnTo>
                    <a:pt x="146" y="182"/>
                  </a:lnTo>
                  <a:lnTo>
                    <a:pt x="154" y="176"/>
                  </a:lnTo>
                  <a:lnTo>
                    <a:pt x="159" y="168"/>
                  </a:lnTo>
                  <a:lnTo>
                    <a:pt x="161" y="159"/>
                  </a:lnTo>
                  <a:lnTo>
                    <a:pt x="161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59" y="147"/>
                  </a:lnTo>
                  <a:lnTo>
                    <a:pt x="160" y="145"/>
                  </a:lnTo>
                  <a:lnTo>
                    <a:pt x="162" y="140"/>
                  </a:lnTo>
                  <a:lnTo>
                    <a:pt x="165" y="136"/>
                  </a:lnTo>
                  <a:lnTo>
                    <a:pt x="165" y="133"/>
                  </a:lnTo>
                  <a:lnTo>
                    <a:pt x="163" y="134"/>
                  </a:lnTo>
                  <a:lnTo>
                    <a:pt x="159" y="137"/>
                  </a:lnTo>
                  <a:lnTo>
                    <a:pt x="153" y="139"/>
                  </a:lnTo>
                  <a:lnTo>
                    <a:pt x="150" y="140"/>
                  </a:lnTo>
                  <a:lnTo>
                    <a:pt x="148" y="138"/>
                  </a:lnTo>
                  <a:lnTo>
                    <a:pt x="145" y="136"/>
                  </a:lnTo>
                  <a:lnTo>
                    <a:pt x="141" y="134"/>
                  </a:lnTo>
                  <a:lnTo>
                    <a:pt x="137" y="134"/>
                  </a:lnTo>
                  <a:lnTo>
                    <a:pt x="127" y="137"/>
                  </a:lnTo>
                  <a:lnTo>
                    <a:pt x="120" y="141"/>
                  </a:lnTo>
                  <a:lnTo>
                    <a:pt x="116" y="149"/>
                  </a:lnTo>
                  <a:lnTo>
                    <a:pt x="114" y="159"/>
                  </a:lnTo>
                  <a:lnTo>
                    <a:pt x="116" y="168"/>
                  </a:lnTo>
                  <a:lnTo>
                    <a:pt x="120" y="176"/>
                  </a:lnTo>
                  <a:lnTo>
                    <a:pt x="127" y="182"/>
                  </a:lnTo>
                  <a:lnTo>
                    <a:pt x="137" y="184"/>
                  </a:lnTo>
                  <a:close/>
                  <a:moveTo>
                    <a:pt x="390" y="111"/>
                  </a:moveTo>
                  <a:lnTo>
                    <a:pt x="380" y="113"/>
                  </a:lnTo>
                  <a:lnTo>
                    <a:pt x="369" y="115"/>
                  </a:lnTo>
                  <a:lnTo>
                    <a:pt x="361" y="121"/>
                  </a:lnTo>
                  <a:lnTo>
                    <a:pt x="353" y="126"/>
                  </a:lnTo>
                  <a:lnTo>
                    <a:pt x="347" y="134"/>
                  </a:lnTo>
                  <a:lnTo>
                    <a:pt x="343" y="143"/>
                  </a:lnTo>
                  <a:lnTo>
                    <a:pt x="339" y="152"/>
                  </a:lnTo>
                  <a:lnTo>
                    <a:pt x="338" y="162"/>
                  </a:lnTo>
                  <a:lnTo>
                    <a:pt x="339" y="172"/>
                  </a:lnTo>
                  <a:lnTo>
                    <a:pt x="343" y="182"/>
                  </a:lnTo>
                  <a:lnTo>
                    <a:pt x="347" y="191"/>
                  </a:lnTo>
                  <a:lnTo>
                    <a:pt x="353" y="198"/>
                  </a:lnTo>
                  <a:lnTo>
                    <a:pt x="361" y="205"/>
                  </a:lnTo>
                  <a:lnTo>
                    <a:pt x="369" y="209"/>
                  </a:lnTo>
                  <a:lnTo>
                    <a:pt x="380" y="213"/>
                  </a:lnTo>
                  <a:lnTo>
                    <a:pt x="390" y="214"/>
                  </a:lnTo>
                  <a:lnTo>
                    <a:pt x="400" y="213"/>
                  </a:lnTo>
                  <a:lnTo>
                    <a:pt x="410" y="209"/>
                  </a:lnTo>
                  <a:lnTo>
                    <a:pt x="418" y="205"/>
                  </a:lnTo>
                  <a:lnTo>
                    <a:pt x="426" y="198"/>
                  </a:lnTo>
                  <a:lnTo>
                    <a:pt x="432" y="191"/>
                  </a:lnTo>
                  <a:lnTo>
                    <a:pt x="436" y="182"/>
                  </a:lnTo>
                  <a:lnTo>
                    <a:pt x="438" y="172"/>
                  </a:lnTo>
                  <a:lnTo>
                    <a:pt x="440" y="162"/>
                  </a:lnTo>
                  <a:lnTo>
                    <a:pt x="438" y="152"/>
                  </a:lnTo>
                  <a:lnTo>
                    <a:pt x="436" y="143"/>
                  </a:lnTo>
                  <a:lnTo>
                    <a:pt x="432" y="134"/>
                  </a:lnTo>
                  <a:lnTo>
                    <a:pt x="426" y="126"/>
                  </a:lnTo>
                  <a:lnTo>
                    <a:pt x="418" y="121"/>
                  </a:lnTo>
                  <a:lnTo>
                    <a:pt x="410" y="115"/>
                  </a:lnTo>
                  <a:lnTo>
                    <a:pt x="400" y="113"/>
                  </a:lnTo>
                  <a:lnTo>
                    <a:pt x="390" y="111"/>
                  </a:lnTo>
                  <a:close/>
                  <a:moveTo>
                    <a:pt x="137" y="110"/>
                  </a:moveTo>
                  <a:lnTo>
                    <a:pt x="126" y="111"/>
                  </a:lnTo>
                  <a:lnTo>
                    <a:pt x="117" y="114"/>
                  </a:lnTo>
                  <a:lnTo>
                    <a:pt x="108" y="118"/>
                  </a:lnTo>
                  <a:lnTo>
                    <a:pt x="101" y="124"/>
                  </a:lnTo>
                  <a:lnTo>
                    <a:pt x="94" y="132"/>
                  </a:lnTo>
                  <a:lnTo>
                    <a:pt x="89" y="140"/>
                  </a:lnTo>
                  <a:lnTo>
                    <a:pt x="87" y="149"/>
                  </a:lnTo>
                  <a:lnTo>
                    <a:pt x="86" y="160"/>
                  </a:lnTo>
                  <a:lnTo>
                    <a:pt x="87" y="170"/>
                  </a:lnTo>
                  <a:lnTo>
                    <a:pt x="89" y="181"/>
                  </a:lnTo>
                  <a:lnTo>
                    <a:pt x="94" y="189"/>
                  </a:lnTo>
                  <a:lnTo>
                    <a:pt x="101" y="197"/>
                  </a:lnTo>
                  <a:lnTo>
                    <a:pt x="108" y="202"/>
                  </a:lnTo>
                  <a:lnTo>
                    <a:pt x="117" y="207"/>
                  </a:lnTo>
                  <a:lnTo>
                    <a:pt x="126" y="210"/>
                  </a:lnTo>
                  <a:lnTo>
                    <a:pt x="137" y="212"/>
                  </a:lnTo>
                  <a:lnTo>
                    <a:pt x="147" y="210"/>
                  </a:lnTo>
                  <a:lnTo>
                    <a:pt x="156" y="207"/>
                  </a:lnTo>
                  <a:lnTo>
                    <a:pt x="164" y="202"/>
                  </a:lnTo>
                  <a:lnTo>
                    <a:pt x="172" y="197"/>
                  </a:lnTo>
                  <a:lnTo>
                    <a:pt x="178" y="189"/>
                  </a:lnTo>
                  <a:lnTo>
                    <a:pt x="184" y="181"/>
                  </a:lnTo>
                  <a:lnTo>
                    <a:pt x="186" y="170"/>
                  </a:lnTo>
                  <a:lnTo>
                    <a:pt x="187" y="160"/>
                  </a:lnTo>
                  <a:lnTo>
                    <a:pt x="186" y="149"/>
                  </a:lnTo>
                  <a:lnTo>
                    <a:pt x="184" y="140"/>
                  </a:lnTo>
                  <a:lnTo>
                    <a:pt x="178" y="132"/>
                  </a:lnTo>
                  <a:lnTo>
                    <a:pt x="172" y="124"/>
                  </a:lnTo>
                  <a:lnTo>
                    <a:pt x="164" y="118"/>
                  </a:lnTo>
                  <a:lnTo>
                    <a:pt x="156" y="114"/>
                  </a:lnTo>
                  <a:lnTo>
                    <a:pt x="147" y="111"/>
                  </a:lnTo>
                  <a:lnTo>
                    <a:pt x="137" y="110"/>
                  </a:lnTo>
                  <a:close/>
                  <a:moveTo>
                    <a:pt x="51" y="4"/>
                  </a:moveTo>
                  <a:lnTo>
                    <a:pt x="50" y="4"/>
                  </a:lnTo>
                  <a:lnTo>
                    <a:pt x="48" y="5"/>
                  </a:lnTo>
                  <a:lnTo>
                    <a:pt x="47" y="8"/>
                  </a:lnTo>
                  <a:lnTo>
                    <a:pt x="47" y="9"/>
                  </a:lnTo>
                  <a:lnTo>
                    <a:pt x="47" y="45"/>
                  </a:lnTo>
                  <a:lnTo>
                    <a:pt x="47" y="46"/>
                  </a:lnTo>
                  <a:lnTo>
                    <a:pt x="48" y="47"/>
                  </a:lnTo>
                  <a:lnTo>
                    <a:pt x="50" y="48"/>
                  </a:lnTo>
                  <a:lnTo>
                    <a:pt x="51" y="48"/>
                  </a:lnTo>
                  <a:lnTo>
                    <a:pt x="479" y="48"/>
                  </a:lnTo>
                  <a:lnTo>
                    <a:pt x="481" y="48"/>
                  </a:lnTo>
                  <a:lnTo>
                    <a:pt x="482" y="47"/>
                  </a:lnTo>
                  <a:lnTo>
                    <a:pt x="483" y="46"/>
                  </a:lnTo>
                  <a:lnTo>
                    <a:pt x="483" y="45"/>
                  </a:lnTo>
                  <a:lnTo>
                    <a:pt x="483" y="9"/>
                  </a:lnTo>
                  <a:lnTo>
                    <a:pt x="483" y="8"/>
                  </a:lnTo>
                  <a:lnTo>
                    <a:pt x="482" y="5"/>
                  </a:lnTo>
                  <a:lnTo>
                    <a:pt x="481" y="4"/>
                  </a:lnTo>
                  <a:lnTo>
                    <a:pt x="479" y="4"/>
                  </a:lnTo>
                  <a:lnTo>
                    <a:pt x="51" y="4"/>
                  </a:lnTo>
                  <a:close/>
                  <a:moveTo>
                    <a:pt x="47" y="0"/>
                  </a:moveTo>
                  <a:lnTo>
                    <a:pt x="44" y="0"/>
                  </a:lnTo>
                  <a:lnTo>
                    <a:pt x="42" y="1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8"/>
                  </a:lnTo>
                  <a:lnTo>
                    <a:pt x="41" y="49"/>
                  </a:lnTo>
                  <a:lnTo>
                    <a:pt x="42" y="51"/>
                  </a:lnTo>
                  <a:lnTo>
                    <a:pt x="44" y="53"/>
                  </a:lnTo>
                  <a:lnTo>
                    <a:pt x="47" y="53"/>
                  </a:lnTo>
                  <a:lnTo>
                    <a:pt x="483" y="53"/>
                  </a:lnTo>
                  <a:lnTo>
                    <a:pt x="486" y="53"/>
                  </a:lnTo>
                  <a:lnTo>
                    <a:pt x="488" y="51"/>
                  </a:lnTo>
                  <a:lnTo>
                    <a:pt x="489" y="49"/>
                  </a:lnTo>
                  <a:lnTo>
                    <a:pt x="489" y="48"/>
                  </a:lnTo>
                  <a:lnTo>
                    <a:pt x="489" y="4"/>
                  </a:lnTo>
                  <a:lnTo>
                    <a:pt x="489" y="3"/>
                  </a:lnTo>
                  <a:lnTo>
                    <a:pt x="488" y="1"/>
                  </a:lnTo>
                  <a:lnTo>
                    <a:pt x="486" y="0"/>
                  </a:lnTo>
                  <a:lnTo>
                    <a:pt x="483" y="0"/>
                  </a:lnTo>
                  <a:lnTo>
                    <a:pt x="47" y="0"/>
                  </a:lnTo>
                  <a:close/>
                  <a:moveTo>
                    <a:pt x="32" y="57"/>
                  </a:moveTo>
                  <a:lnTo>
                    <a:pt x="491" y="57"/>
                  </a:lnTo>
                  <a:lnTo>
                    <a:pt x="504" y="60"/>
                  </a:lnTo>
                  <a:lnTo>
                    <a:pt x="515" y="66"/>
                  </a:lnTo>
                  <a:lnTo>
                    <a:pt x="521" y="76"/>
                  </a:lnTo>
                  <a:lnTo>
                    <a:pt x="524" y="88"/>
                  </a:lnTo>
                  <a:lnTo>
                    <a:pt x="524" y="228"/>
                  </a:lnTo>
                  <a:lnTo>
                    <a:pt x="521" y="240"/>
                  </a:lnTo>
                  <a:lnTo>
                    <a:pt x="515" y="251"/>
                  </a:lnTo>
                  <a:lnTo>
                    <a:pt x="504" y="258"/>
                  </a:lnTo>
                  <a:lnTo>
                    <a:pt x="491" y="260"/>
                  </a:lnTo>
                  <a:lnTo>
                    <a:pt x="32" y="260"/>
                  </a:lnTo>
                  <a:lnTo>
                    <a:pt x="19" y="258"/>
                  </a:lnTo>
                  <a:lnTo>
                    <a:pt x="9" y="251"/>
                  </a:lnTo>
                  <a:lnTo>
                    <a:pt x="2" y="240"/>
                  </a:lnTo>
                  <a:lnTo>
                    <a:pt x="0" y="228"/>
                  </a:lnTo>
                  <a:lnTo>
                    <a:pt x="0" y="88"/>
                  </a:lnTo>
                  <a:lnTo>
                    <a:pt x="2" y="76"/>
                  </a:lnTo>
                  <a:lnTo>
                    <a:pt x="9" y="66"/>
                  </a:lnTo>
                  <a:lnTo>
                    <a:pt x="19" y="60"/>
                  </a:lnTo>
                  <a:lnTo>
                    <a:pt x="32" y="57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3" name="Freeform 38"/>
            <p:cNvSpPr>
              <a:spLocks noChangeAspect="1"/>
            </p:cNvSpPr>
            <p:nvPr/>
          </p:nvSpPr>
          <p:spPr bwMode="auto">
            <a:xfrm>
              <a:off x="6922" y="15989"/>
              <a:ext cx="51" cy="10"/>
            </a:xfrm>
            <a:custGeom>
              <a:avLst/>
              <a:gdLst>
                <a:gd name="T0" fmla="*/ 0 w 114"/>
                <a:gd name="T1" fmla="*/ 0 h 22"/>
                <a:gd name="T2" fmla="*/ 0 w 114"/>
                <a:gd name="T3" fmla="*/ 0 h 22"/>
                <a:gd name="T4" fmla="*/ 0 w 114"/>
                <a:gd name="T5" fmla="*/ 0 h 22"/>
                <a:gd name="T6" fmla="*/ 0 w 114"/>
                <a:gd name="T7" fmla="*/ 0 h 22"/>
                <a:gd name="T8" fmla="*/ 0 w 114"/>
                <a:gd name="T9" fmla="*/ 0 h 22"/>
                <a:gd name="T10" fmla="*/ 0 w 114"/>
                <a:gd name="T11" fmla="*/ 0 h 22"/>
                <a:gd name="T12" fmla="*/ 0 w 114"/>
                <a:gd name="T13" fmla="*/ 0 h 22"/>
                <a:gd name="T14" fmla="*/ 0 w 114"/>
                <a:gd name="T15" fmla="*/ 0 h 22"/>
                <a:gd name="T16" fmla="*/ 0 w 114"/>
                <a:gd name="T17" fmla="*/ 0 h 22"/>
                <a:gd name="T18" fmla="*/ 0 w 114"/>
                <a:gd name="T19" fmla="*/ 0 h 22"/>
                <a:gd name="T20" fmla="*/ 0 w 114"/>
                <a:gd name="T21" fmla="*/ 0 h 22"/>
                <a:gd name="T22" fmla="*/ 0 w 114"/>
                <a:gd name="T23" fmla="*/ 0 h 22"/>
                <a:gd name="T24" fmla="*/ 0 w 114"/>
                <a:gd name="T25" fmla="*/ 0 h 22"/>
                <a:gd name="T26" fmla="*/ 0 w 114"/>
                <a:gd name="T27" fmla="*/ 0 h 22"/>
                <a:gd name="T28" fmla="*/ 0 w 114"/>
                <a:gd name="T29" fmla="*/ 0 h 22"/>
                <a:gd name="T30" fmla="*/ 0 w 114"/>
                <a:gd name="T31" fmla="*/ 0 h 22"/>
                <a:gd name="T32" fmla="*/ 0 w 114"/>
                <a:gd name="T33" fmla="*/ 0 h 22"/>
                <a:gd name="T34" fmla="*/ 0 w 114"/>
                <a:gd name="T35" fmla="*/ 0 h 22"/>
                <a:gd name="T36" fmla="*/ 0 w 114"/>
                <a:gd name="T37" fmla="*/ 0 h 22"/>
                <a:gd name="T38" fmla="*/ 0 w 114"/>
                <a:gd name="T39" fmla="*/ 0 h 22"/>
                <a:gd name="T40" fmla="*/ 0 w 114"/>
                <a:gd name="T41" fmla="*/ 0 h 22"/>
                <a:gd name="T42" fmla="*/ 0 w 114"/>
                <a:gd name="T43" fmla="*/ 0 h 22"/>
                <a:gd name="T44" fmla="*/ 0 w 114"/>
                <a:gd name="T45" fmla="*/ 0 h 22"/>
                <a:gd name="T46" fmla="*/ 0 w 114"/>
                <a:gd name="T47" fmla="*/ 0 h 22"/>
                <a:gd name="T48" fmla="*/ 0 w 114"/>
                <a:gd name="T49" fmla="*/ 0 h 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4"/>
                <a:gd name="T76" fmla="*/ 0 h 22"/>
                <a:gd name="T77" fmla="*/ 114 w 114"/>
                <a:gd name="T78" fmla="*/ 22 h 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4" h="22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110" y="22"/>
                  </a:lnTo>
                  <a:lnTo>
                    <a:pt x="111" y="22"/>
                  </a:lnTo>
                  <a:lnTo>
                    <a:pt x="113" y="20"/>
                  </a:lnTo>
                  <a:lnTo>
                    <a:pt x="114" y="18"/>
                  </a:lnTo>
                  <a:lnTo>
                    <a:pt x="114" y="17"/>
                  </a:lnTo>
                  <a:lnTo>
                    <a:pt x="114" y="3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4" name="Freeform 39"/>
            <p:cNvSpPr>
              <a:spLocks noChangeAspect="1"/>
            </p:cNvSpPr>
            <p:nvPr/>
          </p:nvSpPr>
          <p:spPr bwMode="auto">
            <a:xfrm>
              <a:off x="6807" y="15990"/>
              <a:ext cx="52" cy="10"/>
            </a:xfrm>
            <a:custGeom>
              <a:avLst/>
              <a:gdLst>
                <a:gd name="T0" fmla="*/ 0 w 115"/>
                <a:gd name="T1" fmla="*/ 0 h 22"/>
                <a:gd name="T2" fmla="*/ 0 w 115"/>
                <a:gd name="T3" fmla="*/ 0 h 22"/>
                <a:gd name="T4" fmla="*/ 0 w 115"/>
                <a:gd name="T5" fmla="*/ 0 h 22"/>
                <a:gd name="T6" fmla="*/ 0 w 115"/>
                <a:gd name="T7" fmla="*/ 0 h 22"/>
                <a:gd name="T8" fmla="*/ 0 w 115"/>
                <a:gd name="T9" fmla="*/ 0 h 22"/>
                <a:gd name="T10" fmla="*/ 0 w 115"/>
                <a:gd name="T11" fmla="*/ 0 h 22"/>
                <a:gd name="T12" fmla="*/ 0 w 115"/>
                <a:gd name="T13" fmla="*/ 0 h 22"/>
                <a:gd name="T14" fmla="*/ 0 w 115"/>
                <a:gd name="T15" fmla="*/ 0 h 22"/>
                <a:gd name="T16" fmla="*/ 0 w 115"/>
                <a:gd name="T17" fmla="*/ 0 h 22"/>
                <a:gd name="T18" fmla="*/ 0 w 115"/>
                <a:gd name="T19" fmla="*/ 0 h 22"/>
                <a:gd name="T20" fmla="*/ 0 w 115"/>
                <a:gd name="T21" fmla="*/ 0 h 22"/>
                <a:gd name="T22" fmla="*/ 0 w 115"/>
                <a:gd name="T23" fmla="*/ 0 h 22"/>
                <a:gd name="T24" fmla="*/ 0 w 115"/>
                <a:gd name="T25" fmla="*/ 0 h 22"/>
                <a:gd name="T26" fmla="*/ 0 w 115"/>
                <a:gd name="T27" fmla="*/ 0 h 22"/>
                <a:gd name="T28" fmla="*/ 0 w 115"/>
                <a:gd name="T29" fmla="*/ 0 h 22"/>
                <a:gd name="T30" fmla="*/ 0 w 115"/>
                <a:gd name="T31" fmla="*/ 0 h 22"/>
                <a:gd name="T32" fmla="*/ 0 w 115"/>
                <a:gd name="T33" fmla="*/ 0 h 22"/>
                <a:gd name="T34" fmla="*/ 0 w 115"/>
                <a:gd name="T35" fmla="*/ 0 h 22"/>
                <a:gd name="T36" fmla="*/ 0 w 115"/>
                <a:gd name="T37" fmla="*/ 0 h 22"/>
                <a:gd name="T38" fmla="*/ 0 w 115"/>
                <a:gd name="T39" fmla="*/ 0 h 22"/>
                <a:gd name="T40" fmla="*/ 0 w 115"/>
                <a:gd name="T41" fmla="*/ 0 h 22"/>
                <a:gd name="T42" fmla="*/ 0 w 115"/>
                <a:gd name="T43" fmla="*/ 0 h 22"/>
                <a:gd name="T44" fmla="*/ 0 w 115"/>
                <a:gd name="T45" fmla="*/ 0 h 22"/>
                <a:gd name="T46" fmla="*/ 0 w 115"/>
                <a:gd name="T47" fmla="*/ 0 h 22"/>
                <a:gd name="T48" fmla="*/ 0 w 115"/>
                <a:gd name="T49" fmla="*/ 0 h 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5"/>
                <a:gd name="T76" fmla="*/ 0 h 22"/>
                <a:gd name="T77" fmla="*/ 115 w 115"/>
                <a:gd name="T78" fmla="*/ 22 h 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5" h="22">
                  <a:moveTo>
                    <a:pt x="4" y="0"/>
                  </a:move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110" y="22"/>
                  </a:lnTo>
                  <a:lnTo>
                    <a:pt x="113" y="22"/>
                  </a:lnTo>
                  <a:lnTo>
                    <a:pt x="114" y="21"/>
                  </a:lnTo>
                  <a:lnTo>
                    <a:pt x="115" y="18"/>
                  </a:lnTo>
                  <a:lnTo>
                    <a:pt x="115" y="17"/>
                  </a:lnTo>
                  <a:lnTo>
                    <a:pt x="115" y="3"/>
                  </a:lnTo>
                  <a:lnTo>
                    <a:pt x="115" y="2"/>
                  </a:lnTo>
                  <a:lnTo>
                    <a:pt x="114" y="1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5" name="Rectangle 40"/>
            <p:cNvSpPr>
              <a:spLocks noChangeAspect="1" noChangeArrowheads="1"/>
            </p:cNvSpPr>
            <p:nvPr/>
          </p:nvSpPr>
          <p:spPr bwMode="auto">
            <a:xfrm>
              <a:off x="6900" y="15930"/>
              <a:ext cx="17" cy="6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106" name="Rectangle 41"/>
            <p:cNvSpPr>
              <a:spLocks noChangeAspect="1" noChangeArrowheads="1"/>
            </p:cNvSpPr>
            <p:nvPr/>
          </p:nvSpPr>
          <p:spPr bwMode="auto">
            <a:xfrm>
              <a:off x="6869" y="15930"/>
              <a:ext cx="18" cy="6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107" name="Freeform 42"/>
            <p:cNvSpPr>
              <a:spLocks noChangeAspect="1"/>
            </p:cNvSpPr>
            <p:nvPr/>
          </p:nvSpPr>
          <p:spPr bwMode="auto">
            <a:xfrm>
              <a:off x="6936" y="15950"/>
              <a:ext cx="23" cy="23"/>
            </a:xfrm>
            <a:custGeom>
              <a:avLst/>
              <a:gdLst>
                <a:gd name="T0" fmla="*/ 0 w 51"/>
                <a:gd name="T1" fmla="*/ 0 h 53"/>
                <a:gd name="T2" fmla="*/ 0 w 51"/>
                <a:gd name="T3" fmla="*/ 0 h 53"/>
                <a:gd name="T4" fmla="*/ 0 w 51"/>
                <a:gd name="T5" fmla="*/ 0 h 53"/>
                <a:gd name="T6" fmla="*/ 0 w 51"/>
                <a:gd name="T7" fmla="*/ 0 h 53"/>
                <a:gd name="T8" fmla="*/ 0 w 51"/>
                <a:gd name="T9" fmla="*/ 0 h 53"/>
                <a:gd name="T10" fmla="*/ 0 w 51"/>
                <a:gd name="T11" fmla="*/ 0 h 53"/>
                <a:gd name="T12" fmla="*/ 0 w 51"/>
                <a:gd name="T13" fmla="*/ 0 h 53"/>
                <a:gd name="T14" fmla="*/ 0 w 51"/>
                <a:gd name="T15" fmla="*/ 0 h 53"/>
                <a:gd name="T16" fmla="*/ 0 w 51"/>
                <a:gd name="T17" fmla="*/ 0 h 53"/>
                <a:gd name="T18" fmla="*/ 0 w 51"/>
                <a:gd name="T19" fmla="*/ 0 h 53"/>
                <a:gd name="T20" fmla="*/ 0 w 51"/>
                <a:gd name="T21" fmla="*/ 0 h 53"/>
                <a:gd name="T22" fmla="*/ 0 w 51"/>
                <a:gd name="T23" fmla="*/ 0 h 53"/>
                <a:gd name="T24" fmla="*/ 0 w 51"/>
                <a:gd name="T25" fmla="*/ 0 h 53"/>
                <a:gd name="T26" fmla="*/ 0 w 51"/>
                <a:gd name="T27" fmla="*/ 0 h 53"/>
                <a:gd name="T28" fmla="*/ 0 w 51"/>
                <a:gd name="T29" fmla="*/ 0 h 53"/>
                <a:gd name="T30" fmla="*/ 0 w 51"/>
                <a:gd name="T31" fmla="*/ 0 h 53"/>
                <a:gd name="T32" fmla="*/ 0 w 51"/>
                <a:gd name="T33" fmla="*/ 0 h 53"/>
                <a:gd name="T34" fmla="*/ 0 w 51"/>
                <a:gd name="T35" fmla="*/ 0 h 53"/>
                <a:gd name="T36" fmla="*/ 0 w 51"/>
                <a:gd name="T37" fmla="*/ 0 h 53"/>
                <a:gd name="T38" fmla="*/ 0 w 51"/>
                <a:gd name="T39" fmla="*/ 0 h 53"/>
                <a:gd name="T40" fmla="*/ 0 w 51"/>
                <a:gd name="T41" fmla="*/ 0 h 53"/>
                <a:gd name="T42" fmla="*/ 0 w 51"/>
                <a:gd name="T43" fmla="*/ 0 h 53"/>
                <a:gd name="T44" fmla="*/ 0 w 51"/>
                <a:gd name="T45" fmla="*/ 0 h 53"/>
                <a:gd name="T46" fmla="*/ 0 w 51"/>
                <a:gd name="T47" fmla="*/ 0 h 53"/>
                <a:gd name="T48" fmla="*/ 0 w 51"/>
                <a:gd name="T49" fmla="*/ 0 h 53"/>
                <a:gd name="T50" fmla="*/ 0 w 51"/>
                <a:gd name="T51" fmla="*/ 0 h 53"/>
                <a:gd name="T52" fmla="*/ 0 w 51"/>
                <a:gd name="T53" fmla="*/ 0 h 53"/>
                <a:gd name="T54" fmla="*/ 0 w 51"/>
                <a:gd name="T55" fmla="*/ 0 h 53"/>
                <a:gd name="T56" fmla="*/ 0 w 51"/>
                <a:gd name="T57" fmla="*/ 0 h 53"/>
                <a:gd name="T58" fmla="*/ 0 w 51"/>
                <a:gd name="T59" fmla="*/ 0 h 53"/>
                <a:gd name="T60" fmla="*/ 0 w 51"/>
                <a:gd name="T61" fmla="*/ 0 h 53"/>
                <a:gd name="T62" fmla="*/ 0 w 51"/>
                <a:gd name="T63" fmla="*/ 0 h 53"/>
                <a:gd name="T64" fmla="*/ 0 w 51"/>
                <a:gd name="T65" fmla="*/ 0 h 53"/>
                <a:gd name="T66" fmla="*/ 0 w 51"/>
                <a:gd name="T67" fmla="*/ 0 h 53"/>
                <a:gd name="T68" fmla="*/ 0 w 51"/>
                <a:gd name="T69" fmla="*/ 0 h 53"/>
                <a:gd name="T70" fmla="*/ 0 w 51"/>
                <a:gd name="T71" fmla="*/ 0 h 5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1"/>
                <a:gd name="T109" fmla="*/ 0 h 53"/>
                <a:gd name="T110" fmla="*/ 51 w 51"/>
                <a:gd name="T111" fmla="*/ 53 h 5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1" h="53">
                  <a:moveTo>
                    <a:pt x="51" y="29"/>
                  </a:moveTo>
                  <a:lnTo>
                    <a:pt x="51" y="29"/>
                  </a:lnTo>
                  <a:lnTo>
                    <a:pt x="48" y="20"/>
                  </a:lnTo>
                  <a:lnTo>
                    <a:pt x="44" y="12"/>
                  </a:lnTo>
                  <a:lnTo>
                    <a:pt x="36" y="7"/>
                  </a:lnTo>
                  <a:lnTo>
                    <a:pt x="25" y="5"/>
                  </a:lnTo>
                  <a:lnTo>
                    <a:pt x="23" y="5"/>
                  </a:lnTo>
                  <a:lnTo>
                    <a:pt x="19" y="6"/>
                  </a:lnTo>
                  <a:lnTo>
                    <a:pt x="16" y="6"/>
                  </a:lnTo>
                  <a:lnTo>
                    <a:pt x="14" y="7"/>
                  </a:lnTo>
                  <a:lnTo>
                    <a:pt x="11" y="7"/>
                  </a:lnTo>
                  <a:lnTo>
                    <a:pt x="7" y="4"/>
                  </a:lnTo>
                  <a:lnTo>
                    <a:pt x="3" y="1"/>
                  </a:lnTo>
                  <a:lnTo>
                    <a:pt x="0" y="0"/>
                  </a:lnTo>
                  <a:lnTo>
                    <a:pt x="1" y="2"/>
                  </a:lnTo>
                  <a:lnTo>
                    <a:pt x="3" y="7"/>
                  </a:lnTo>
                  <a:lnTo>
                    <a:pt x="6" y="13"/>
                  </a:lnTo>
                  <a:lnTo>
                    <a:pt x="7" y="15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5" y="38"/>
                  </a:lnTo>
                  <a:lnTo>
                    <a:pt x="9" y="46"/>
                  </a:lnTo>
                  <a:lnTo>
                    <a:pt x="16" y="51"/>
                  </a:lnTo>
                  <a:lnTo>
                    <a:pt x="25" y="53"/>
                  </a:lnTo>
                  <a:lnTo>
                    <a:pt x="36" y="51"/>
                  </a:lnTo>
                  <a:lnTo>
                    <a:pt x="44" y="46"/>
                  </a:lnTo>
                  <a:lnTo>
                    <a:pt x="48" y="38"/>
                  </a:lnTo>
                  <a:lnTo>
                    <a:pt x="51" y="2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8" name="Freeform 43"/>
            <p:cNvSpPr>
              <a:spLocks noChangeAspect="1"/>
            </p:cNvSpPr>
            <p:nvPr/>
          </p:nvSpPr>
          <p:spPr bwMode="auto">
            <a:xfrm>
              <a:off x="6823" y="15950"/>
              <a:ext cx="23" cy="23"/>
            </a:xfrm>
            <a:custGeom>
              <a:avLst/>
              <a:gdLst>
                <a:gd name="T0" fmla="*/ 0 w 51"/>
                <a:gd name="T1" fmla="*/ 0 h 51"/>
                <a:gd name="T2" fmla="*/ 0 w 51"/>
                <a:gd name="T3" fmla="*/ 0 h 51"/>
                <a:gd name="T4" fmla="*/ 0 w 51"/>
                <a:gd name="T5" fmla="*/ 0 h 51"/>
                <a:gd name="T6" fmla="*/ 0 w 51"/>
                <a:gd name="T7" fmla="*/ 0 h 51"/>
                <a:gd name="T8" fmla="*/ 0 w 51"/>
                <a:gd name="T9" fmla="*/ 0 h 51"/>
                <a:gd name="T10" fmla="*/ 0 w 51"/>
                <a:gd name="T11" fmla="*/ 0 h 51"/>
                <a:gd name="T12" fmla="*/ 0 w 51"/>
                <a:gd name="T13" fmla="*/ 0 h 51"/>
                <a:gd name="T14" fmla="*/ 0 w 51"/>
                <a:gd name="T15" fmla="*/ 0 h 51"/>
                <a:gd name="T16" fmla="*/ 0 w 51"/>
                <a:gd name="T17" fmla="*/ 0 h 51"/>
                <a:gd name="T18" fmla="*/ 0 w 51"/>
                <a:gd name="T19" fmla="*/ 0 h 51"/>
                <a:gd name="T20" fmla="*/ 0 w 51"/>
                <a:gd name="T21" fmla="*/ 0 h 51"/>
                <a:gd name="T22" fmla="*/ 0 w 51"/>
                <a:gd name="T23" fmla="*/ 0 h 51"/>
                <a:gd name="T24" fmla="*/ 0 w 51"/>
                <a:gd name="T25" fmla="*/ 0 h 51"/>
                <a:gd name="T26" fmla="*/ 0 w 51"/>
                <a:gd name="T27" fmla="*/ 0 h 51"/>
                <a:gd name="T28" fmla="*/ 0 w 51"/>
                <a:gd name="T29" fmla="*/ 0 h 51"/>
                <a:gd name="T30" fmla="*/ 0 w 51"/>
                <a:gd name="T31" fmla="*/ 0 h 51"/>
                <a:gd name="T32" fmla="*/ 0 w 51"/>
                <a:gd name="T33" fmla="*/ 0 h 51"/>
                <a:gd name="T34" fmla="*/ 0 w 51"/>
                <a:gd name="T35" fmla="*/ 0 h 51"/>
                <a:gd name="T36" fmla="*/ 0 w 51"/>
                <a:gd name="T37" fmla="*/ 0 h 51"/>
                <a:gd name="T38" fmla="*/ 0 w 51"/>
                <a:gd name="T39" fmla="*/ 0 h 51"/>
                <a:gd name="T40" fmla="*/ 0 w 51"/>
                <a:gd name="T41" fmla="*/ 0 h 51"/>
                <a:gd name="T42" fmla="*/ 0 w 51"/>
                <a:gd name="T43" fmla="*/ 0 h 51"/>
                <a:gd name="T44" fmla="*/ 0 w 51"/>
                <a:gd name="T45" fmla="*/ 0 h 51"/>
                <a:gd name="T46" fmla="*/ 0 w 51"/>
                <a:gd name="T47" fmla="*/ 0 h 51"/>
                <a:gd name="T48" fmla="*/ 0 w 51"/>
                <a:gd name="T49" fmla="*/ 0 h 51"/>
                <a:gd name="T50" fmla="*/ 0 w 51"/>
                <a:gd name="T51" fmla="*/ 0 h 51"/>
                <a:gd name="T52" fmla="*/ 0 w 51"/>
                <a:gd name="T53" fmla="*/ 0 h 51"/>
                <a:gd name="T54" fmla="*/ 0 w 51"/>
                <a:gd name="T55" fmla="*/ 0 h 51"/>
                <a:gd name="T56" fmla="*/ 0 w 51"/>
                <a:gd name="T57" fmla="*/ 0 h 51"/>
                <a:gd name="T58" fmla="*/ 0 w 51"/>
                <a:gd name="T59" fmla="*/ 0 h 51"/>
                <a:gd name="T60" fmla="*/ 0 w 51"/>
                <a:gd name="T61" fmla="*/ 0 h 51"/>
                <a:gd name="T62" fmla="*/ 0 w 51"/>
                <a:gd name="T63" fmla="*/ 0 h 51"/>
                <a:gd name="T64" fmla="*/ 0 w 51"/>
                <a:gd name="T65" fmla="*/ 0 h 51"/>
                <a:gd name="T66" fmla="*/ 0 w 51"/>
                <a:gd name="T67" fmla="*/ 0 h 51"/>
                <a:gd name="T68" fmla="*/ 0 w 51"/>
                <a:gd name="T69" fmla="*/ 0 h 51"/>
                <a:gd name="T70" fmla="*/ 0 w 51"/>
                <a:gd name="T71" fmla="*/ 0 h 5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1"/>
                <a:gd name="T109" fmla="*/ 0 h 51"/>
                <a:gd name="T110" fmla="*/ 51 w 51"/>
                <a:gd name="T111" fmla="*/ 51 h 5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1" h="51">
                  <a:moveTo>
                    <a:pt x="23" y="51"/>
                  </a:moveTo>
                  <a:lnTo>
                    <a:pt x="23" y="51"/>
                  </a:lnTo>
                  <a:lnTo>
                    <a:pt x="32" y="49"/>
                  </a:lnTo>
                  <a:lnTo>
                    <a:pt x="40" y="43"/>
                  </a:lnTo>
                  <a:lnTo>
                    <a:pt x="45" y="35"/>
                  </a:lnTo>
                  <a:lnTo>
                    <a:pt x="47" y="26"/>
                  </a:lnTo>
                  <a:lnTo>
                    <a:pt x="47" y="23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5" y="14"/>
                  </a:lnTo>
                  <a:lnTo>
                    <a:pt x="46" y="12"/>
                  </a:lnTo>
                  <a:lnTo>
                    <a:pt x="48" y="7"/>
                  </a:lnTo>
                  <a:lnTo>
                    <a:pt x="51" y="3"/>
                  </a:lnTo>
                  <a:lnTo>
                    <a:pt x="51" y="0"/>
                  </a:lnTo>
                  <a:lnTo>
                    <a:pt x="49" y="1"/>
                  </a:lnTo>
                  <a:lnTo>
                    <a:pt x="45" y="4"/>
                  </a:lnTo>
                  <a:lnTo>
                    <a:pt x="39" y="6"/>
                  </a:lnTo>
                  <a:lnTo>
                    <a:pt x="36" y="7"/>
                  </a:lnTo>
                  <a:lnTo>
                    <a:pt x="34" y="5"/>
                  </a:lnTo>
                  <a:lnTo>
                    <a:pt x="31" y="3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3" y="4"/>
                  </a:lnTo>
                  <a:lnTo>
                    <a:pt x="6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2" y="35"/>
                  </a:lnTo>
                  <a:lnTo>
                    <a:pt x="6" y="43"/>
                  </a:lnTo>
                  <a:lnTo>
                    <a:pt x="13" y="49"/>
                  </a:lnTo>
                  <a:lnTo>
                    <a:pt x="23" y="5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9" name="Freeform 44"/>
            <p:cNvSpPr>
              <a:spLocks noChangeAspect="1"/>
            </p:cNvSpPr>
            <p:nvPr/>
          </p:nvSpPr>
          <p:spPr bwMode="auto">
            <a:xfrm>
              <a:off x="6924" y="15940"/>
              <a:ext cx="45" cy="46"/>
            </a:xfrm>
            <a:custGeom>
              <a:avLst/>
              <a:gdLst>
                <a:gd name="T0" fmla="*/ 0 w 102"/>
                <a:gd name="T1" fmla="*/ 0 h 103"/>
                <a:gd name="T2" fmla="*/ 0 w 102"/>
                <a:gd name="T3" fmla="*/ 0 h 103"/>
                <a:gd name="T4" fmla="*/ 0 w 102"/>
                <a:gd name="T5" fmla="*/ 0 h 103"/>
                <a:gd name="T6" fmla="*/ 0 w 102"/>
                <a:gd name="T7" fmla="*/ 0 h 103"/>
                <a:gd name="T8" fmla="*/ 0 w 102"/>
                <a:gd name="T9" fmla="*/ 0 h 103"/>
                <a:gd name="T10" fmla="*/ 0 w 102"/>
                <a:gd name="T11" fmla="*/ 0 h 103"/>
                <a:gd name="T12" fmla="*/ 0 w 102"/>
                <a:gd name="T13" fmla="*/ 0 h 103"/>
                <a:gd name="T14" fmla="*/ 0 w 102"/>
                <a:gd name="T15" fmla="*/ 0 h 103"/>
                <a:gd name="T16" fmla="*/ 0 w 102"/>
                <a:gd name="T17" fmla="*/ 0 h 103"/>
                <a:gd name="T18" fmla="*/ 0 w 102"/>
                <a:gd name="T19" fmla="*/ 0 h 103"/>
                <a:gd name="T20" fmla="*/ 0 w 102"/>
                <a:gd name="T21" fmla="*/ 0 h 103"/>
                <a:gd name="T22" fmla="*/ 0 w 102"/>
                <a:gd name="T23" fmla="*/ 0 h 103"/>
                <a:gd name="T24" fmla="*/ 0 w 102"/>
                <a:gd name="T25" fmla="*/ 0 h 103"/>
                <a:gd name="T26" fmla="*/ 0 w 102"/>
                <a:gd name="T27" fmla="*/ 0 h 103"/>
                <a:gd name="T28" fmla="*/ 0 w 102"/>
                <a:gd name="T29" fmla="*/ 0 h 103"/>
                <a:gd name="T30" fmla="*/ 0 w 102"/>
                <a:gd name="T31" fmla="*/ 0 h 103"/>
                <a:gd name="T32" fmla="*/ 0 w 102"/>
                <a:gd name="T33" fmla="*/ 0 h 103"/>
                <a:gd name="T34" fmla="*/ 0 w 102"/>
                <a:gd name="T35" fmla="*/ 0 h 103"/>
                <a:gd name="T36" fmla="*/ 0 w 102"/>
                <a:gd name="T37" fmla="*/ 0 h 103"/>
                <a:gd name="T38" fmla="*/ 0 w 102"/>
                <a:gd name="T39" fmla="*/ 0 h 103"/>
                <a:gd name="T40" fmla="*/ 0 w 102"/>
                <a:gd name="T41" fmla="*/ 0 h 103"/>
                <a:gd name="T42" fmla="*/ 0 w 102"/>
                <a:gd name="T43" fmla="*/ 0 h 103"/>
                <a:gd name="T44" fmla="*/ 0 w 102"/>
                <a:gd name="T45" fmla="*/ 0 h 103"/>
                <a:gd name="T46" fmla="*/ 0 w 102"/>
                <a:gd name="T47" fmla="*/ 0 h 103"/>
                <a:gd name="T48" fmla="*/ 0 w 102"/>
                <a:gd name="T49" fmla="*/ 0 h 103"/>
                <a:gd name="T50" fmla="*/ 0 w 102"/>
                <a:gd name="T51" fmla="*/ 0 h 103"/>
                <a:gd name="T52" fmla="*/ 0 w 102"/>
                <a:gd name="T53" fmla="*/ 0 h 103"/>
                <a:gd name="T54" fmla="*/ 0 w 102"/>
                <a:gd name="T55" fmla="*/ 0 h 103"/>
                <a:gd name="T56" fmla="*/ 0 w 102"/>
                <a:gd name="T57" fmla="*/ 0 h 103"/>
                <a:gd name="T58" fmla="*/ 0 w 102"/>
                <a:gd name="T59" fmla="*/ 0 h 103"/>
                <a:gd name="T60" fmla="*/ 0 w 102"/>
                <a:gd name="T61" fmla="*/ 0 h 103"/>
                <a:gd name="T62" fmla="*/ 0 w 102"/>
                <a:gd name="T63" fmla="*/ 0 h 103"/>
                <a:gd name="T64" fmla="*/ 0 w 102"/>
                <a:gd name="T65" fmla="*/ 0 h 103"/>
                <a:gd name="T66" fmla="*/ 0 w 102"/>
                <a:gd name="T67" fmla="*/ 0 h 103"/>
                <a:gd name="T68" fmla="*/ 0 w 102"/>
                <a:gd name="T69" fmla="*/ 0 h 103"/>
                <a:gd name="T70" fmla="*/ 0 w 102"/>
                <a:gd name="T71" fmla="*/ 0 h 103"/>
                <a:gd name="T72" fmla="*/ 0 w 102"/>
                <a:gd name="T73" fmla="*/ 0 h 10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2"/>
                <a:gd name="T112" fmla="*/ 0 h 103"/>
                <a:gd name="T113" fmla="*/ 102 w 102"/>
                <a:gd name="T114" fmla="*/ 103 h 10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2" h="103">
                  <a:moveTo>
                    <a:pt x="52" y="0"/>
                  </a:moveTo>
                  <a:lnTo>
                    <a:pt x="52" y="0"/>
                  </a:lnTo>
                  <a:lnTo>
                    <a:pt x="42" y="2"/>
                  </a:lnTo>
                  <a:lnTo>
                    <a:pt x="31" y="4"/>
                  </a:lnTo>
                  <a:lnTo>
                    <a:pt x="23" y="10"/>
                  </a:lnTo>
                  <a:lnTo>
                    <a:pt x="15" y="15"/>
                  </a:lnTo>
                  <a:lnTo>
                    <a:pt x="9" y="23"/>
                  </a:lnTo>
                  <a:lnTo>
                    <a:pt x="5" y="32"/>
                  </a:lnTo>
                  <a:lnTo>
                    <a:pt x="1" y="41"/>
                  </a:lnTo>
                  <a:lnTo>
                    <a:pt x="0" y="51"/>
                  </a:lnTo>
                  <a:lnTo>
                    <a:pt x="1" y="61"/>
                  </a:lnTo>
                  <a:lnTo>
                    <a:pt x="5" y="71"/>
                  </a:lnTo>
                  <a:lnTo>
                    <a:pt x="9" y="80"/>
                  </a:lnTo>
                  <a:lnTo>
                    <a:pt x="15" y="87"/>
                  </a:lnTo>
                  <a:lnTo>
                    <a:pt x="23" y="94"/>
                  </a:lnTo>
                  <a:lnTo>
                    <a:pt x="31" y="98"/>
                  </a:lnTo>
                  <a:lnTo>
                    <a:pt x="42" y="102"/>
                  </a:lnTo>
                  <a:lnTo>
                    <a:pt x="52" y="103"/>
                  </a:lnTo>
                  <a:lnTo>
                    <a:pt x="62" y="102"/>
                  </a:lnTo>
                  <a:lnTo>
                    <a:pt x="72" y="98"/>
                  </a:lnTo>
                  <a:lnTo>
                    <a:pt x="80" y="94"/>
                  </a:lnTo>
                  <a:lnTo>
                    <a:pt x="88" y="87"/>
                  </a:lnTo>
                  <a:lnTo>
                    <a:pt x="94" y="80"/>
                  </a:lnTo>
                  <a:lnTo>
                    <a:pt x="98" y="71"/>
                  </a:lnTo>
                  <a:lnTo>
                    <a:pt x="100" y="61"/>
                  </a:lnTo>
                  <a:lnTo>
                    <a:pt x="102" y="51"/>
                  </a:lnTo>
                  <a:lnTo>
                    <a:pt x="100" y="41"/>
                  </a:lnTo>
                  <a:lnTo>
                    <a:pt x="98" y="32"/>
                  </a:lnTo>
                  <a:lnTo>
                    <a:pt x="94" y="23"/>
                  </a:lnTo>
                  <a:lnTo>
                    <a:pt x="88" y="15"/>
                  </a:lnTo>
                  <a:lnTo>
                    <a:pt x="80" y="10"/>
                  </a:lnTo>
                  <a:lnTo>
                    <a:pt x="72" y="4"/>
                  </a:lnTo>
                  <a:lnTo>
                    <a:pt x="62" y="2"/>
                  </a:lnTo>
                  <a:lnTo>
                    <a:pt x="5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0" name="Freeform 45"/>
            <p:cNvSpPr>
              <a:spLocks noChangeAspect="1"/>
            </p:cNvSpPr>
            <p:nvPr/>
          </p:nvSpPr>
          <p:spPr bwMode="auto">
            <a:xfrm>
              <a:off x="6810" y="15940"/>
              <a:ext cx="46" cy="45"/>
            </a:xfrm>
            <a:custGeom>
              <a:avLst/>
              <a:gdLst>
                <a:gd name="T0" fmla="*/ 0 w 101"/>
                <a:gd name="T1" fmla="*/ 0 h 102"/>
                <a:gd name="T2" fmla="*/ 0 w 101"/>
                <a:gd name="T3" fmla="*/ 0 h 102"/>
                <a:gd name="T4" fmla="*/ 0 w 101"/>
                <a:gd name="T5" fmla="*/ 0 h 102"/>
                <a:gd name="T6" fmla="*/ 0 w 101"/>
                <a:gd name="T7" fmla="*/ 0 h 102"/>
                <a:gd name="T8" fmla="*/ 0 w 101"/>
                <a:gd name="T9" fmla="*/ 0 h 102"/>
                <a:gd name="T10" fmla="*/ 0 w 101"/>
                <a:gd name="T11" fmla="*/ 0 h 102"/>
                <a:gd name="T12" fmla="*/ 0 w 101"/>
                <a:gd name="T13" fmla="*/ 0 h 102"/>
                <a:gd name="T14" fmla="*/ 0 w 101"/>
                <a:gd name="T15" fmla="*/ 0 h 102"/>
                <a:gd name="T16" fmla="*/ 0 w 101"/>
                <a:gd name="T17" fmla="*/ 0 h 102"/>
                <a:gd name="T18" fmla="*/ 0 w 101"/>
                <a:gd name="T19" fmla="*/ 0 h 102"/>
                <a:gd name="T20" fmla="*/ 0 w 101"/>
                <a:gd name="T21" fmla="*/ 0 h 102"/>
                <a:gd name="T22" fmla="*/ 0 w 101"/>
                <a:gd name="T23" fmla="*/ 0 h 102"/>
                <a:gd name="T24" fmla="*/ 0 w 101"/>
                <a:gd name="T25" fmla="*/ 0 h 102"/>
                <a:gd name="T26" fmla="*/ 0 w 101"/>
                <a:gd name="T27" fmla="*/ 0 h 102"/>
                <a:gd name="T28" fmla="*/ 0 w 101"/>
                <a:gd name="T29" fmla="*/ 0 h 102"/>
                <a:gd name="T30" fmla="*/ 0 w 101"/>
                <a:gd name="T31" fmla="*/ 0 h 102"/>
                <a:gd name="T32" fmla="*/ 0 w 101"/>
                <a:gd name="T33" fmla="*/ 0 h 102"/>
                <a:gd name="T34" fmla="*/ 0 w 101"/>
                <a:gd name="T35" fmla="*/ 0 h 102"/>
                <a:gd name="T36" fmla="*/ 0 w 101"/>
                <a:gd name="T37" fmla="*/ 0 h 102"/>
                <a:gd name="T38" fmla="*/ 0 w 101"/>
                <a:gd name="T39" fmla="*/ 0 h 102"/>
                <a:gd name="T40" fmla="*/ 0 w 101"/>
                <a:gd name="T41" fmla="*/ 0 h 102"/>
                <a:gd name="T42" fmla="*/ 0 w 101"/>
                <a:gd name="T43" fmla="*/ 0 h 102"/>
                <a:gd name="T44" fmla="*/ 0 w 101"/>
                <a:gd name="T45" fmla="*/ 0 h 102"/>
                <a:gd name="T46" fmla="*/ 0 w 101"/>
                <a:gd name="T47" fmla="*/ 0 h 102"/>
                <a:gd name="T48" fmla="*/ 0 w 101"/>
                <a:gd name="T49" fmla="*/ 0 h 102"/>
                <a:gd name="T50" fmla="*/ 0 w 101"/>
                <a:gd name="T51" fmla="*/ 0 h 102"/>
                <a:gd name="T52" fmla="*/ 0 w 101"/>
                <a:gd name="T53" fmla="*/ 0 h 102"/>
                <a:gd name="T54" fmla="*/ 0 w 101"/>
                <a:gd name="T55" fmla="*/ 0 h 102"/>
                <a:gd name="T56" fmla="*/ 0 w 101"/>
                <a:gd name="T57" fmla="*/ 0 h 102"/>
                <a:gd name="T58" fmla="*/ 0 w 101"/>
                <a:gd name="T59" fmla="*/ 0 h 102"/>
                <a:gd name="T60" fmla="*/ 0 w 101"/>
                <a:gd name="T61" fmla="*/ 0 h 102"/>
                <a:gd name="T62" fmla="*/ 0 w 101"/>
                <a:gd name="T63" fmla="*/ 0 h 102"/>
                <a:gd name="T64" fmla="*/ 0 w 101"/>
                <a:gd name="T65" fmla="*/ 0 h 102"/>
                <a:gd name="T66" fmla="*/ 0 w 101"/>
                <a:gd name="T67" fmla="*/ 0 h 102"/>
                <a:gd name="T68" fmla="*/ 0 w 101"/>
                <a:gd name="T69" fmla="*/ 0 h 102"/>
                <a:gd name="T70" fmla="*/ 0 w 101"/>
                <a:gd name="T71" fmla="*/ 0 h 102"/>
                <a:gd name="T72" fmla="*/ 0 w 101"/>
                <a:gd name="T73" fmla="*/ 0 h 10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1"/>
                <a:gd name="T112" fmla="*/ 0 h 102"/>
                <a:gd name="T113" fmla="*/ 101 w 101"/>
                <a:gd name="T114" fmla="*/ 102 h 10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1" h="102">
                  <a:moveTo>
                    <a:pt x="51" y="0"/>
                  </a:moveTo>
                  <a:lnTo>
                    <a:pt x="51" y="0"/>
                  </a:lnTo>
                  <a:lnTo>
                    <a:pt x="40" y="1"/>
                  </a:lnTo>
                  <a:lnTo>
                    <a:pt x="31" y="4"/>
                  </a:lnTo>
                  <a:lnTo>
                    <a:pt x="22" y="8"/>
                  </a:lnTo>
                  <a:lnTo>
                    <a:pt x="15" y="14"/>
                  </a:lnTo>
                  <a:lnTo>
                    <a:pt x="8" y="22"/>
                  </a:lnTo>
                  <a:lnTo>
                    <a:pt x="3" y="30"/>
                  </a:lnTo>
                  <a:lnTo>
                    <a:pt x="1" y="39"/>
                  </a:lnTo>
                  <a:lnTo>
                    <a:pt x="0" y="50"/>
                  </a:lnTo>
                  <a:lnTo>
                    <a:pt x="1" y="60"/>
                  </a:lnTo>
                  <a:lnTo>
                    <a:pt x="3" y="71"/>
                  </a:lnTo>
                  <a:lnTo>
                    <a:pt x="8" y="79"/>
                  </a:lnTo>
                  <a:lnTo>
                    <a:pt x="15" y="87"/>
                  </a:lnTo>
                  <a:lnTo>
                    <a:pt x="22" y="92"/>
                  </a:lnTo>
                  <a:lnTo>
                    <a:pt x="31" y="97"/>
                  </a:lnTo>
                  <a:lnTo>
                    <a:pt x="40" y="100"/>
                  </a:lnTo>
                  <a:lnTo>
                    <a:pt x="51" y="102"/>
                  </a:lnTo>
                  <a:lnTo>
                    <a:pt x="61" y="100"/>
                  </a:lnTo>
                  <a:lnTo>
                    <a:pt x="70" y="97"/>
                  </a:lnTo>
                  <a:lnTo>
                    <a:pt x="78" y="92"/>
                  </a:lnTo>
                  <a:lnTo>
                    <a:pt x="86" y="87"/>
                  </a:lnTo>
                  <a:lnTo>
                    <a:pt x="92" y="79"/>
                  </a:lnTo>
                  <a:lnTo>
                    <a:pt x="98" y="71"/>
                  </a:lnTo>
                  <a:lnTo>
                    <a:pt x="100" y="60"/>
                  </a:lnTo>
                  <a:lnTo>
                    <a:pt x="101" y="50"/>
                  </a:lnTo>
                  <a:lnTo>
                    <a:pt x="100" y="39"/>
                  </a:lnTo>
                  <a:lnTo>
                    <a:pt x="98" y="30"/>
                  </a:lnTo>
                  <a:lnTo>
                    <a:pt x="92" y="22"/>
                  </a:lnTo>
                  <a:lnTo>
                    <a:pt x="86" y="14"/>
                  </a:lnTo>
                  <a:lnTo>
                    <a:pt x="78" y="8"/>
                  </a:lnTo>
                  <a:lnTo>
                    <a:pt x="70" y="4"/>
                  </a:lnTo>
                  <a:lnTo>
                    <a:pt x="61" y="1"/>
                  </a:lnTo>
                  <a:lnTo>
                    <a:pt x="5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1" name="Freeform 46"/>
            <p:cNvSpPr>
              <a:spLocks noChangeAspect="1"/>
            </p:cNvSpPr>
            <p:nvPr/>
          </p:nvSpPr>
          <p:spPr bwMode="auto">
            <a:xfrm>
              <a:off x="6793" y="15893"/>
              <a:ext cx="196" cy="19"/>
            </a:xfrm>
            <a:custGeom>
              <a:avLst/>
              <a:gdLst>
                <a:gd name="T0" fmla="*/ 0 w 436"/>
                <a:gd name="T1" fmla="*/ 0 h 44"/>
                <a:gd name="T2" fmla="*/ 0 w 436"/>
                <a:gd name="T3" fmla="*/ 0 h 44"/>
                <a:gd name="T4" fmla="*/ 0 w 436"/>
                <a:gd name="T5" fmla="*/ 0 h 44"/>
                <a:gd name="T6" fmla="*/ 0 w 436"/>
                <a:gd name="T7" fmla="*/ 0 h 44"/>
                <a:gd name="T8" fmla="*/ 0 w 436"/>
                <a:gd name="T9" fmla="*/ 0 h 44"/>
                <a:gd name="T10" fmla="*/ 0 w 436"/>
                <a:gd name="T11" fmla="*/ 0 h 44"/>
                <a:gd name="T12" fmla="*/ 0 w 436"/>
                <a:gd name="T13" fmla="*/ 0 h 44"/>
                <a:gd name="T14" fmla="*/ 0 w 436"/>
                <a:gd name="T15" fmla="*/ 0 h 44"/>
                <a:gd name="T16" fmla="*/ 0 w 436"/>
                <a:gd name="T17" fmla="*/ 0 h 44"/>
                <a:gd name="T18" fmla="*/ 0 w 436"/>
                <a:gd name="T19" fmla="*/ 0 h 44"/>
                <a:gd name="T20" fmla="*/ 0 w 436"/>
                <a:gd name="T21" fmla="*/ 0 h 44"/>
                <a:gd name="T22" fmla="*/ 0 w 436"/>
                <a:gd name="T23" fmla="*/ 0 h 44"/>
                <a:gd name="T24" fmla="*/ 0 w 436"/>
                <a:gd name="T25" fmla="*/ 0 h 44"/>
                <a:gd name="T26" fmla="*/ 0 w 436"/>
                <a:gd name="T27" fmla="*/ 0 h 44"/>
                <a:gd name="T28" fmla="*/ 0 w 436"/>
                <a:gd name="T29" fmla="*/ 0 h 44"/>
                <a:gd name="T30" fmla="*/ 0 w 436"/>
                <a:gd name="T31" fmla="*/ 0 h 44"/>
                <a:gd name="T32" fmla="*/ 0 w 436"/>
                <a:gd name="T33" fmla="*/ 0 h 44"/>
                <a:gd name="T34" fmla="*/ 0 w 436"/>
                <a:gd name="T35" fmla="*/ 0 h 44"/>
                <a:gd name="T36" fmla="*/ 0 w 436"/>
                <a:gd name="T37" fmla="*/ 0 h 44"/>
                <a:gd name="T38" fmla="*/ 0 w 436"/>
                <a:gd name="T39" fmla="*/ 0 h 44"/>
                <a:gd name="T40" fmla="*/ 0 w 436"/>
                <a:gd name="T41" fmla="*/ 0 h 44"/>
                <a:gd name="T42" fmla="*/ 0 w 436"/>
                <a:gd name="T43" fmla="*/ 0 h 44"/>
                <a:gd name="T44" fmla="*/ 0 w 436"/>
                <a:gd name="T45" fmla="*/ 0 h 44"/>
                <a:gd name="T46" fmla="*/ 0 w 436"/>
                <a:gd name="T47" fmla="*/ 0 h 44"/>
                <a:gd name="T48" fmla="*/ 0 w 436"/>
                <a:gd name="T49" fmla="*/ 0 h 4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6"/>
                <a:gd name="T76" fmla="*/ 0 h 44"/>
                <a:gd name="T77" fmla="*/ 436 w 436"/>
                <a:gd name="T78" fmla="*/ 44 h 4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6" h="44">
                  <a:moveTo>
                    <a:pt x="4" y="0"/>
                  </a:move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1" y="43"/>
                  </a:lnTo>
                  <a:lnTo>
                    <a:pt x="3" y="44"/>
                  </a:lnTo>
                  <a:lnTo>
                    <a:pt x="4" y="44"/>
                  </a:lnTo>
                  <a:lnTo>
                    <a:pt x="432" y="44"/>
                  </a:lnTo>
                  <a:lnTo>
                    <a:pt x="434" y="44"/>
                  </a:lnTo>
                  <a:lnTo>
                    <a:pt x="435" y="43"/>
                  </a:lnTo>
                  <a:lnTo>
                    <a:pt x="436" y="42"/>
                  </a:lnTo>
                  <a:lnTo>
                    <a:pt x="436" y="41"/>
                  </a:lnTo>
                  <a:lnTo>
                    <a:pt x="436" y="5"/>
                  </a:lnTo>
                  <a:lnTo>
                    <a:pt x="436" y="4"/>
                  </a:lnTo>
                  <a:lnTo>
                    <a:pt x="435" y="1"/>
                  </a:lnTo>
                  <a:lnTo>
                    <a:pt x="434" y="0"/>
                  </a:lnTo>
                  <a:lnTo>
                    <a:pt x="432" y="0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2" name="Freeform 47"/>
            <p:cNvSpPr>
              <a:spLocks noChangeAspect="1"/>
            </p:cNvSpPr>
            <p:nvPr/>
          </p:nvSpPr>
          <p:spPr bwMode="auto">
            <a:xfrm>
              <a:off x="6790" y="15890"/>
              <a:ext cx="202" cy="24"/>
            </a:xfrm>
            <a:custGeom>
              <a:avLst/>
              <a:gdLst>
                <a:gd name="T0" fmla="*/ 0 w 448"/>
                <a:gd name="T1" fmla="*/ 0 h 53"/>
                <a:gd name="T2" fmla="*/ 0 w 448"/>
                <a:gd name="T3" fmla="*/ 0 h 53"/>
                <a:gd name="T4" fmla="*/ 0 w 448"/>
                <a:gd name="T5" fmla="*/ 0 h 53"/>
                <a:gd name="T6" fmla="*/ 0 w 448"/>
                <a:gd name="T7" fmla="*/ 0 h 53"/>
                <a:gd name="T8" fmla="*/ 0 w 448"/>
                <a:gd name="T9" fmla="*/ 0 h 53"/>
                <a:gd name="T10" fmla="*/ 0 w 448"/>
                <a:gd name="T11" fmla="*/ 0 h 53"/>
                <a:gd name="T12" fmla="*/ 0 w 448"/>
                <a:gd name="T13" fmla="*/ 0 h 53"/>
                <a:gd name="T14" fmla="*/ 0 w 448"/>
                <a:gd name="T15" fmla="*/ 0 h 53"/>
                <a:gd name="T16" fmla="*/ 0 w 448"/>
                <a:gd name="T17" fmla="*/ 0 h 53"/>
                <a:gd name="T18" fmla="*/ 0 w 448"/>
                <a:gd name="T19" fmla="*/ 0 h 53"/>
                <a:gd name="T20" fmla="*/ 0 w 448"/>
                <a:gd name="T21" fmla="*/ 0 h 53"/>
                <a:gd name="T22" fmla="*/ 0 w 448"/>
                <a:gd name="T23" fmla="*/ 0 h 53"/>
                <a:gd name="T24" fmla="*/ 0 w 448"/>
                <a:gd name="T25" fmla="*/ 0 h 53"/>
                <a:gd name="T26" fmla="*/ 0 w 448"/>
                <a:gd name="T27" fmla="*/ 0 h 53"/>
                <a:gd name="T28" fmla="*/ 0 w 448"/>
                <a:gd name="T29" fmla="*/ 0 h 53"/>
                <a:gd name="T30" fmla="*/ 0 w 448"/>
                <a:gd name="T31" fmla="*/ 0 h 53"/>
                <a:gd name="T32" fmla="*/ 0 w 448"/>
                <a:gd name="T33" fmla="*/ 0 h 53"/>
                <a:gd name="T34" fmla="*/ 0 w 448"/>
                <a:gd name="T35" fmla="*/ 0 h 53"/>
                <a:gd name="T36" fmla="*/ 0 w 448"/>
                <a:gd name="T37" fmla="*/ 0 h 53"/>
                <a:gd name="T38" fmla="*/ 0 w 448"/>
                <a:gd name="T39" fmla="*/ 0 h 53"/>
                <a:gd name="T40" fmla="*/ 0 w 448"/>
                <a:gd name="T41" fmla="*/ 0 h 53"/>
                <a:gd name="T42" fmla="*/ 0 w 448"/>
                <a:gd name="T43" fmla="*/ 0 h 53"/>
                <a:gd name="T44" fmla="*/ 0 w 448"/>
                <a:gd name="T45" fmla="*/ 0 h 53"/>
                <a:gd name="T46" fmla="*/ 0 w 448"/>
                <a:gd name="T47" fmla="*/ 0 h 53"/>
                <a:gd name="T48" fmla="*/ 0 w 448"/>
                <a:gd name="T49" fmla="*/ 0 h 5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8"/>
                <a:gd name="T76" fmla="*/ 0 h 53"/>
                <a:gd name="T77" fmla="*/ 448 w 448"/>
                <a:gd name="T78" fmla="*/ 53 h 53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8" h="53">
                  <a:moveTo>
                    <a:pt x="6" y="0"/>
                  </a:moveTo>
                  <a:lnTo>
                    <a:pt x="6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1" y="51"/>
                  </a:lnTo>
                  <a:lnTo>
                    <a:pt x="3" y="53"/>
                  </a:lnTo>
                  <a:lnTo>
                    <a:pt x="6" y="53"/>
                  </a:lnTo>
                  <a:lnTo>
                    <a:pt x="442" y="53"/>
                  </a:lnTo>
                  <a:lnTo>
                    <a:pt x="445" y="53"/>
                  </a:lnTo>
                  <a:lnTo>
                    <a:pt x="447" y="51"/>
                  </a:lnTo>
                  <a:lnTo>
                    <a:pt x="448" y="49"/>
                  </a:lnTo>
                  <a:lnTo>
                    <a:pt x="448" y="48"/>
                  </a:lnTo>
                  <a:lnTo>
                    <a:pt x="448" y="4"/>
                  </a:lnTo>
                  <a:lnTo>
                    <a:pt x="448" y="3"/>
                  </a:lnTo>
                  <a:lnTo>
                    <a:pt x="447" y="1"/>
                  </a:lnTo>
                  <a:lnTo>
                    <a:pt x="445" y="0"/>
                  </a:lnTo>
                  <a:lnTo>
                    <a:pt x="442" y="0"/>
                  </a:lnTo>
                  <a:lnTo>
                    <a:pt x="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3" name="Freeform 48"/>
            <p:cNvSpPr>
              <a:spLocks noChangeAspect="1"/>
            </p:cNvSpPr>
            <p:nvPr/>
          </p:nvSpPr>
          <p:spPr bwMode="auto">
            <a:xfrm>
              <a:off x="6771" y="15916"/>
              <a:ext cx="236" cy="92"/>
            </a:xfrm>
            <a:custGeom>
              <a:avLst/>
              <a:gdLst>
                <a:gd name="T0" fmla="*/ 0 w 524"/>
                <a:gd name="T1" fmla="*/ 0 h 203"/>
                <a:gd name="T2" fmla="*/ 0 w 524"/>
                <a:gd name="T3" fmla="*/ 0 h 203"/>
                <a:gd name="T4" fmla="*/ 0 w 524"/>
                <a:gd name="T5" fmla="*/ 0 h 203"/>
                <a:gd name="T6" fmla="*/ 0 w 524"/>
                <a:gd name="T7" fmla="*/ 0 h 203"/>
                <a:gd name="T8" fmla="*/ 0 w 524"/>
                <a:gd name="T9" fmla="*/ 0 h 203"/>
                <a:gd name="T10" fmla="*/ 0 w 524"/>
                <a:gd name="T11" fmla="*/ 0 h 203"/>
                <a:gd name="T12" fmla="*/ 0 w 524"/>
                <a:gd name="T13" fmla="*/ 0 h 203"/>
                <a:gd name="T14" fmla="*/ 0 w 524"/>
                <a:gd name="T15" fmla="*/ 0 h 203"/>
                <a:gd name="T16" fmla="*/ 0 w 524"/>
                <a:gd name="T17" fmla="*/ 0 h 203"/>
                <a:gd name="T18" fmla="*/ 0 w 524"/>
                <a:gd name="T19" fmla="*/ 0 h 203"/>
                <a:gd name="T20" fmla="*/ 0 w 524"/>
                <a:gd name="T21" fmla="*/ 0 h 203"/>
                <a:gd name="T22" fmla="*/ 0 w 524"/>
                <a:gd name="T23" fmla="*/ 0 h 203"/>
                <a:gd name="T24" fmla="*/ 0 w 524"/>
                <a:gd name="T25" fmla="*/ 0 h 203"/>
                <a:gd name="T26" fmla="*/ 0 w 524"/>
                <a:gd name="T27" fmla="*/ 0 h 203"/>
                <a:gd name="T28" fmla="*/ 0 w 524"/>
                <a:gd name="T29" fmla="*/ 0 h 203"/>
                <a:gd name="T30" fmla="*/ 0 w 524"/>
                <a:gd name="T31" fmla="*/ 0 h 203"/>
                <a:gd name="T32" fmla="*/ 0 w 524"/>
                <a:gd name="T33" fmla="*/ 0 h 203"/>
                <a:gd name="T34" fmla="*/ 0 w 524"/>
                <a:gd name="T35" fmla="*/ 0 h 203"/>
                <a:gd name="T36" fmla="*/ 0 w 524"/>
                <a:gd name="T37" fmla="*/ 0 h 203"/>
                <a:gd name="T38" fmla="*/ 0 w 524"/>
                <a:gd name="T39" fmla="*/ 0 h 203"/>
                <a:gd name="T40" fmla="*/ 0 w 524"/>
                <a:gd name="T41" fmla="*/ 0 h 203"/>
                <a:gd name="T42" fmla="*/ 0 w 524"/>
                <a:gd name="T43" fmla="*/ 0 h 203"/>
                <a:gd name="T44" fmla="*/ 0 w 524"/>
                <a:gd name="T45" fmla="*/ 0 h 203"/>
                <a:gd name="T46" fmla="*/ 0 w 524"/>
                <a:gd name="T47" fmla="*/ 0 h 203"/>
                <a:gd name="T48" fmla="*/ 0 w 524"/>
                <a:gd name="T49" fmla="*/ 0 h 20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4"/>
                <a:gd name="T76" fmla="*/ 0 h 203"/>
                <a:gd name="T77" fmla="*/ 524 w 524"/>
                <a:gd name="T78" fmla="*/ 203 h 203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4" h="203">
                  <a:moveTo>
                    <a:pt x="32" y="0"/>
                  </a:moveTo>
                  <a:lnTo>
                    <a:pt x="491" y="0"/>
                  </a:lnTo>
                  <a:lnTo>
                    <a:pt x="504" y="3"/>
                  </a:lnTo>
                  <a:lnTo>
                    <a:pt x="515" y="9"/>
                  </a:lnTo>
                  <a:lnTo>
                    <a:pt x="521" y="19"/>
                  </a:lnTo>
                  <a:lnTo>
                    <a:pt x="524" y="31"/>
                  </a:lnTo>
                  <a:lnTo>
                    <a:pt x="524" y="171"/>
                  </a:lnTo>
                  <a:lnTo>
                    <a:pt x="521" y="183"/>
                  </a:lnTo>
                  <a:lnTo>
                    <a:pt x="515" y="194"/>
                  </a:lnTo>
                  <a:lnTo>
                    <a:pt x="504" y="201"/>
                  </a:lnTo>
                  <a:lnTo>
                    <a:pt x="491" y="203"/>
                  </a:lnTo>
                  <a:lnTo>
                    <a:pt x="32" y="203"/>
                  </a:lnTo>
                  <a:lnTo>
                    <a:pt x="19" y="201"/>
                  </a:lnTo>
                  <a:lnTo>
                    <a:pt x="9" y="194"/>
                  </a:lnTo>
                  <a:lnTo>
                    <a:pt x="2" y="183"/>
                  </a:lnTo>
                  <a:lnTo>
                    <a:pt x="0" y="17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4" name="Text Box 49"/>
            <p:cNvSpPr txBox="1">
              <a:spLocks noChangeAspect="1" noChangeArrowheads="1"/>
            </p:cNvSpPr>
            <p:nvPr/>
          </p:nvSpPr>
          <p:spPr bwMode="auto">
            <a:xfrm>
              <a:off x="6961" y="15740"/>
              <a:ext cx="865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Chemical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development</a:t>
              </a:r>
            </a:p>
          </p:txBody>
        </p:sp>
      </p:grpSp>
      <p:grpSp>
        <p:nvGrpSpPr>
          <p:cNvPr id="39942" name="Group 50"/>
          <p:cNvGrpSpPr>
            <a:grpSpLocks noChangeAspect="1"/>
          </p:cNvGrpSpPr>
          <p:nvPr/>
        </p:nvGrpSpPr>
        <p:grpSpPr bwMode="auto">
          <a:xfrm>
            <a:off x="6565903" y="1287463"/>
            <a:ext cx="1573213" cy="831850"/>
            <a:chOff x="6733" y="14584"/>
            <a:chExt cx="1101" cy="582"/>
          </a:xfrm>
        </p:grpSpPr>
        <p:sp>
          <p:nvSpPr>
            <p:cNvPr id="40060" name="Freeform 51"/>
            <p:cNvSpPr>
              <a:spLocks noChangeAspect="1"/>
            </p:cNvSpPr>
            <p:nvPr/>
          </p:nvSpPr>
          <p:spPr bwMode="auto">
            <a:xfrm>
              <a:off x="6733" y="15102"/>
              <a:ext cx="1101" cy="64"/>
            </a:xfrm>
            <a:custGeom>
              <a:avLst/>
              <a:gdLst>
                <a:gd name="T0" fmla="*/ 0 w 2450"/>
                <a:gd name="T1" fmla="*/ 0 h 142"/>
                <a:gd name="T2" fmla="*/ 0 w 2450"/>
                <a:gd name="T3" fmla="*/ 0 h 142"/>
                <a:gd name="T4" fmla="*/ 0 w 2450"/>
                <a:gd name="T5" fmla="*/ 0 h 142"/>
                <a:gd name="T6" fmla="*/ 0 w 2450"/>
                <a:gd name="T7" fmla="*/ 0 h 142"/>
                <a:gd name="T8" fmla="*/ 0 w 2450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2"/>
                <a:gd name="T17" fmla="*/ 2450 w 2450"/>
                <a:gd name="T18" fmla="*/ 142 h 1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2">
                  <a:moveTo>
                    <a:pt x="2303" y="0"/>
                  </a:moveTo>
                  <a:lnTo>
                    <a:pt x="0" y="0"/>
                  </a:lnTo>
                  <a:lnTo>
                    <a:pt x="146" y="142"/>
                  </a:lnTo>
                  <a:lnTo>
                    <a:pt x="2450" y="142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Freeform 52"/>
            <p:cNvSpPr>
              <a:spLocks noChangeAspect="1"/>
            </p:cNvSpPr>
            <p:nvPr/>
          </p:nvSpPr>
          <p:spPr bwMode="auto">
            <a:xfrm>
              <a:off x="6733" y="15102"/>
              <a:ext cx="1101" cy="64"/>
            </a:xfrm>
            <a:custGeom>
              <a:avLst/>
              <a:gdLst>
                <a:gd name="T0" fmla="*/ 0 w 2450"/>
                <a:gd name="T1" fmla="*/ 0 h 142"/>
                <a:gd name="T2" fmla="*/ 0 w 2450"/>
                <a:gd name="T3" fmla="*/ 0 h 142"/>
                <a:gd name="T4" fmla="*/ 0 w 2450"/>
                <a:gd name="T5" fmla="*/ 0 h 142"/>
                <a:gd name="T6" fmla="*/ 0 w 2450"/>
                <a:gd name="T7" fmla="*/ 0 h 142"/>
                <a:gd name="T8" fmla="*/ 0 w 2450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2"/>
                <a:gd name="T17" fmla="*/ 2450 w 2450"/>
                <a:gd name="T18" fmla="*/ 142 h 1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2">
                  <a:moveTo>
                    <a:pt x="2303" y="0"/>
                  </a:moveTo>
                  <a:lnTo>
                    <a:pt x="0" y="0"/>
                  </a:lnTo>
                  <a:lnTo>
                    <a:pt x="146" y="142"/>
                  </a:lnTo>
                  <a:lnTo>
                    <a:pt x="2450" y="142"/>
                  </a:lnTo>
                  <a:lnTo>
                    <a:pt x="230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Freeform 53"/>
            <p:cNvSpPr>
              <a:spLocks noChangeAspect="1"/>
            </p:cNvSpPr>
            <p:nvPr/>
          </p:nvSpPr>
          <p:spPr bwMode="auto">
            <a:xfrm>
              <a:off x="7768" y="14584"/>
              <a:ext cx="66" cy="582"/>
            </a:xfrm>
            <a:custGeom>
              <a:avLst/>
              <a:gdLst>
                <a:gd name="T0" fmla="*/ 0 w 147"/>
                <a:gd name="T1" fmla="*/ 0 h 1294"/>
                <a:gd name="T2" fmla="*/ 0 w 147"/>
                <a:gd name="T3" fmla="*/ 0 h 1294"/>
                <a:gd name="T4" fmla="*/ 0 w 147"/>
                <a:gd name="T5" fmla="*/ 0 h 1294"/>
                <a:gd name="T6" fmla="*/ 0 w 147"/>
                <a:gd name="T7" fmla="*/ 0 h 1294"/>
                <a:gd name="T8" fmla="*/ 0 w 147"/>
                <a:gd name="T9" fmla="*/ 0 h 1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4"/>
                <a:gd name="T17" fmla="*/ 147 w 147"/>
                <a:gd name="T18" fmla="*/ 1294 h 1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4">
                  <a:moveTo>
                    <a:pt x="147" y="1294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3"/>
                  </a:lnTo>
                  <a:lnTo>
                    <a:pt x="147" y="129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Freeform 54"/>
            <p:cNvSpPr>
              <a:spLocks noChangeAspect="1"/>
            </p:cNvSpPr>
            <p:nvPr/>
          </p:nvSpPr>
          <p:spPr bwMode="auto">
            <a:xfrm>
              <a:off x="7768" y="14584"/>
              <a:ext cx="66" cy="582"/>
            </a:xfrm>
            <a:custGeom>
              <a:avLst/>
              <a:gdLst>
                <a:gd name="T0" fmla="*/ 0 w 147"/>
                <a:gd name="T1" fmla="*/ 0 h 1294"/>
                <a:gd name="T2" fmla="*/ 0 w 147"/>
                <a:gd name="T3" fmla="*/ 0 h 1294"/>
                <a:gd name="T4" fmla="*/ 0 w 147"/>
                <a:gd name="T5" fmla="*/ 0 h 1294"/>
                <a:gd name="T6" fmla="*/ 0 w 147"/>
                <a:gd name="T7" fmla="*/ 0 h 1294"/>
                <a:gd name="T8" fmla="*/ 0 w 147"/>
                <a:gd name="T9" fmla="*/ 0 h 1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4"/>
                <a:gd name="T17" fmla="*/ 147 w 147"/>
                <a:gd name="T18" fmla="*/ 1294 h 1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4">
                  <a:moveTo>
                    <a:pt x="147" y="1294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3"/>
                  </a:lnTo>
                  <a:lnTo>
                    <a:pt x="147" y="129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4" name="Rectangle 55"/>
            <p:cNvSpPr>
              <a:spLocks noChangeAspect="1" noChangeArrowheads="1"/>
            </p:cNvSpPr>
            <p:nvPr/>
          </p:nvSpPr>
          <p:spPr bwMode="auto">
            <a:xfrm>
              <a:off x="6733" y="14584"/>
              <a:ext cx="1035" cy="5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65" name="Rectangle 56"/>
            <p:cNvSpPr>
              <a:spLocks noChangeAspect="1" noChangeArrowheads="1"/>
            </p:cNvSpPr>
            <p:nvPr/>
          </p:nvSpPr>
          <p:spPr bwMode="auto">
            <a:xfrm>
              <a:off x="6733" y="14584"/>
              <a:ext cx="1035" cy="518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66" name="Freeform 57"/>
            <p:cNvSpPr>
              <a:spLocks noChangeAspect="1" noEditPoints="1"/>
            </p:cNvSpPr>
            <p:nvPr/>
          </p:nvSpPr>
          <p:spPr bwMode="auto">
            <a:xfrm>
              <a:off x="6778" y="14641"/>
              <a:ext cx="213" cy="238"/>
            </a:xfrm>
            <a:custGeom>
              <a:avLst/>
              <a:gdLst>
                <a:gd name="T0" fmla="*/ 0 w 474"/>
                <a:gd name="T1" fmla="*/ 0 h 530"/>
                <a:gd name="T2" fmla="*/ 0 w 474"/>
                <a:gd name="T3" fmla="*/ 0 h 530"/>
                <a:gd name="T4" fmla="*/ 0 w 474"/>
                <a:gd name="T5" fmla="*/ 0 h 530"/>
                <a:gd name="T6" fmla="*/ 0 w 474"/>
                <a:gd name="T7" fmla="*/ 0 h 530"/>
                <a:gd name="T8" fmla="*/ 0 w 474"/>
                <a:gd name="T9" fmla="*/ 0 h 530"/>
                <a:gd name="T10" fmla="*/ 0 w 474"/>
                <a:gd name="T11" fmla="*/ 0 h 530"/>
                <a:gd name="T12" fmla="*/ 0 w 474"/>
                <a:gd name="T13" fmla="*/ 0 h 530"/>
                <a:gd name="T14" fmla="*/ 0 w 474"/>
                <a:gd name="T15" fmla="*/ 0 h 530"/>
                <a:gd name="T16" fmla="*/ 0 w 474"/>
                <a:gd name="T17" fmla="*/ 0 h 530"/>
                <a:gd name="T18" fmla="*/ 0 w 474"/>
                <a:gd name="T19" fmla="*/ 0 h 530"/>
                <a:gd name="T20" fmla="*/ 0 w 474"/>
                <a:gd name="T21" fmla="*/ 0 h 530"/>
                <a:gd name="T22" fmla="*/ 0 w 474"/>
                <a:gd name="T23" fmla="*/ 0 h 530"/>
                <a:gd name="T24" fmla="*/ 0 w 474"/>
                <a:gd name="T25" fmla="*/ 0 h 530"/>
                <a:gd name="T26" fmla="*/ 0 w 474"/>
                <a:gd name="T27" fmla="*/ 0 h 530"/>
                <a:gd name="T28" fmla="*/ 0 w 474"/>
                <a:gd name="T29" fmla="*/ 0 h 530"/>
                <a:gd name="T30" fmla="*/ 0 w 474"/>
                <a:gd name="T31" fmla="*/ 0 h 530"/>
                <a:gd name="T32" fmla="*/ 0 w 474"/>
                <a:gd name="T33" fmla="*/ 0 h 530"/>
                <a:gd name="T34" fmla="*/ 0 w 474"/>
                <a:gd name="T35" fmla="*/ 0 h 530"/>
                <a:gd name="T36" fmla="*/ 0 w 474"/>
                <a:gd name="T37" fmla="*/ 0 h 530"/>
                <a:gd name="T38" fmla="*/ 0 w 474"/>
                <a:gd name="T39" fmla="*/ 0 h 530"/>
                <a:gd name="T40" fmla="*/ 0 w 474"/>
                <a:gd name="T41" fmla="*/ 0 h 530"/>
                <a:gd name="T42" fmla="*/ 0 w 474"/>
                <a:gd name="T43" fmla="*/ 0 h 530"/>
                <a:gd name="T44" fmla="*/ 0 w 474"/>
                <a:gd name="T45" fmla="*/ 0 h 530"/>
                <a:gd name="T46" fmla="*/ 0 w 474"/>
                <a:gd name="T47" fmla="*/ 0 h 530"/>
                <a:gd name="T48" fmla="*/ 0 w 474"/>
                <a:gd name="T49" fmla="*/ 0 h 530"/>
                <a:gd name="T50" fmla="*/ 0 w 474"/>
                <a:gd name="T51" fmla="*/ 0 h 530"/>
                <a:gd name="T52" fmla="*/ 0 w 474"/>
                <a:gd name="T53" fmla="*/ 0 h 530"/>
                <a:gd name="T54" fmla="*/ 0 w 474"/>
                <a:gd name="T55" fmla="*/ 0 h 530"/>
                <a:gd name="T56" fmla="*/ 0 w 474"/>
                <a:gd name="T57" fmla="*/ 0 h 530"/>
                <a:gd name="T58" fmla="*/ 0 w 474"/>
                <a:gd name="T59" fmla="*/ 0 h 530"/>
                <a:gd name="T60" fmla="*/ 0 w 474"/>
                <a:gd name="T61" fmla="*/ 0 h 530"/>
                <a:gd name="T62" fmla="*/ 0 w 474"/>
                <a:gd name="T63" fmla="*/ 0 h 530"/>
                <a:gd name="T64" fmla="*/ 0 w 474"/>
                <a:gd name="T65" fmla="*/ 0 h 530"/>
                <a:gd name="T66" fmla="*/ 0 w 474"/>
                <a:gd name="T67" fmla="*/ 0 h 530"/>
                <a:gd name="T68" fmla="*/ 0 w 474"/>
                <a:gd name="T69" fmla="*/ 0 h 530"/>
                <a:gd name="T70" fmla="*/ 0 w 474"/>
                <a:gd name="T71" fmla="*/ 0 h 530"/>
                <a:gd name="T72" fmla="*/ 0 w 474"/>
                <a:gd name="T73" fmla="*/ 0 h 530"/>
                <a:gd name="T74" fmla="*/ 0 w 474"/>
                <a:gd name="T75" fmla="*/ 0 h 530"/>
                <a:gd name="T76" fmla="*/ 0 w 474"/>
                <a:gd name="T77" fmla="*/ 0 h 530"/>
                <a:gd name="T78" fmla="*/ 0 w 474"/>
                <a:gd name="T79" fmla="*/ 0 h 530"/>
                <a:gd name="T80" fmla="*/ 0 w 474"/>
                <a:gd name="T81" fmla="*/ 0 h 530"/>
                <a:gd name="T82" fmla="*/ 0 w 474"/>
                <a:gd name="T83" fmla="*/ 0 h 530"/>
                <a:gd name="T84" fmla="*/ 0 w 474"/>
                <a:gd name="T85" fmla="*/ 0 h 530"/>
                <a:gd name="T86" fmla="*/ 0 w 474"/>
                <a:gd name="T87" fmla="*/ 0 h 530"/>
                <a:gd name="T88" fmla="*/ 0 w 474"/>
                <a:gd name="T89" fmla="*/ 0 h 530"/>
                <a:gd name="T90" fmla="*/ 0 w 474"/>
                <a:gd name="T91" fmla="*/ 0 h 530"/>
                <a:gd name="T92" fmla="*/ 0 w 474"/>
                <a:gd name="T93" fmla="*/ 0 h 530"/>
                <a:gd name="T94" fmla="*/ 0 w 474"/>
                <a:gd name="T95" fmla="*/ 0 h 530"/>
                <a:gd name="T96" fmla="*/ 0 w 474"/>
                <a:gd name="T97" fmla="*/ 0 h 530"/>
                <a:gd name="T98" fmla="*/ 0 w 474"/>
                <a:gd name="T99" fmla="*/ 0 h 530"/>
                <a:gd name="T100" fmla="*/ 0 w 474"/>
                <a:gd name="T101" fmla="*/ 0 h 530"/>
                <a:gd name="T102" fmla="*/ 0 w 474"/>
                <a:gd name="T103" fmla="*/ 0 h 530"/>
                <a:gd name="T104" fmla="*/ 0 w 474"/>
                <a:gd name="T105" fmla="*/ 0 h 530"/>
                <a:gd name="T106" fmla="*/ 0 w 474"/>
                <a:gd name="T107" fmla="*/ 0 h 530"/>
                <a:gd name="T108" fmla="*/ 0 w 474"/>
                <a:gd name="T109" fmla="*/ 0 h 530"/>
                <a:gd name="T110" fmla="*/ 0 w 474"/>
                <a:gd name="T111" fmla="*/ 0 h 530"/>
                <a:gd name="T112" fmla="*/ 0 w 474"/>
                <a:gd name="T113" fmla="*/ 0 h 530"/>
                <a:gd name="T114" fmla="*/ 0 w 474"/>
                <a:gd name="T115" fmla="*/ 0 h 530"/>
                <a:gd name="T116" fmla="*/ 0 w 474"/>
                <a:gd name="T117" fmla="*/ 0 h 530"/>
                <a:gd name="T118" fmla="*/ 0 w 474"/>
                <a:gd name="T119" fmla="*/ 0 h 530"/>
                <a:gd name="T120" fmla="*/ 0 w 474"/>
                <a:gd name="T121" fmla="*/ 0 h 530"/>
                <a:gd name="T122" fmla="*/ 0 w 474"/>
                <a:gd name="T123" fmla="*/ 0 h 53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74"/>
                <a:gd name="T187" fmla="*/ 0 h 530"/>
                <a:gd name="T188" fmla="*/ 474 w 474"/>
                <a:gd name="T189" fmla="*/ 530 h 53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74" h="530">
                  <a:moveTo>
                    <a:pt x="238" y="224"/>
                  </a:moveTo>
                  <a:lnTo>
                    <a:pt x="218" y="227"/>
                  </a:lnTo>
                  <a:lnTo>
                    <a:pt x="204" y="236"/>
                  </a:lnTo>
                  <a:lnTo>
                    <a:pt x="195" y="250"/>
                  </a:lnTo>
                  <a:lnTo>
                    <a:pt x="193" y="265"/>
                  </a:lnTo>
                  <a:lnTo>
                    <a:pt x="195" y="280"/>
                  </a:lnTo>
                  <a:lnTo>
                    <a:pt x="204" y="294"/>
                  </a:lnTo>
                  <a:lnTo>
                    <a:pt x="218" y="303"/>
                  </a:lnTo>
                  <a:lnTo>
                    <a:pt x="238" y="307"/>
                  </a:lnTo>
                  <a:lnTo>
                    <a:pt x="257" y="303"/>
                  </a:lnTo>
                  <a:lnTo>
                    <a:pt x="271" y="294"/>
                  </a:lnTo>
                  <a:lnTo>
                    <a:pt x="279" y="280"/>
                  </a:lnTo>
                  <a:lnTo>
                    <a:pt x="281" y="265"/>
                  </a:lnTo>
                  <a:lnTo>
                    <a:pt x="279" y="250"/>
                  </a:lnTo>
                  <a:lnTo>
                    <a:pt x="271" y="236"/>
                  </a:lnTo>
                  <a:lnTo>
                    <a:pt x="257" y="227"/>
                  </a:lnTo>
                  <a:lnTo>
                    <a:pt x="238" y="224"/>
                  </a:lnTo>
                  <a:close/>
                  <a:moveTo>
                    <a:pt x="252" y="228"/>
                  </a:moveTo>
                  <a:lnTo>
                    <a:pt x="252" y="229"/>
                  </a:lnTo>
                  <a:lnTo>
                    <a:pt x="254" y="232"/>
                  </a:lnTo>
                  <a:lnTo>
                    <a:pt x="256" y="235"/>
                  </a:lnTo>
                  <a:lnTo>
                    <a:pt x="257" y="238"/>
                  </a:lnTo>
                  <a:lnTo>
                    <a:pt x="256" y="243"/>
                  </a:lnTo>
                  <a:lnTo>
                    <a:pt x="254" y="248"/>
                  </a:lnTo>
                  <a:lnTo>
                    <a:pt x="252" y="251"/>
                  </a:lnTo>
                  <a:lnTo>
                    <a:pt x="253" y="254"/>
                  </a:lnTo>
                  <a:lnTo>
                    <a:pt x="257" y="257"/>
                  </a:lnTo>
                  <a:lnTo>
                    <a:pt x="263" y="257"/>
                  </a:lnTo>
                  <a:lnTo>
                    <a:pt x="269" y="256"/>
                  </a:lnTo>
                  <a:lnTo>
                    <a:pt x="272" y="253"/>
                  </a:lnTo>
                  <a:lnTo>
                    <a:pt x="273" y="244"/>
                  </a:lnTo>
                  <a:lnTo>
                    <a:pt x="268" y="236"/>
                  </a:lnTo>
                  <a:lnTo>
                    <a:pt x="260" y="231"/>
                  </a:lnTo>
                  <a:lnTo>
                    <a:pt x="252" y="228"/>
                  </a:lnTo>
                  <a:close/>
                  <a:moveTo>
                    <a:pt x="411" y="255"/>
                  </a:moveTo>
                  <a:lnTo>
                    <a:pt x="423" y="240"/>
                  </a:lnTo>
                  <a:lnTo>
                    <a:pt x="434" y="224"/>
                  </a:lnTo>
                  <a:lnTo>
                    <a:pt x="442" y="210"/>
                  </a:lnTo>
                  <a:lnTo>
                    <a:pt x="447" y="195"/>
                  </a:lnTo>
                  <a:lnTo>
                    <a:pt x="450" y="181"/>
                  </a:lnTo>
                  <a:lnTo>
                    <a:pt x="451" y="168"/>
                  </a:lnTo>
                  <a:lnTo>
                    <a:pt x="450" y="157"/>
                  </a:lnTo>
                  <a:lnTo>
                    <a:pt x="445" y="147"/>
                  </a:lnTo>
                  <a:lnTo>
                    <a:pt x="438" y="136"/>
                  </a:lnTo>
                  <a:lnTo>
                    <a:pt x="429" y="129"/>
                  </a:lnTo>
                  <a:lnTo>
                    <a:pt x="417" y="122"/>
                  </a:lnTo>
                  <a:lnTo>
                    <a:pt x="404" y="119"/>
                  </a:lnTo>
                  <a:lnTo>
                    <a:pt x="389" y="115"/>
                  </a:lnTo>
                  <a:lnTo>
                    <a:pt x="371" y="115"/>
                  </a:lnTo>
                  <a:lnTo>
                    <a:pt x="352" y="117"/>
                  </a:lnTo>
                  <a:lnTo>
                    <a:pt x="332" y="119"/>
                  </a:lnTo>
                  <a:lnTo>
                    <a:pt x="334" y="128"/>
                  </a:lnTo>
                  <a:lnTo>
                    <a:pt x="337" y="137"/>
                  </a:lnTo>
                  <a:lnTo>
                    <a:pt x="339" y="148"/>
                  </a:lnTo>
                  <a:lnTo>
                    <a:pt x="341" y="158"/>
                  </a:lnTo>
                  <a:lnTo>
                    <a:pt x="344" y="168"/>
                  </a:lnTo>
                  <a:lnTo>
                    <a:pt x="345" y="179"/>
                  </a:lnTo>
                  <a:lnTo>
                    <a:pt x="347" y="190"/>
                  </a:lnTo>
                  <a:lnTo>
                    <a:pt x="348" y="201"/>
                  </a:lnTo>
                  <a:lnTo>
                    <a:pt x="356" y="208"/>
                  </a:lnTo>
                  <a:lnTo>
                    <a:pt x="366" y="214"/>
                  </a:lnTo>
                  <a:lnTo>
                    <a:pt x="374" y="221"/>
                  </a:lnTo>
                  <a:lnTo>
                    <a:pt x="382" y="227"/>
                  </a:lnTo>
                  <a:lnTo>
                    <a:pt x="390" y="234"/>
                  </a:lnTo>
                  <a:lnTo>
                    <a:pt x="397" y="241"/>
                  </a:lnTo>
                  <a:lnTo>
                    <a:pt x="404" y="248"/>
                  </a:lnTo>
                  <a:lnTo>
                    <a:pt x="411" y="255"/>
                  </a:lnTo>
                  <a:close/>
                  <a:moveTo>
                    <a:pt x="421" y="265"/>
                  </a:moveTo>
                  <a:lnTo>
                    <a:pt x="437" y="284"/>
                  </a:lnTo>
                  <a:lnTo>
                    <a:pt x="450" y="303"/>
                  </a:lnTo>
                  <a:lnTo>
                    <a:pt x="460" y="320"/>
                  </a:lnTo>
                  <a:lnTo>
                    <a:pt x="467" y="338"/>
                  </a:lnTo>
                  <a:lnTo>
                    <a:pt x="472" y="355"/>
                  </a:lnTo>
                  <a:lnTo>
                    <a:pt x="474" y="370"/>
                  </a:lnTo>
                  <a:lnTo>
                    <a:pt x="472" y="384"/>
                  </a:lnTo>
                  <a:lnTo>
                    <a:pt x="467" y="397"/>
                  </a:lnTo>
                  <a:lnTo>
                    <a:pt x="459" y="408"/>
                  </a:lnTo>
                  <a:lnTo>
                    <a:pt x="447" y="416"/>
                  </a:lnTo>
                  <a:lnTo>
                    <a:pt x="432" y="423"/>
                  </a:lnTo>
                  <a:lnTo>
                    <a:pt x="416" y="426"/>
                  </a:lnTo>
                  <a:lnTo>
                    <a:pt x="397" y="429"/>
                  </a:lnTo>
                  <a:lnTo>
                    <a:pt x="376" y="429"/>
                  </a:lnTo>
                  <a:lnTo>
                    <a:pt x="353" y="428"/>
                  </a:lnTo>
                  <a:lnTo>
                    <a:pt x="329" y="423"/>
                  </a:lnTo>
                  <a:lnTo>
                    <a:pt x="321" y="446"/>
                  </a:lnTo>
                  <a:lnTo>
                    <a:pt x="311" y="467"/>
                  </a:lnTo>
                  <a:lnTo>
                    <a:pt x="301" y="485"/>
                  </a:lnTo>
                  <a:lnTo>
                    <a:pt x="290" y="500"/>
                  </a:lnTo>
                  <a:lnTo>
                    <a:pt x="277" y="513"/>
                  </a:lnTo>
                  <a:lnTo>
                    <a:pt x="264" y="522"/>
                  </a:lnTo>
                  <a:lnTo>
                    <a:pt x="252" y="528"/>
                  </a:lnTo>
                  <a:lnTo>
                    <a:pt x="238" y="530"/>
                  </a:lnTo>
                  <a:lnTo>
                    <a:pt x="224" y="528"/>
                  </a:lnTo>
                  <a:lnTo>
                    <a:pt x="210" y="522"/>
                  </a:lnTo>
                  <a:lnTo>
                    <a:pt x="197" y="513"/>
                  </a:lnTo>
                  <a:lnTo>
                    <a:pt x="186" y="500"/>
                  </a:lnTo>
                  <a:lnTo>
                    <a:pt x="174" y="485"/>
                  </a:lnTo>
                  <a:lnTo>
                    <a:pt x="164" y="467"/>
                  </a:lnTo>
                  <a:lnTo>
                    <a:pt x="155" y="446"/>
                  </a:lnTo>
                  <a:lnTo>
                    <a:pt x="147" y="423"/>
                  </a:lnTo>
                  <a:lnTo>
                    <a:pt x="122" y="428"/>
                  </a:lnTo>
                  <a:lnTo>
                    <a:pt x="99" y="430"/>
                  </a:lnTo>
                  <a:lnTo>
                    <a:pt x="78" y="430"/>
                  </a:lnTo>
                  <a:lnTo>
                    <a:pt x="59" y="428"/>
                  </a:lnTo>
                  <a:lnTo>
                    <a:pt x="42" y="424"/>
                  </a:lnTo>
                  <a:lnTo>
                    <a:pt x="28" y="417"/>
                  </a:lnTo>
                  <a:lnTo>
                    <a:pt x="15" y="409"/>
                  </a:lnTo>
                  <a:lnTo>
                    <a:pt x="7" y="398"/>
                  </a:lnTo>
                  <a:lnTo>
                    <a:pt x="3" y="385"/>
                  </a:lnTo>
                  <a:lnTo>
                    <a:pt x="0" y="370"/>
                  </a:lnTo>
                  <a:lnTo>
                    <a:pt x="3" y="355"/>
                  </a:lnTo>
                  <a:lnTo>
                    <a:pt x="7" y="338"/>
                  </a:lnTo>
                  <a:lnTo>
                    <a:pt x="14" y="320"/>
                  </a:lnTo>
                  <a:lnTo>
                    <a:pt x="25" y="303"/>
                  </a:lnTo>
                  <a:lnTo>
                    <a:pt x="37" y="284"/>
                  </a:lnTo>
                  <a:lnTo>
                    <a:pt x="53" y="265"/>
                  </a:lnTo>
                  <a:lnTo>
                    <a:pt x="37" y="247"/>
                  </a:lnTo>
                  <a:lnTo>
                    <a:pt x="25" y="228"/>
                  </a:lnTo>
                  <a:lnTo>
                    <a:pt x="14" y="210"/>
                  </a:lnTo>
                  <a:lnTo>
                    <a:pt x="6" y="193"/>
                  </a:lnTo>
                  <a:lnTo>
                    <a:pt x="1" y="176"/>
                  </a:lnTo>
                  <a:lnTo>
                    <a:pt x="0" y="161"/>
                  </a:lnTo>
                  <a:lnTo>
                    <a:pt x="3" y="147"/>
                  </a:lnTo>
                  <a:lnTo>
                    <a:pt x="7" y="134"/>
                  </a:lnTo>
                  <a:lnTo>
                    <a:pt x="15" y="122"/>
                  </a:lnTo>
                  <a:lnTo>
                    <a:pt x="27" y="114"/>
                  </a:lnTo>
                  <a:lnTo>
                    <a:pt x="41" y="107"/>
                  </a:lnTo>
                  <a:lnTo>
                    <a:pt x="58" y="103"/>
                  </a:lnTo>
                  <a:lnTo>
                    <a:pt x="76" y="102"/>
                  </a:lnTo>
                  <a:lnTo>
                    <a:pt x="98" y="102"/>
                  </a:lnTo>
                  <a:lnTo>
                    <a:pt x="121" y="103"/>
                  </a:lnTo>
                  <a:lnTo>
                    <a:pt x="146" y="107"/>
                  </a:lnTo>
                  <a:lnTo>
                    <a:pt x="154" y="84"/>
                  </a:lnTo>
                  <a:lnTo>
                    <a:pt x="163" y="64"/>
                  </a:lnTo>
                  <a:lnTo>
                    <a:pt x="174" y="45"/>
                  </a:lnTo>
                  <a:lnTo>
                    <a:pt x="185" y="29"/>
                  </a:lnTo>
                  <a:lnTo>
                    <a:pt x="197" y="17"/>
                  </a:lnTo>
                  <a:lnTo>
                    <a:pt x="210" y="8"/>
                  </a:lnTo>
                  <a:lnTo>
                    <a:pt x="224" y="2"/>
                  </a:lnTo>
                  <a:lnTo>
                    <a:pt x="238" y="0"/>
                  </a:lnTo>
                  <a:lnTo>
                    <a:pt x="252" y="2"/>
                  </a:lnTo>
                  <a:lnTo>
                    <a:pt x="264" y="8"/>
                  </a:lnTo>
                  <a:lnTo>
                    <a:pt x="277" y="17"/>
                  </a:lnTo>
                  <a:lnTo>
                    <a:pt x="290" y="29"/>
                  </a:lnTo>
                  <a:lnTo>
                    <a:pt x="301" y="45"/>
                  </a:lnTo>
                  <a:lnTo>
                    <a:pt x="311" y="64"/>
                  </a:lnTo>
                  <a:lnTo>
                    <a:pt x="321" y="84"/>
                  </a:lnTo>
                  <a:lnTo>
                    <a:pt x="329" y="107"/>
                  </a:lnTo>
                  <a:lnTo>
                    <a:pt x="353" y="103"/>
                  </a:lnTo>
                  <a:lnTo>
                    <a:pt x="376" y="102"/>
                  </a:lnTo>
                  <a:lnTo>
                    <a:pt x="397" y="102"/>
                  </a:lnTo>
                  <a:lnTo>
                    <a:pt x="416" y="103"/>
                  </a:lnTo>
                  <a:lnTo>
                    <a:pt x="432" y="107"/>
                  </a:lnTo>
                  <a:lnTo>
                    <a:pt x="447" y="114"/>
                  </a:lnTo>
                  <a:lnTo>
                    <a:pt x="459" y="122"/>
                  </a:lnTo>
                  <a:lnTo>
                    <a:pt x="467" y="134"/>
                  </a:lnTo>
                  <a:lnTo>
                    <a:pt x="472" y="147"/>
                  </a:lnTo>
                  <a:lnTo>
                    <a:pt x="474" y="160"/>
                  </a:lnTo>
                  <a:lnTo>
                    <a:pt x="472" y="176"/>
                  </a:lnTo>
                  <a:lnTo>
                    <a:pt x="467" y="193"/>
                  </a:lnTo>
                  <a:lnTo>
                    <a:pt x="460" y="210"/>
                  </a:lnTo>
                  <a:lnTo>
                    <a:pt x="450" y="228"/>
                  </a:lnTo>
                  <a:lnTo>
                    <a:pt x="437" y="247"/>
                  </a:lnTo>
                  <a:lnTo>
                    <a:pt x="421" y="265"/>
                  </a:lnTo>
                  <a:close/>
                  <a:moveTo>
                    <a:pt x="412" y="276"/>
                  </a:moveTo>
                  <a:lnTo>
                    <a:pt x="405" y="282"/>
                  </a:lnTo>
                  <a:lnTo>
                    <a:pt x="397" y="289"/>
                  </a:lnTo>
                  <a:lnTo>
                    <a:pt x="390" y="296"/>
                  </a:lnTo>
                  <a:lnTo>
                    <a:pt x="382" y="303"/>
                  </a:lnTo>
                  <a:lnTo>
                    <a:pt x="374" y="310"/>
                  </a:lnTo>
                  <a:lnTo>
                    <a:pt x="366" y="317"/>
                  </a:lnTo>
                  <a:lnTo>
                    <a:pt x="356" y="323"/>
                  </a:lnTo>
                  <a:lnTo>
                    <a:pt x="348" y="330"/>
                  </a:lnTo>
                  <a:lnTo>
                    <a:pt x="347" y="341"/>
                  </a:lnTo>
                  <a:lnTo>
                    <a:pt x="345" y="352"/>
                  </a:lnTo>
                  <a:lnTo>
                    <a:pt x="344" y="362"/>
                  </a:lnTo>
                  <a:lnTo>
                    <a:pt x="341" y="372"/>
                  </a:lnTo>
                  <a:lnTo>
                    <a:pt x="339" y="383"/>
                  </a:lnTo>
                  <a:lnTo>
                    <a:pt x="337" y="393"/>
                  </a:lnTo>
                  <a:lnTo>
                    <a:pt x="334" y="402"/>
                  </a:lnTo>
                  <a:lnTo>
                    <a:pt x="332" y="412"/>
                  </a:lnTo>
                  <a:lnTo>
                    <a:pt x="352" y="414"/>
                  </a:lnTo>
                  <a:lnTo>
                    <a:pt x="371" y="415"/>
                  </a:lnTo>
                  <a:lnTo>
                    <a:pt x="389" y="415"/>
                  </a:lnTo>
                  <a:lnTo>
                    <a:pt x="404" y="412"/>
                  </a:lnTo>
                  <a:lnTo>
                    <a:pt x="417" y="408"/>
                  </a:lnTo>
                  <a:lnTo>
                    <a:pt x="429" y="402"/>
                  </a:lnTo>
                  <a:lnTo>
                    <a:pt x="439" y="394"/>
                  </a:lnTo>
                  <a:lnTo>
                    <a:pt x="446" y="385"/>
                  </a:lnTo>
                  <a:lnTo>
                    <a:pt x="450" y="375"/>
                  </a:lnTo>
                  <a:lnTo>
                    <a:pt x="452" y="363"/>
                  </a:lnTo>
                  <a:lnTo>
                    <a:pt x="451" y="350"/>
                  </a:lnTo>
                  <a:lnTo>
                    <a:pt x="447" y="337"/>
                  </a:lnTo>
                  <a:lnTo>
                    <a:pt x="442" y="322"/>
                  </a:lnTo>
                  <a:lnTo>
                    <a:pt x="434" y="307"/>
                  </a:lnTo>
                  <a:lnTo>
                    <a:pt x="424" y="292"/>
                  </a:lnTo>
                  <a:lnTo>
                    <a:pt x="412" y="276"/>
                  </a:lnTo>
                  <a:close/>
                  <a:moveTo>
                    <a:pt x="402" y="265"/>
                  </a:moveTo>
                  <a:lnTo>
                    <a:pt x="397" y="258"/>
                  </a:lnTo>
                  <a:lnTo>
                    <a:pt x="391" y="253"/>
                  </a:lnTo>
                  <a:lnTo>
                    <a:pt x="384" y="247"/>
                  </a:lnTo>
                  <a:lnTo>
                    <a:pt x="378" y="240"/>
                  </a:lnTo>
                  <a:lnTo>
                    <a:pt x="371" y="234"/>
                  </a:lnTo>
                  <a:lnTo>
                    <a:pt x="364" y="228"/>
                  </a:lnTo>
                  <a:lnTo>
                    <a:pt x="358" y="223"/>
                  </a:lnTo>
                  <a:lnTo>
                    <a:pt x="349" y="217"/>
                  </a:lnTo>
                  <a:lnTo>
                    <a:pt x="349" y="223"/>
                  </a:lnTo>
                  <a:lnTo>
                    <a:pt x="351" y="228"/>
                  </a:lnTo>
                  <a:lnTo>
                    <a:pt x="351" y="234"/>
                  </a:lnTo>
                  <a:lnTo>
                    <a:pt x="351" y="240"/>
                  </a:lnTo>
                  <a:lnTo>
                    <a:pt x="351" y="247"/>
                  </a:lnTo>
                  <a:lnTo>
                    <a:pt x="351" y="253"/>
                  </a:lnTo>
                  <a:lnTo>
                    <a:pt x="351" y="258"/>
                  </a:lnTo>
                  <a:lnTo>
                    <a:pt x="351" y="265"/>
                  </a:lnTo>
                  <a:lnTo>
                    <a:pt x="351" y="271"/>
                  </a:lnTo>
                  <a:lnTo>
                    <a:pt x="351" y="278"/>
                  </a:lnTo>
                  <a:lnTo>
                    <a:pt x="351" y="284"/>
                  </a:lnTo>
                  <a:lnTo>
                    <a:pt x="351" y="289"/>
                  </a:lnTo>
                  <a:lnTo>
                    <a:pt x="351" y="296"/>
                  </a:lnTo>
                  <a:lnTo>
                    <a:pt x="349" y="302"/>
                  </a:lnTo>
                  <a:lnTo>
                    <a:pt x="349" y="309"/>
                  </a:lnTo>
                  <a:lnTo>
                    <a:pt x="348" y="315"/>
                  </a:lnTo>
                  <a:lnTo>
                    <a:pt x="356" y="309"/>
                  </a:lnTo>
                  <a:lnTo>
                    <a:pt x="364" y="302"/>
                  </a:lnTo>
                  <a:lnTo>
                    <a:pt x="371" y="296"/>
                  </a:lnTo>
                  <a:lnTo>
                    <a:pt x="378" y="289"/>
                  </a:lnTo>
                  <a:lnTo>
                    <a:pt x="385" y="284"/>
                  </a:lnTo>
                  <a:lnTo>
                    <a:pt x="391" y="278"/>
                  </a:lnTo>
                  <a:lnTo>
                    <a:pt x="397" y="271"/>
                  </a:lnTo>
                  <a:lnTo>
                    <a:pt x="402" y="265"/>
                  </a:lnTo>
                  <a:close/>
                  <a:moveTo>
                    <a:pt x="64" y="257"/>
                  </a:moveTo>
                  <a:lnTo>
                    <a:pt x="71" y="250"/>
                  </a:lnTo>
                  <a:lnTo>
                    <a:pt x="78" y="242"/>
                  </a:lnTo>
                  <a:lnTo>
                    <a:pt x="84" y="235"/>
                  </a:lnTo>
                  <a:lnTo>
                    <a:pt x="93" y="228"/>
                  </a:lnTo>
                  <a:lnTo>
                    <a:pt x="101" y="221"/>
                  </a:lnTo>
                  <a:lnTo>
                    <a:pt x="109" y="214"/>
                  </a:lnTo>
                  <a:lnTo>
                    <a:pt x="118" y="209"/>
                  </a:lnTo>
                  <a:lnTo>
                    <a:pt x="127" y="202"/>
                  </a:lnTo>
                  <a:lnTo>
                    <a:pt x="128" y="190"/>
                  </a:lnTo>
                  <a:lnTo>
                    <a:pt x="129" y="180"/>
                  </a:lnTo>
                  <a:lnTo>
                    <a:pt x="131" y="170"/>
                  </a:lnTo>
                  <a:lnTo>
                    <a:pt x="133" y="159"/>
                  </a:lnTo>
                  <a:lnTo>
                    <a:pt x="135" y="149"/>
                  </a:lnTo>
                  <a:lnTo>
                    <a:pt x="137" y="140"/>
                  </a:lnTo>
                  <a:lnTo>
                    <a:pt x="140" y="129"/>
                  </a:lnTo>
                  <a:lnTo>
                    <a:pt x="142" y="120"/>
                  </a:lnTo>
                  <a:lnTo>
                    <a:pt x="122" y="117"/>
                  </a:lnTo>
                  <a:lnTo>
                    <a:pt x="103" y="115"/>
                  </a:lnTo>
                  <a:lnTo>
                    <a:pt x="86" y="117"/>
                  </a:lnTo>
                  <a:lnTo>
                    <a:pt x="71" y="119"/>
                  </a:lnTo>
                  <a:lnTo>
                    <a:pt x="57" y="123"/>
                  </a:lnTo>
                  <a:lnTo>
                    <a:pt x="45" y="129"/>
                  </a:lnTo>
                  <a:lnTo>
                    <a:pt x="35" y="137"/>
                  </a:lnTo>
                  <a:lnTo>
                    <a:pt x="28" y="147"/>
                  </a:lnTo>
                  <a:lnTo>
                    <a:pt x="23" y="157"/>
                  </a:lnTo>
                  <a:lnTo>
                    <a:pt x="22" y="168"/>
                  </a:lnTo>
                  <a:lnTo>
                    <a:pt x="23" y="182"/>
                  </a:lnTo>
                  <a:lnTo>
                    <a:pt x="27" y="196"/>
                  </a:lnTo>
                  <a:lnTo>
                    <a:pt x="33" y="210"/>
                  </a:lnTo>
                  <a:lnTo>
                    <a:pt x="41" y="226"/>
                  </a:lnTo>
                  <a:lnTo>
                    <a:pt x="51" y="241"/>
                  </a:lnTo>
                  <a:lnTo>
                    <a:pt x="64" y="257"/>
                  </a:lnTo>
                  <a:close/>
                  <a:moveTo>
                    <a:pt x="71" y="266"/>
                  </a:moveTo>
                  <a:lnTo>
                    <a:pt x="76" y="272"/>
                  </a:lnTo>
                  <a:lnTo>
                    <a:pt x="82" y="279"/>
                  </a:lnTo>
                  <a:lnTo>
                    <a:pt x="89" y="285"/>
                  </a:lnTo>
                  <a:lnTo>
                    <a:pt x="96" y="291"/>
                  </a:lnTo>
                  <a:lnTo>
                    <a:pt x="103" y="297"/>
                  </a:lnTo>
                  <a:lnTo>
                    <a:pt x="110" y="303"/>
                  </a:lnTo>
                  <a:lnTo>
                    <a:pt x="118" y="309"/>
                  </a:lnTo>
                  <a:lnTo>
                    <a:pt x="125" y="315"/>
                  </a:lnTo>
                  <a:lnTo>
                    <a:pt x="125" y="309"/>
                  </a:lnTo>
                  <a:lnTo>
                    <a:pt x="124" y="303"/>
                  </a:lnTo>
                  <a:lnTo>
                    <a:pt x="124" y="297"/>
                  </a:lnTo>
                  <a:lnTo>
                    <a:pt x="124" y="291"/>
                  </a:lnTo>
                  <a:lnTo>
                    <a:pt x="122" y="285"/>
                  </a:lnTo>
                  <a:lnTo>
                    <a:pt x="122" y="278"/>
                  </a:lnTo>
                  <a:lnTo>
                    <a:pt x="122" y="272"/>
                  </a:lnTo>
                  <a:lnTo>
                    <a:pt x="122" y="265"/>
                  </a:lnTo>
                  <a:lnTo>
                    <a:pt x="122" y="258"/>
                  </a:lnTo>
                  <a:lnTo>
                    <a:pt x="122" y="253"/>
                  </a:lnTo>
                  <a:lnTo>
                    <a:pt x="122" y="246"/>
                  </a:lnTo>
                  <a:lnTo>
                    <a:pt x="124" y="240"/>
                  </a:lnTo>
                  <a:lnTo>
                    <a:pt x="124" y="233"/>
                  </a:lnTo>
                  <a:lnTo>
                    <a:pt x="125" y="227"/>
                  </a:lnTo>
                  <a:lnTo>
                    <a:pt x="125" y="221"/>
                  </a:lnTo>
                  <a:lnTo>
                    <a:pt x="126" y="216"/>
                  </a:lnTo>
                  <a:lnTo>
                    <a:pt x="118" y="221"/>
                  </a:lnTo>
                  <a:lnTo>
                    <a:pt x="110" y="228"/>
                  </a:lnTo>
                  <a:lnTo>
                    <a:pt x="103" y="234"/>
                  </a:lnTo>
                  <a:lnTo>
                    <a:pt x="96" y="240"/>
                  </a:lnTo>
                  <a:lnTo>
                    <a:pt x="89" y="247"/>
                  </a:lnTo>
                  <a:lnTo>
                    <a:pt x="82" y="253"/>
                  </a:lnTo>
                  <a:lnTo>
                    <a:pt x="76" y="259"/>
                  </a:lnTo>
                  <a:lnTo>
                    <a:pt x="71" y="266"/>
                  </a:lnTo>
                  <a:close/>
                  <a:moveTo>
                    <a:pt x="63" y="276"/>
                  </a:moveTo>
                  <a:lnTo>
                    <a:pt x="50" y="292"/>
                  </a:lnTo>
                  <a:lnTo>
                    <a:pt x="41" y="307"/>
                  </a:lnTo>
                  <a:lnTo>
                    <a:pt x="33" y="322"/>
                  </a:lnTo>
                  <a:lnTo>
                    <a:pt x="27" y="337"/>
                  </a:lnTo>
                  <a:lnTo>
                    <a:pt x="23" y="350"/>
                  </a:lnTo>
                  <a:lnTo>
                    <a:pt x="22" y="363"/>
                  </a:lnTo>
                  <a:lnTo>
                    <a:pt x="25" y="375"/>
                  </a:lnTo>
                  <a:lnTo>
                    <a:pt x="28" y="385"/>
                  </a:lnTo>
                  <a:lnTo>
                    <a:pt x="36" y="394"/>
                  </a:lnTo>
                  <a:lnTo>
                    <a:pt x="45" y="402"/>
                  </a:lnTo>
                  <a:lnTo>
                    <a:pt x="57" y="408"/>
                  </a:lnTo>
                  <a:lnTo>
                    <a:pt x="71" y="412"/>
                  </a:lnTo>
                  <a:lnTo>
                    <a:pt x="87" y="415"/>
                  </a:lnTo>
                  <a:lnTo>
                    <a:pt x="103" y="415"/>
                  </a:lnTo>
                  <a:lnTo>
                    <a:pt x="122" y="414"/>
                  </a:lnTo>
                  <a:lnTo>
                    <a:pt x="142" y="412"/>
                  </a:lnTo>
                  <a:lnTo>
                    <a:pt x="140" y="402"/>
                  </a:lnTo>
                  <a:lnTo>
                    <a:pt x="137" y="393"/>
                  </a:lnTo>
                  <a:lnTo>
                    <a:pt x="135" y="383"/>
                  </a:lnTo>
                  <a:lnTo>
                    <a:pt x="133" y="372"/>
                  </a:lnTo>
                  <a:lnTo>
                    <a:pt x="131" y="362"/>
                  </a:lnTo>
                  <a:lnTo>
                    <a:pt x="129" y="352"/>
                  </a:lnTo>
                  <a:lnTo>
                    <a:pt x="128" y="341"/>
                  </a:lnTo>
                  <a:lnTo>
                    <a:pt x="127" y="330"/>
                  </a:lnTo>
                  <a:lnTo>
                    <a:pt x="118" y="323"/>
                  </a:lnTo>
                  <a:lnTo>
                    <a:pt x="110" y="317"/>
                  </a:lnTo>
                  <a:lnTo>
                    <a:pt x="101" y="310"/>
                  </a:lnTo>
                  <a:lnTo>
                    <a:pt x="93" y="303"/>
                  </a:lnTo>
                  <a:lnTo>
                    <a:pt x="84" y="296"/>
                  </a:lnTo>
                  <a:lnTo>
                    <a:pt x="78" y="289"/>
                  </a:lnTo>
                  <a:lnTo>
                    <a:pt x="69" y="282"/>
                  </a:lnTo>
                  <a:lnTo>
                    <a:pt x="63" y="276"/>
                  </a:lnTo>
                  <a:close/>
                  <a:moveTo>
                    <a:pt x="223" y="144"/>
                  </a:moveTo>
                  <a:lnTo>
                    <a:pt x="213" y="141"/>
                  </a:lnTo>
                  <a:lnTo>
                    <a:pt x="204" y="137"/>
                  </a:lnTo>
                  <a:lnTo>
                    <a:pt x="196" y="134"/>
                  </a:lnTo>
                  <a:lnTo>
                    <a:pt x="187" y="132"/>
                  </a:lnTo>
                  <a:lnTo>
                    <a:pt x="179" y="128"/>
                  </a:lnTo>
                  <a:lnTo>
                    <a:pt x="170" y="126"/>
                  </a:lnTo>
                  <a:lnTo>
                    <a:pt x="162" y="125"/>
                  </a:lnTo>
                  <a:lnTo>
                    <a:pt x="154" y="122"/>
                  </a:lnTo>
                  <a:lnTo>
                    <a:pt x="151" y="130"/>
                  </a:lnTo>
                  <a:lnTo>
                    <a:pt x="149" y="138"/>
                  </a:lnTo>
                  <a:lnTo>
                    <a:pt x="147" y="148"/>
                  </a:lnTo>
                  <a:lnTo>
                    <a:pt x="144" y="156"/>
                  </a:lnTo>
                  <a:lnTo>
                    <a:pt x="143" y="165"/>
                  </a:lnTo>
                  <a:lnTo>
                    <a:pt x="141" y="175"/>
                  </a:lnTo>
                  <a:lnTo>
                    <a:pt x="140" y="185"/>
                  </a:lnTo>
                  <a:lnTo>
                    <a:pt x="137" y="194"/>
                  </a:lnTo>
                  <a:lnTo>
                    <a:pt x="143" y="190"/>
                  </a:lnTo>
                  <a:lnTo>
                    <a:pt x="148" y="186"/>
                  </a:lnTo>
                  <a:lnTo>
                    <a:pt x="154" y="182"/>
                  </a:lnTo>
                  <a:lnTo>
                    <a:pt x="159" y="179"/>
                  </a:lnTo>
                  <a:lnTo>
                    <a:pt x="164" y="175"/>
                  </a:lnTo>
                  <a:lnTo>
                    <a:pt x="170" y="172"/>
                  </a:lnTo>
                  <a:lnTo>
                    <a:pt x="174" y="170"/>
                  </a:lnTo>
                  <a:lnTo>
                    <a:pt x="180" y="166"/>
                  </a:lnTo>
                  <a:lnTo>
                    <a:pt x="186" y="163"/>
                  </a:lnTo>
                  <a:lnTo>
                    <a:pt x="190" y="160"/>
                  </a:lnTo>
                  <a:lnTo>
                    <a:pt x="196" y="157"/>
                  </a:lnTo>
                  <a:lnTo>
                    <a:pt x="201" y="155"/>
                  </a:lnTo>
                  <a:lnTo>
                    <a:pt x="207" y="152"/>
                  </a:lnTo>
                  <a:lnTo>
                    <a:pt x="211" y="150"/>
                  </a:lnTo>
                  <a:lnTo>
                    <a:pt x="217" y="147"/>
                  </a:lnTo>
                  <a:lnTo>
                    <a:pt x="223" y="144"/>
                  </a:lnTo>
                  <a:close/>
                  <a:moveTo>
                    <a:pt x="238" y="393"/>
                  </a:moveTo>
                  <a:lnTo>
                    <a:pt x="227" y="398"/>
                  </a:lnTo>
                  <a:lnTo>
                    <a:pt x="217" y="401"/>
                  </a:lnTo>
                  <a:lnTo>
                    <a:pt x="207" y="405"/>
                  </a:lnTo>
                  <a:lnTo>
                    <a:pt x="197" y="408"/>
                  </a:lnTo>
                  <a:lnTo>
                    <a:pt x="187" y="412"/>
                  </a:lnTo>
                  <a:lnTo>
                    <a:pt x="177" y="415"/>
                  </a:lnTo>
                  <a:lnTo>
                    <a:pt x="167" y="418"/>
                  </a:lnTo>
                  <a:lnTo>
                    <a:pt x="157" y="421"/>
                  </a:lnTo>
                  <a:lnTo>
                    <a:pt x="165" y="439"/>
                  </a:lnTo>
                  <a:lnTo>
                    <a:pt x="173" y="455"/>
                  </a:lnTo>
                  <a:lnTo>
                    <a:pt x="182" y="470"/>
                  </a:lnTo>
                  <a:lnTo>
                    <a:pt x="193" y="482"/>
                  </a:lnTo>
                  <a:lnTo>
                    <a:pt x="203" y="492"/>
                  </a:lnTo>
                  <a:lnTo>
                    <a:pt x="215" y="500"/>
                  </a:lnTo>
                  <a:lnTo>
                    <a:pt x="226" y="505"/>
                  </a:lnTo>
                  <a:lnTo>
                    <a:pt x="238" y="506"/>
                  </a:lnTo>
                  <a:lnTo>
                    <a:pt x="249" y="505"/>
                  </a:lnTo>
                  <a:lnTo>
                    <a:pt x="261" y="500"/>
                  </a:lnTo>
                  <a:lnTo>
                    <a:pt x="271" y="492"/>
                  </a:lnTo>
                  <a:lnTo>
                    <a:pt x="281" y="483"/>
                  </a:lnTo>
                  <a:lnTo>
                    <a:pt x="292" y="470"/>
                  </a:lnTo>
                  <a:lnTo>
                    <a:pt x="300" y="456"/>
                  </a:lnTo>
                  <a:lnTo>
                    <a:pt x="309" y="439"/>
                  </a:lnTo>
                  <a:lnTo>
                    <a:pt x="316" y="421"/>
                  </a:lnTo>
                  <a:lnTo>
                    <a:pt x="307" y="418"/>
                  </a:lnTo>
                  <a:lnTo>
                    <a:pt x="296" y="415"/>
                  </a:lnTo>
                  <a:lnTo>
                    <a:pt x="287" y="413"/>
                  </a:lnTo>
                  <a:lnTo>
                    <a:pt x="278" y="409"/>
                  </a:lnTo>
                  <a:lnTo>
                    <a:pt x="268" y="406"/>
                  </a:lnTo>
                  <a:lnTo>
                    <a:pt x="258" y="402"/>
                  </a:lnTo>
                  <a:lnTo>
                    <a:pt x="248" y="398"/>
                  </a:lnTo>
                  <a:lnTo>
                    <a:pt x="238" y="393"/>
                  </a:lnTo>
                  <a:close/>
                  <a:moveTo>
                    <a:pt x="250" y="387"/>
                  </a:moveTo>
                  <a:lnTo>
                    <a:pt x="260" y="391"/>
                  </a:lnTo>
                  <a:lnTo>
                    <a:pt x="269" y="394"/>
                  </a:lnTo>
                  <a:lnTo>
                    <a:pt x="278" y="397"/>
                  </a:lnTo>
                  <a:lnTo>
                    <a:pt x="287" y="400"/>
                  </a:lnTo>
                  <a:lnTo>
                    <a:pt x="295" y="402"/>
                  </a:lnTo>
                  <a:lnTo>
                    <a:pt x="305" y="405"/>
                  </a:lnTo>
                  <a:lnTo>
                    <a:pt x="313" y="407"/>
                  </a:lnTo>
                  <a:lnTo>
                    <a:pt x="321" y="409"/>
                  </a:lnTo>
                  <a:lnTo>
                    <a:pt x="323" y="401"/>
                  </a:lnTo>
                  <a:lnTo>
                    <a:pt x="325" y="393"/>
                  </a:lnTo>
                  <a:lnTo>
                    <a:pt x="328" y="384"/>
                  </a:lnTo>
                  <a:lnTo>
                    <a:pt x="330" y="376"/>
                  </a:lnTo>
                  <a:lnTo>
                    <a:pt x="331" y="367"/>
                  </a:lnTo>
                  <a:lnTo>
                    <a:pt x="333" y="357"/>
                  </a:lnTo>
                  <a:lnTo>
                    <a:pt x="334" y="348"/>
                  </a:lnTo>
                  <a:lnTo>
                    <a:pt x="337" y="339"/>
                  </a:lnTo>
                  <a:lnTo>
                    <a:pt x="331" y="342"/>
                  </a:lnTo>
                  <a:lnTo>
                    <a:pt x="326" y="345"/>
                  </a:lnTo>
                  <a:lnTo>
                    <a:pt x="321" y="348"/>
                  </a:lnTo>
                  <a:lnTo>
                    <a:pt x="316" y="352"/>
                  </a:lnTo>
                  <a:lnTo>
                    <a:pt x="310" y="355"/>
                  </a:lnTo>
                  <a:lnTo>
                    <a:pt x="305" y="359"/>
                  </a:lnTo>
                  <a:lnTo>
                    <a:pt x="300" y="361"/>
                  </a:lnTo>
                  <a:lnTo>
                    <a:pt x="294" y="364"/>
                  </a:lnTo>
                  <a:lnTo>
                    <a:pt x="288" y="368"/>
                  </a:lnTo>
                  <a:lnTo>
                    <a:pt x="283" y="370"/>
                  </a:lnTo>
                  <a:lnTo>
                    <a:pt x="278" y="373"/>
                  </a:lnTo>
                  <a:lnTo>
                    <a:pt x="272" y="376"/>
                  </a:lnTo>
                  <a:lnTo>
                    <a:pt x="266" y="379"/>
                  </a:lnTo>
                  <a:lnTo>
                    <a:pt x="262" y="382"/>
                  </a:lnTo>
                  <a:lnTo>
                    <a:pt x="256" y="385"/>
                  </a:lnTo>
                  <a:lnTo>
                    <a:pt x="250" y="387"/>
                  </a:lnTo>
                  <a:close/>
                  <a:moveTo>
                    <a:pt x="238" y="382"/>
                  </a:moveTo>
                  <a:lnTo>
                    <a:pt x="243" y="379"/>
                  </a:lnTo>
                  <a:lnTo>
                    <a:pt x="250" y="376"/>
                  </a:lnTo>
                  <a:lnTo>
                    <a:pt x="256" y="372"/>
                  </a:lnTo>
                  <a:lnTo>
                    <a:pt x="263" y="370"/>
                  </a:lnTo>
                  <a:lnTo>
                    <a:pt x="269" y="367"/>
                  </a:lnTo>
                  <a:lnTo>
                    <a:pt x="276" y="363"/>
                  </a:lnTo>
                  <a:lnTo>
                    <a:pt x="281" y="359"/>
                  </a:lnTo>
                  <a:lnTo>
                    <a:pt x="288" y="355"/>
                  </a:lnTo>
                  <a:lnTo>
                    <a:pt x="295" y="352"/>
                  </a:lnTo>
                  <a:lnTo>
                    <a:pt x="301" y="348"/>
                  </a:lnTo>
                  <a:lnTo>
                    <a:pt x="308" y="344"/>
                  </a:lnTo>
                  <a:lnTo>
                    <a:pt x="314" y="340"/>
                  </a:lnTo>
                  <a:lnTo>
                    <a:pt x="321" y="335"/>
                  </a:lnTo>
                  <a:lnTo>
                    <a:pt x="326" y="331"/>
                  </a:lnTo>
                  <a:lnTo>
                    <a:pt x="332" y="327"/>
                  </a:lnTo>
                  <a:lnTo>
                    <a:pt x="338" y="323"/>
                  </a:lnTo>
                  <a:lnTo>
                    <a:pt x="338" y="316"/>
                  </a:lnTo>
                  <a:lnTo>
                    <a:pt x="339" y="309"/>
                  </a:lnTo>
                  <a:lnTo>
                    <a:pt x="339" y="302"/>
                  </a:lnTo>
                  <a:lnTo>
                    <a:pt x="339" y="294"/>
                  </a:lnTo>
                  <a:lnTo>
                    <a:pt x="340" y="287"/>
                  </a:lnTo>
                  <a:lnTo>
                    <a:pt x="340" y="280"/>
                  </a:lnTo>
                  <a:lnTo>
                    <a:pt x="340" y="272"/>
                  </a:lnTo>
                  <a:lnTo>
                    <a:pt x="340" y="265"/>
                  </a:lnTo>
                  <a:lnTo>
                    <a:pt x="340" y="258"/>
                  </a:lnTo>
                  <a:lnTo>
                    <a:pt x="340" y="250"/>
                  </a:lnTo>
                  <a:lnTo>
                    <a:pt x="340" y="243"/>
                  </a:lnTo>
                  <a:lnTo>
                    <a:pt x="339" y="236"/>
                  </a:lnTo>
                  <a:lnTo>
                    <a:pt x="339" y="229"/>
                  </a:lnTo>
                  <a:lnTo>
                    <a:pt x="339" y="223"/>
                  </a:lnTo>
                  <a:lnTo>
                    <a:pt x="338" y="214"/>
                  </a:lnTo>
                  <a:lnTo>
                    <a:pt x="338" y="208"/>
                  </a:lnTo>
                  <a:lnTo>
                    <a:pt x="332" y="203"/>
                  </a:lnTo>
                  <a:lnTo>
                    <a:pt x="325" y="200"/>
                  </a:lnTo>
                  <a:lnTo>
                    <a:pt x="319" y="195"/>
                  </a:lnTo>
                  <a:lnTo>
                    <a:pt x="314" y="191"/>
                  </a:lnTo>
                  <a:lnTo>
                    <a:pt x="308" y="187"/>
                  </a:lnTo>
                  <a:lnTo>
                    <a:pt x="301" y="183"/>
                  </a:lnTo>
                  <a:lnTo>
                    <a:pt x="295" y="179"/>
                  </a:lnTo>
                  <a:lnTo>
                    <a:pt x="288" y="175"/>
                  </a:lnTo>
                  <a:lnTo>
                    <a:pt x="281" y="172"/>
                  </a:lnTo>
                  <a:lnTo>
                    <a:pt x="276" y="168"/>
                  </a:lnTo>
                  <a:lnTo>
                    <a:pt x="269" y="165"/>
                  </a:lnTo>
                  <a:lnTo>
                    <a:pt x="263" y="161"/>
                  </a:lnTo>
                  <a:lnTo>
                    <a:pt x="257" y="159"/>
                  </a:lnTo>
                  <a:lnTo>
                    <a:pt x="250" y="156"/>
                  </a:lnTo>
                  <a:lnTo>
                    <a:pt x="245" y="152"/>
                  </a:lnTo>
                  <a:lnTo>
                    <a:pt x="238" y="149"/>
                  </a:lnTo>
                  <a:lnTo>
                    <a:pt x="231" y="152"/>
                  </a:lnTo>
                  <a:lnTo>
                    <a:pt x="224" y="155"/>
                  </a:lnTo>
                  <a:lnTo>
                    <a:pt x="218" y="158"/>
                  </a:lnTo>
                  <a:lnTo>
                    <a:pt x="211" y="161"/>
                  </a:lnTo>
                  <a:lnTo>
                    <a:pt x="205" y="165"/>
                  </a:lnTo>
                  <a:lnTo>
                    <a:pt x="199" y="168"/>
                  </a:lnTo>
                  <a:lnTo>
                    <a:pt x="193" y="172"/>
                  </a:lnTo>
                  <a:lnTo>
                    <a:pt x="186" y="175"/>
                  </a:lnTo>
                  <a:lnTo>
                    <a:pt x="179" y="179"/>
                  </a:lnTo>
                  <a:lnTo>
                    <a:pt x="172" y="183"/>
                  </a:lnTo>
                  <a:lnTo>
                    <a:pt x="166" y="187"/>
                  </a:lnTo>
                  <a:lnTo>
                    <a:pt x="160" y="191"/>
                  </a:lnTo>
                  <a:lnTo>
                    <a:pt x="154" y="195"/>
                  </a:lnTo>
                  <a:lnTo>
                    <a:pt x="148" y="200"/>
                  </a:lnTo>
                  <a:lnTo>
                    <a:pt x="143" y="203"/>
                  </a:lnTo>
                  <a:lnTo>
                    <a:pt x="137" y="208"/>
                  </a:lnTo>
                  <a:lnTo>
                    <a:pt x="136" y="214"/>
                  </a:lnTo>
                  <a:lnTo>
                    <a:pt x="136" y="221"/>
                  </a:lnTo>
                  <a:lnTo>
                    <a:pt x="135" y="228"/>
                  </a:lnTo>
                  <a:lnTo>
                    <a:pt x="134" y="236"/>
                  </a:lnTo>
                  <a:lnTo>
                    <a:pt x="134" y="243"/>
                  </a:lnTo>
                  <a:lnTo>
                    <a:pt x="133" y="250"/>
                  </a:lnTo>
                  <a:lnTo>
                    <a:pt x="133" y="258"/>
                  </a:lnTo>
                  <a:lnTo>
                    <a:pt x="133" y="265"/>
                  </a:lnTo>
                  <a:lnTo>
                    <a:pt x="133" y="272"/>
                  </a:lnTo>
                  <a:lnTo>
                    <a:pt x="133" y="280"/>
                  </a:lnTo>
                  <a:lnTo>
                    <a:pt x="134" y="287"/>
                  </a:lnTo>
                  <a:lnTo>
                    <a:pt x="134" y="294"/>
                  </a:lnTo>
                  <a:lnTo>
                    <a:pt x="135" y="302"/>
                  </a:lnTo>
                  <a:lnTo>
                    <a:pt x="136" y="309"/>
                  </a:lnTo>
                  <a:lnTo>
                    <a:pt x="136" y="317"/>
                  </a:lnTo>
                  <a:lnTo>
                    <a:pt x="137" y="324"/>
                  </a:lnTo>
                  <a:lnTo>
                    <a:pt x="143" y="327"/>
                  </a:lnTo>
                  <a:lnTo>
                    <a:pt x="148" y="332"/>
                  </a:lnTo>
                  <a:lnTo>
                    <a:pt x="154" y="335"/>
                  </a:lnTo>
                  <a:lnTo>
                    <a:pt x="160" y="340"/>
                  </a:lnTo>
                  <a:lnTo>
                    <a:pt x="166" y="344"/>
                  </a:lnTo>
                  <a:lnTo>
                    <a:pt x="172" y="348"/>
                  </a:lnTo>
                  <a:lnTo>
                    <a:pt x="179" y="352"/>
                  </a:lnTo>
                  <a:lnTo>
                    <a:pt x="186" y="355"/>
                  </a:lnTo>
                  <a:lnTo>
                    <a:pt x="193" y="359"/>
                  </a:lnTo>
                  <a:lnTo>
                    <a:pt x="199" y="362"/>
                  </a:lnTo>
                  <a:lnTo>
                    <a:pt x="205" y="365"/>
                  </a:lnTo>
                  <a:lnTo>
                    <a:pt x="211" y="369"/>
                  </a:lnTo>
                  <a:lnTo>
                    <a:pt x="218" y="372"/>
                  </a:lnTo>
                  <a:lnTo>
                    <a:pt x="224" y="376"/>
                  </a:lnTo>
                  <a:lnTo>
                    <a:pt x="231" y="378"/>
                  </a:lnTo>
                  <a:lnTo>
                    <a:pt x="238" y="382"/>
                  </a:lnTo>
                  <a:close/>
                  <a:moveTo>
                    <a:pt x="224" y="387"/>
                  </a:moveTo>
                  <a:lnTo>
                    <a:pt x="218" y="385"/>
                  </a:lnTo>
                  <a:lnTo>
                    <a:pt x="212" y="382"/>
                  </a:lnTo>
                  <a:lnTo>
                    <a:pt x="208" y="379"/>
                  </a:lnTo>
                  <a:lnTo>
                    <a:pt x="202" y="376"/>
                  </a:lnTo>
                  <a:lnTo>
                    <a:pt x="196" y="373"/>
                  </a:lnTo>
                  <a:lnTo>
                    <a:pt x="192" y="370"/>
                  </a:lnTo>
                  <a:lnTo>
                    <a:pt x="186" y="368"/>
                  </a:lnTo>
                  <a:lnTo>
                    <a:pt x="180" y="364"/>
                  </a:lnTo>
                  <a:lnTo>
                    <a:pt x="174" y="361"/>
                  </a:lnTo>
                  <a:lnTo>
                    <a:pt x="170" y="359"/>
                  </a:lnTo>
                  <a:lnTo>
                    <a:pt x="164" y="355"/>
                  </a:lnTo>
                  <a:lnTo>
                    <a:pt x="159" y="352"/>
                  </a:lnTo>
                  <a:lnTo>
                    <a:pt x="154" y="348"/>
                  </a:lnTo>
                  <a:lnTo>
                    <a:pt x="148" y="345"/>
                  </a:lnTo>
                  <a:lnTo>
                    <a:pt x="143" y="341"/>
                  </a:lnTo>
                  <a:lnTo>
                    <a:pt x="137" y="338"/>
                  </a:lnTo>
                  <a:lnTo>
                    <a:pt x="140" y="348"/>
                  </a:lnTo>
                  <a:lnTo>
                    <a:pt x="141" y="357"/>
                  </a:lnTo>
                  <a:lnTo>
                    <a:pt x="143" y="367"/>
                  </a:lnTo>
                  <a:lnTo>
                    <a:pt x="144" y="376"/>
                  </a:lnTo>
                  <a:lnTo>
                    <a:pt x="147" y="385"/>
                  </a:lnTo>
                  <a:lnTo>
                    <a:pt x="149" y="393"/>
                  </a:lnTo>
                  <a:lnTo>
                    <a:pt x="152" y="401"/>
                  </a:lnTo>
                  <a:lnTo>
                    <a:pt x="155" y="409"/>
                  </a:lnTo>
                  <a:lnTo>
                    <a:pt x="163" y="407"/>
                  </a:lnTo>
                  <a:lnTo>
                    <a:pt x="171" y="406"/>
                  </a:lnTo>
                  <a:lnTo>
                    <a:pt x="180" y="403"/>
                  </a:lnTo>
                  <a:lnTo>
                    <a:pt x="188" y="400"/>
                  </a:lnTo>
                  <a:lnTo>
                    <a:pt x="197" y="398"/>
                  </a:lnTo>
                  <a:lnTo>
                    <a:pt x="205" y="394"/>
                  </a:lnTo>
                  <a:lnTo>
                    <a:pt x="215" y="391"/>
                  </a:lnTo>
                  <a:lnTo>
                    <a:pt x="224" y="387"/>
                  </a:lnTo>
                  <a:close/>
                  <a:moveTo>
                    <a:pt x="249" y="143"/>
                  </a:moveTo>
                  <a:lnTo>
                    <a:pt x="255" y="145"/>
                  </a:lnTo>
                  <a:lnTo>
                    <a:pt x="261" y="149"/>
                  </a:lnTo>
                  <a:lnTo>
                    <a:pt x="266" y="151"/>
                  </a:lnTo>
                  <a:lnTo>
                    <a:pt x="272" y="155"/>
                  </a:lnTo>
                  <a:lnTo>
                    <a:pt x="277" y="157"/>
                  </a:lnTo>
                  <a:lnTo>
                    <a:pt x="283" y="160"/>
                  </a:lnTo>
                  <a:lnTo>
                    <a:pt x="288" y="163"/>
                  </a:lnTo>
                  <a:lnTo>
                    <a:pt x="294" y="166"/>
                  </a:lnTo>
                  <a:lnTo>
                    <a:pt x="300" y="170"/>
                  </a:lnTo>
                  <a:lnTo>
                    <a:pt x="305" y="172"/>
                  </a:lnTo>
                  <a:lnTo>
                    <a:pt x="310" y="175"/>
                  </a:lnTo>
                  <a:lnTo>
                    <a:pt x="315" y="179"/>
                  </a:lnTo>
                  <a:lnTo>
                    <a:pt x="321" y="182"/>
                  </a:lnTo>
                  <a:lnTo>
                    <a:pt x="325" y="186"/>
                  </a:lnTo>
                  <a:lnTo>
                    <a:pt x="331" y="189"/>
                  </a:lnTo>
                  <a:lnTo>
                    <a:pt x="336" y="193"/>
                  </a:lnTo>
                  <a:lnTo>
                    <a:pt x="334" y="183"/>
                  </a:lnTo>
                  <a:lnTo>
                    <a:pt x="332" y="174"/>
                  </a:lnTo>
                  <a:lnTo>
                    <a:pt x="331" y="164"/>
                  </a:lnTo>
                  <a:lnTo>
                    <a:pt x="329" y="155"/>
                  </a:lnTo>
                  <a:lnTo>
                    <a:pt x="326" y="147"/>
                  </a:lnTo>
                  <a:lnTo>
                    <a:pt x="324" y="137"/>
                  </a:lnTo>
                  <a:lnTo>
                    <a:pt x="322" y="129"/>
                  </a:lnTo>
                  <a:lnTo>
                    <a:pt x="319" y="121"/>
                  </a:lnTo>
                  <a:lnTo>
                    <a:pt x="311" y="123"/>
                  </a:lnTo>
                  <a:lnTo>
                    <a:pt x="303" y="126"/>
                  </a:lnTo>
                  <a:lnTo>
                    <a:pt x="295" y="128"/>
                  </a:lnTo>
                  <a:lnTo>
                    <a:pt x="286" y="130"/>
                  </a:lnTo>
                  <a:lnTo>
                    <a:pt x="278" y="134"/>
                  </a:lnTo>
                  <a:lnTo>
                    <a:pt x="269" y="136"/>
                  </a:lnTo>
                  <a:lnTo>
                    <a:pt x="258" y="140"/>
                  </a:lnTo>
                  <a:lnTo>
                    <a:pt x="249" y="143"/>
                  </a:lnTo>
                  <a:close/>
                  <a:moveTo>
                    <a:pt x="237" y="138"/>
                  </a:moveTo>
                  <a:lnTo>
                    <a:pt x="247" y="134"/>
                  </a:lnTo>
                  <a:lnTo>
                    <a:pt x="257" y="129"/>
                  </a:lnTo>
                  <a:lnTo>
                    <a:pt x="268" y="126"/>
                  </a:lnTo>
                  <a:lnTo>
                    <a:pt x="277" y="121"/>
                  </a:lnTo>
                  <a:lnTo>
                    <a:pt x="287" y="118"/>
                  </a:lnTo>
                  <a:lnTo>
                    <a:pt x="296" y="114"/>
                  </a:lnTo>
                  <a:lnTo>
                    <a:pt x="307" y="112"/>
                  </a:lnTo>
                  <a:lnTo>
                    <a:pt x="316" y="110"/>
                  </a:lnTo>
                  <a:lnTo>
                    <a:pt x="309" y="91"/>
                  </a:lnTo>
                  <a:lnTo>
                    <a:pt x="300" y="75"/>
                  </a:lnTo>
                  <a:lnTo>
                    <a:pt x="292" y="60"/>
                  </a:lnTo>
                  <a:lnTo>
                    <a:pt x="281" y="49"/>
                  </a:lnTo>
                  <a:lnTo>
                    <a:pt x="271" y="38"/>
                  </a:lnTo>
                  <a:lnTo>
                    <a:pt x="261" y="31"/>
                  </a:lnTo>
                  <a:lnTo>
                    <a:pt x="249" y="27"/>
                  </a:lnTo>
                  <a:lnTo>
                    <a:pt x="238" y="26"/>
                  </a:lnTo>
                  <a:lnTo>
                    <a:pt x="226" y="27"/>
                  </a:lnTo>
                  <a:lnTo>
                    <a:pt x="215" y="31"/>
                  </a:lnTo>
                  <a:lnTo>
                    <a:pt x="203" y="38"/>
                  </a:lnTo>
                  <a:lnTo>
                    <a:pt x="193" y="47"/>
                  </a:lnTo>
                  <a:lnTo>
                    <a:pt x="182" y="60"/>
                  </a:lnTo>
                  <a:lnTo>
                    <a:pt x="173" y="74"/>
                  </a:lnTo>
                  <a:lnTo>
                    <a:pt x="165" y="91"/>
                  </a:lnTo>
                  <a:lnTo>
                    <a:pt x="157" y="110"/>
                  </a:lnTo>
                  <a:lnTo>
                    <a:pt x="166" y="112"/>
                  </a:lnTo>
                  <a:lnTo>
                    <a:pt x="177" y="114"/>
                  </a:lnTo>
                  <a:lnTo>
                    <a:pt x="186" y="118"/>
                  </a:lnTo>
                  <a:lnTo>
                    <a:pt x="196" y="121"/>
                  </a:lnTo>
                  <a:lnTo>
                    <a:pt x="205" y="126"/>
                  </a:lnTo>
                  <a:lnTo>
                    <a:pt x="216" y="129"/>
                  </a:lnTo>
                  <a:lnTo>
                    <a:pt x="226" y="134"/>
                  </a:lnTo>
                  <a:lnTo>
                    <a:pt x="237" y="13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Freeform 58"/>
            <p:cNvSpPr>
              <a:spLocks noChangeAspect="1"/>
            </p:cNvSpPr>
            <p:nvPr/>
          </p:nvSpPr>
          <p:spPr bwMode="auto">
            <a:xfrm>
              <a:off x="6864" y="14741"/>
              <a:ext cx="41" cy="37"/>
            </a:xfrm>
            <a:custGeom>
              <a:avLst/>
              <a:gdLst>
                <a:gd name="T0" fmla="*/ 0 w 88"/>
                <a:gd name="T1" fmla="*/ 0 h 83"/>
                <a:gd name="T2" fmla="*/ 0 w 88"/>
                <a:gd name="T3" fmla="*/ 0 h 83"/>
                <a:gd name="T4" fmla="*/ 0 w 88"/>
                <a:gd name="T5" fmla="*/ 0 h 83"/>
                <a:gd name="T6" fmla="*/ 0 w 88"/>
                <a:gd name="T7" fmla="*/ 0 h 83"/>
                <a:gd name="T8" fmla="*/ 0 w 88"/>
                <a:gd name="T9" fmla="*/ 0 h 83"/>
                <a:gd name="T10" fmla="*/ 0 w 88"/>
                <a:gd name="T11" fmla="*/ 0 h 83"/>
                <a:gd name="T12" fmla="*/ 0 w 88"/>
                <a:gd name="T13" fmla="*/ 0 h 83"/>
                <a:gd name="T14" fmla="*/ 0 w 88"/>
                <a:gd name="T15" fmla="*/ 0 h 83"/>
                <a:gd name="T16" fmla="*/ 0 w 88"/>
                <a:gd name="T17" fmla="*/ 0 h 83"/>
                <a:gd name="T18" fmla="*/ 0 w 88"/>
                <a:gd name="T19" fmla="*/ 0 h 83"/>
                <a:gd name="T20" fmla="*/ 0 w 88"/>
                <a:gd name="T21" fmla="*/ 0 h 83"/>
                <a:gd name="T22" fmla="*/ 0 w 88"/>
                <a:gd name="T23" fmla="*/ 0 h 83"/>
                <a:gd name="T24" fmla="*/ 0 w 88"/>
                <a:gd name="T25" fmla="*/ 0 h 83"/>
                <a:gd name="T26" fmla="*/ 0 w 88"/>
                <a:gd name="T27" fmla="*/ 0 h 83"/>
                <a:gd name="T28" fmla="*/ 0 w 88"/>
                <a:gd name="T29" fmla="*/ 0 h 83"/>
                <a:gd name="T30" fmla="*/ 0 w 88"/>
                <a:gd name="T31" fmla="*/ 0 h 83"/>
                <a:gd name="T32" fmla="*/ 0 w 88"/>
                <a:gd name="T33" fmla="*/ 0 h 83"/>
                <a:gd name="T34" fmla="*/ 0 w 88"/>
                <a:gd name="T35" fmla="*/ 0 h 83"/>
                <a:gd name="T36" fmla="*/ 0 w 88"/>
                <a:gd name="T37" fmla="*/ 0 h 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83"/>
                <a:gd name="T59" fmla="*/ 88 w 88"/>
                <a:gd name="T60" fmla="*/ 83 h 8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83">
                  <a:moveTo>
                    <a:pt x="45" y="0"/>
                  </a:moveTo>
                  <a:lnTo>
                    <a:pt x="45" y="0"/>
                  </a:lnTo>
                  <a:lnTo>
                    <a:pt x="25" y="3"/>
                  </a:lnTo>
                  <a:lnTo>
                    <a:pt x="11" y="12"/>
                  </a:lnTo>
                  <a:lnTo>
                    <a:pt x="2" y="26"/>
                  </a:lnTo>
                  <a:lnTo>
                    <a:pt x="0" y="41"/>
                  </a:lnTo>
                  <a:lnTo>
                    <a:pt x="2" y="56"/>
                  </a:lnTo>
                  <a:lnTo>
                    <a:pt x="11" y="70"/>
                  </a:lnTo>
                  <a:lnTo>
                    <a:pt x="25" y="79"/>
                  </a:lnTo>
                  <a:lnTo>
                    <a:pt x="45" y="83"/>
                  </a:lnTo>
                  <a:lnTo>
                    <a:pt x="64" y="79"/>
                  </a:lnTo>
                  <a:lnTo>
                    <a:pt x="78" y="70"/>
                  </a:lnTo>
                  <a:lnTo>
                    <a:pt x="86" y="56"/>
                  </a:lnTo>
                  <a:lnTo>
                    <a:pt x="88" y="41"/>
                  </a:lnTo>
                  <a:lnTo>
                    <a:pt x="86" y="26"/>
                  </a:lnTo>
                  <a:lnTo>
                    <a:pt x="78" y="12"/>
                  </a:lnTo>
                  <a:lnTo>
                    <a:pt x="64" y="3"/>
                  </a:lnTo>
                  <a:lnTo>
                    <a:pt x="4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8" name="Freeform 59"/>
            <p:cNvSpPr>
              <a:spLocks noChangeAspect="1"/>
            </p:cNvSpPr>
            <p:nvPr/>
          </p:nvSpPr>
          <p:spPr bwMode="auto">
            <a:xfrm>
              <a:off x="6891" y="14743"/>
              <a:ext cx="10" cy="13"/>
            </a:xfrm>
            <a:custGeom>
              <a:avLst/>
              <a:gdLst>
                <a:gd name="T0" fmla="*/ 0 w 21"/>
                <a:gd name="T1" fmla="*/ 0 h 29"/>
                <a:gd name="T2" fmla="*/ 0 w 21"/>
                <a:gd name="T3" fmla="*/ 0 h 29"/>
                <a:gd name="T4" fmla="*/ 0 w 21"/>
                <a:gd name="T5" fmla="*/ 0 h 29"/>
                <a:gd name="T6" fmla="*/ 0 w 21"/>
                <a:gd name="T7" fmla="*/ 0 h 29"/>
                <a:gd name="T8" fmla="*/ 0 w 21"/>
                <a:gd name="T9" fmla="*/ 0 h 29"/>
                <a:gd name="T10" fmla="*/ 0 w 21"/>
                <a:gd name="T11" fmla="*/ 0 h 29"/>
                <a:gd name="T12" fmla="*/ 0 w 21"/>
                <a:gd name="T13" fmla="*/ 0 h 29"/>
                <a:gd name="T14" fmla="*/ 0 w 21"/>
                <a:gd name="T15" fmla="*/ 0 h 29"/>
                <a:gd name="T16" fmla="*/ 0 w 21"/>
                <a:gd name="T17" fmla="*/ 0 h 29"/>
                <a:gd name="T18" fmla="*/ 0 w 21"/>
                <a:gd name="T19" fmla="*/ 0 h 29"/>
                <a:gd name="T20" fmla="*/ 0 w 21"/>
                <a:gd name="T21" fmla="*/ 0 h 29"/>
                <a:gd name="T22" fmla="*/ 0 w 21"/>
                <a:gd name="T23" fmla="*/ 0 h 29"/>
                <a:gd name="T24" fmla="*/ 0 w 21"/>
                <a:gd name="T25" fmla="*/ 0 h 29"/>
                <a:gd name="T26" fmla="*/ 0 w 21"/>
                <a:gd name="T27" fmla="*/ 0 h 29"/>
                <a:gd name="T28" fmla="*/ 0 w 21"/>
                <a:gd name="T29" fmla="*/ 0 h 29"/>
                <a:gd name="T30" fmla="*/ 0 w 21"/>
                <a:gd name="T31" fmla="*/ 0 h 29"/>
                <a:gd name="T32" fmla="*/ 0 w 21"/>
                <a:gd name="T33" fmla="*/ 0 h 29"/>
                <a:gd name="T34" fmla="*/ 0 w 21"/>
                <a:gd name="T35" fmla="*/ 0 h 29"/>
                <a:gd name="T36" fmla="*/ 0 w 21"/>
                <a:gd name="T37" fmla="*/ 0 h 29"/>
                <a:gd name="T38" fmla="*/ 0 w 21"/>
                <a:gd name="T39" fmla="*/ 0 h 29"/>
                <a:gd name="T40" fmla="*/ 0 w 21"/>
                <a:gd name="T41" fmla="*/ 0 h 2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"/>
                <a:gd name="T64" fmla="*/ 0 h 29"/>
                <a:gd name="T65" fmla="*/ 21 w 21"/>
                <a:gd name="T66" fmla="*/ 29 h 2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" h="29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4"/>
                  </a:lnTo>
                  <a:lnTo>
                    <a:pt x="4" y="7"/>
                  </a:lnTo>
                  <a:lnTo>
                    <a:pt x="5" y="10"/>
                  </a:lnTo>
                  <a:lnTo>
                    <a:pt x="4" y="15"/>
                  </a:lnTo>
                  <a:lnTo>
                    <a:pt x="2" y="20"/>
                  </a:lnTo>
                  <a:lnTo>
                    <a:pt x="0" y="23"/>
                  </a:lnTo>
                  <a:lnTo>
                    <a:pt x="1" y="26"/>
                  </a:lnTo>
                  <a:lnTo>
                    <a:pt x="5" y="29"/>
                  </a:lnTo>
                  <a:lnTo>
                    <a:pt x="11" y="29"/>
                  </a:lnTo>
                  <a:lnTo>
                    <a:pt x="17" y="28"/>
                  </a:lnTo>
                  <a:lnTo>
                    <a:pt x="20" y="25"/>
                  </a:lnTo>
                  <a:lnTo>
                    <a:pt x="21" y="16"/>
                  </a:lnTo>
                  <a:lnTo>
                    <a:pt x="16" y="8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9" name="Freeform 60"/>
            <p:cNvSpPr>
              <a:spLocks noChangeAspect="1"/>
            </p:cNvSpPr>
            <p:nvPr/>
          </p:nvSpPr>
          <p:spPr bwMode="auto">
            <a:xfrm>
              <a:off x="6927" y="14692"/>
              <a:ext cx="53" cy="63"/>
            </a:xfrm>
            <a:custGeom>
              <a:avLst/>
              <a:gdLst>
                <a:gd name="T0" fmla="*/ 0 w 119"/>
                <a:gd name="T1" fmla="*/ 0 h 140"/>
                <a:gd name="T2" fmla="*/ 0 w 119"/>
                <a:gd name="T3" fmla="*/ 0 h 140"/>
                <a:gd name="T4" fmla="*/ 0 w 119"/>
                <a:gd name="T5" fmla="*/ 0 h 140"/>
                <a:gd name="T6" fmla="*/ 0 w 119"/>
                <a:gd name="T7" fmla="*/ 0 h 140"/>
                <a:gd name="T8" fmla="*/ 0 w 119"/>
                <a:gd name="T9" fmla="*/ 0 h 140"/>
                <a:gd name="T10" fmla="*/ 0 w 119"/>
                <a:gd name="T11" fmla="*/ 0 h 140"/>
                <a:gd name="T12" fmla="*/ 0 w 119"/>
                <a:gd name="T13" fmla="*/ 0 h 140"/>
                <a:gd name="T14" fmla="*/ 0 w 119"/>
                <a:gd name="T15" fmla="*/ 0 h 140"/>
                <a:gd name="T16" fmla="*/ 0 w 119"/>
                <a:gd name="T17" fmla="*/ 0 h 140"/>
                <a:gd name="T18" fmla="*/ 0 w 119"/>
                <a:gd name="T19" fmla="*/ 0 h 140"/>
                <a:gd name="T20" fmla="*/ 0 w 119"/>
                <a:gd name="T21" fmla="*/ 0 h 140"/>
                <a:gd name="T22" fmla="*/ 0 w 119"/>
                <a:gd name="T23" fmla="*/ 0 h 140"/>
                <a:gd name="T24" fmla="*/ 0 w 119"/>
                <a:gd name="T25" fmla="*/ 0 h 140"/>
                <a:gd name="T26" fmla="*/ 0 w 119"/>
                <a:gd name="T27" fmla="*/ 0 h 140"/>
                <a:gd name="T28" fmla="*/ 0 w 119"/>
                <a:gd name="T29" fmla="*/ 0 h 140"/>
                <a:gd name="T30" fmla="*/ 0 w 119"/>
                <a:gd name="T31" fmla="*/ 0 h 140"/>
                <a:gd name="T32" fmla="*/ 0 w 119"/>
                <a:gd name="T33" fmla="*/ 0 h 140"/>
                <a:gd name="T34" fmla="*/ 0 w 119"/>
                <a:gd name="T35" fmla="*/ 0 h 140"/>
                <a:gd name="T36" fmla="*/ 0 w 119"/>
                <a:gd name="T37" fmla="*/ 0 h 140"/>
                <a:gd name="T38" fmla="*/ 0 w 119"/>
                <a:gd name="T39" fmla="*/ 0 h 140"/>
                <a:gd name="T40" fmla="*/ 0 w 119"/>
                <a:gd name="T41" fmla="*/ 0 h 140"/>
                <a:gd name="T42" fmla="*/ 0 w 119"/>
                <a:gd name="T43" fmla="*/ 0 h 140"/>
                <a:gd name="T44" fmla="*/ 0 w 119"/>
                <a:gd name="T45" fmla="*/ 0 h 140"/>
                <a:gd name="T46" fmla="*/ 0 w 119"/>
                <a:gd name="T47" fmla="*/ 0 h 140"/>
                <a:gd name="T48" fmla="*/ 0 w 119"/>
                <a:gd name="T49" fmla="*/ 0 h 140"/>
                <a:gd name="T50" fmla="*/ 0 w 119"/>
                <a:gd name="T51" fmla="*/ 0 h 140"/>
                <a:gd name="T52" fmla="*/ 0 w 119"/>
                <a:gd name="T53" fmla="*/ 0 h 140"/>
                <a:gd name="T54" fmla="*/ 0 w 119"/>
                <a:gd name="T55" fmla="*/ 0 h 140"/>
                <a:gd name="T56" fmla="*/ 0 w 119"/>
                <a:gd name="T57" fmla="*/ 0 h 140"/>
                <a:gd name="T58" fmla="*/ 0 w 119"/>
                <a:gd name="T59" fmla="*/ 0 h 140"/>
                <a:gd name="T60" fmla="*/ 0 w 119"/>
                <a:gd name="T61" fmla="*/ 0 h 140"/>
                <a:gd name="T62" fmla="*/ 0 w 119"/>
                <a:gd name="T63" fmla="*/ 0 h 140"/>
                <a:gd name="T64" fmla="*/ 0 w 119"/>
                <a:gd name="T65" fmla="*/ 0 h 140"/>
                <a:gd name="T66" fmla="*/ 0 w 119"/>
                <a:gd name="T67" fmla="*/ 0 h 140"/>
                <a:gd name="T68" fmla="*/ 0 w 119"/>
                <a:gd name="T69" fmla="*/ 0 h 140"/>
                <a:gd name="T70" fmla="*/ 0 w 119"/>
                <a:gd name="T71" fmla="*/ 0 h 140"/>
                <a:gd name="T72" fmla="*/ 0 w 119"/>
                <a:gd name="T73" fmla="*/ 0 h 14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9"/>
                <a:gd name="T112" fmla="*/ 0 h 140"/>
                <a:gd name="T113" fmla="*/ 119 w 119"/>
                <a:gd name="T114" fmla="*/ 140 h 14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9" h="140">
                  <a:moveTo>
                    <a:pt x="79" y="140"/>
                  </a:moveTo>
                  <a:lnTo>
                    <a:pt x="79" y="140"/>
                  </a:lnTo>
                  <a:lnTo>
                    <a:pt x="91" y="125"/>
                  </a:lnTo>
                  <a:lnTo>
                    <a:pt x="102" y="109"/>
                  </a:lnTo>
                  <a:lnTo>
                    <a:pt x="110" y="95"/>
                  </a:lnTo>
                  <a:lnTo>
                    <a:pt x="115" y="80"/>
                  </a:lnTo>
                  <a:lnTo>
                    <a:pt x="118" y="66"/>
                  </a:lnTo>
                  <a:lnTo>
                    <a:pt x="119" y="53"/>
                  </a:lnTo>
                  <a:lnTo>
                    <a:pt x="118" y="42"/>
                  </a:lnTo>
                  <a:lnTo>
                    <a:pt x="113" y="32"/>
                  </a:lnTo>
                  <a:lnTo>
                    <a:pt x="106" y="21"/>
                  </a:lnTo>
                  <a:lnTo>
                    <a:pt x="97" y="14"/>
                  </a:lnTo>
                  <a:lnTo>
                    <a:pt x="85" y="7"/>
                  </a:lnTo>
                  <a:lnTo>
                    <a:pt x="72" y="4"/>
                  </a:lnTo>
                  <a:lnTo>
                    <a:pt x="57" y="0"/>
                  </a:lnTo>
                  <a:lnTo>
                    <a:pt x="39" y="0"/>
                  </a:lnTo>
                  <a:lnTo>
                    <a:pt x="20" y="2"/>
                  </a:lnTo>
                  <a:lnTo>
                    <a:pt x="0" y="4"/>
                  </a:lnTo>
                  <a:lnTo>
                    <a:pt x="2" y="13"/>
                  </a:lnTo>
                  <a:lnTo>
                    <a:pt x="5" y="22"/>
                  </a:lnTo>
                  <a:lnTo>
                    <a:pt x="7" y="33"/>
                  </a:lnTo>
                  <a:lnTo>
                    <a:pt x="9" y="43"/>
                  </a:lnTo>
                  <a:lnTo>
                    <a:pt x="12" y="53"/>
                  </a:lnTo>
                  <a:lnTo>
                    <a:pt x="13" y="64"/>
                  </a:lnTo>
                  <a:lnTo>
                    <a:pt x="15" y="75"/>
                  </a:lnTo>
                  <a:lnTo>
                    <a:pt x="16" y="86"/>
                  </a:lnTo>
                  <a:lnTo>
                    <a:pt x="24" y="93"/>
                  </a:lnTo>
                  <a:lnTo>
                    <a:pt x="34" y="99"/>
                  </a:lnTo>
                  <a:lnTo>
                    <a:pt x="42" y="106"/>
                  </a:lnTo>
                  <a:lnTo>
                    <a:pt x="50" y="112"/>
                  </a:lnTo>
                  <a:lnTo>
                    <a:pt x="58" y="119"/>
                  </a:lnTo>
                  <a:lnTo>
                    <a:pt x="65" y="126"/>
                  </a:lnTo>
                  <a:lnTo>
                    <a:pt x="72" y="133"/>
                  </a:lnTo>
                  <a:lnTo>
                    <a:pt x="79" y="14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0" name="Freeform 61"/>
            <p:cNvSpPr>
              <a:spLocks noChangeAspect="1"/>
            </p:cNvSpPr>
            <p:nvPr/>
          </p:nvSpPr>
          <p:spPr bwMode="auto">
            <a:xfrm>
              <a:off x="6778" y="14641"/>
              <a:ext cx="213" cy="238"/>
            </a:xfrm>
            <a:custGeom>
              <a:avLst/>
              <a:gdLst>
                <a:gd name="T0" fmla="*/ 0 w 474"/>
                <a:gd name="T1" fmla="*/ 0 h 530"/>
                <a:gd name="T2" fmla="*/ 0 w 474"/>
                <a:gd name="T3" fmla="*/ 0 h 530"/>
                <a:gd name="T4" fmla="*/ 0 w 474"/>
                <a:gd name="T5" fmla="*/ 0 h 530"/>
                <a:gd name="T6" fmla="*/ 0 w 474"/>
                <a:gd name="T7" fmla="*/ 0 h 530"/>
                <a:gd name="T8" fmla="*/ 0 w 474"/>
                <a:gd name="T9" fmla="*/ 0 h 530"/>
                <a:gd name="T10" fmla="*/ 0 w 474"/>
                <a:gd name="T11" fmla="*/ 0 h 530"/>
                <a:gd name="T12" fmla="*/ 0 w 474"/>
                <a:gd name="T13" fmla="*/ 0 h 530"/>
                <a:gd name="T14" fmla="*/ 0 w 474"/>
                <a:gd name="T15" fmla="*/ 0 h 530"/>
                <a:gd name="T16" fmla="*/ 0 w 474"/>
                <a:gd name="T17" fmla="*/ 0 h 530"/>
                <a:gd name="T18" fmla="*/ 0 w 474"/>
                <a:gd name="T19" fmla="*/ 0 h 530"/>
                <a:gd name="T20" fmla="*/ 0 w 474"/>
                <a:gd name="T21" fmla="*/ 0 h 530"/>
                <a:gd name="T22" fmla="*/ 0 w 474"/>
                <a:gd name="T23" fmla="*/ 0 h 530"/>
                <a:gd name="T24" fmla="*/ 0 w 474"/>
                <a:gd name="T25" fmla="*/ 0 h 530"/>
                <a:gd name="T26" fmla="*/ 0 w 474"/>
                <a:gd name="T27" fmla="*/ 0 h 530"/>
                <a:gd name="T28" fmla="*/ 0 w 474"/>
                <a:gd name="T29" fmla="*/ 0 h 530"/>
                <a:gd name="T30" fmla="*/ 0 w 474"/>
                <a:gd name="T31" fmla="*/ 0 h 530"/>
                <a:gd name="T32" fmla="*/ 0 w 474"/>
                <a:gd name="T33" fmla="*/ 0 h 530"/>
                <a:gd name="T34" fmla="*/ 0 w 474"/>
                <a:gd name="T35" fmla="*/ 0 h 530"/>
                <a:gd name="T36" fmla="*/ 0 w 474"/>
                <a:gd name="T37" fmla="*/ 0 h 530"/>
                <a:gd name="T38" fmla="*/ 0 w 474"/>
                <a:gd name="T39" fmla="*/ 0 h 530"/>
                <a:gd name="T40" fmla="*/ 0 w 474"/>
                <a:gd name="T41" fmla="*/ 0 h 530"/>
                <a:gd name="T42" fmla="*/ 0 w 474"/>
                <a:gd name="T43" fmla="*/ 0 h 530"/>
                <a:gd name="T44" fmla="*/ 0 w 474"/>
                <a:gd name="T45" fmla="*/ 0 h 530"/>
                <a:gd name="T46" fmla="*/ 0 w 474"/>
                <a:gd name="T47" fmla="*/ 0 h 530"/>
                <a:gd name="T48" fmla="*/ 0 w 474"/>
                <a:gd name="T49" fmla="*/ 0 h 530"/>
                <a:gd name="T50" fmla="*/ 0 w 474"/>
                <a:gd name="T51" fmla="*/ 0 h 530"/>
                <a:gd name="T52" fmla="*/ 0 w 474"/>
                <a:gd name="T53" fmla="*/ 0 h 530"/>
                <a:gd name="T54" fmla="*/ 0 w 474"/>
                <a:gd name="T55" fmla="*/ 0 h 530"/>
                <a:gd name="T56" fmla="*/ 0 w 474"/>
                <a:gd name="T57" fmla="*/ 0 h 530"/>
                <a:gd name="T58" fmla="*/ 0 w 474"/>
                <a:gd name="T59" fmla="*/ 0 h 530"/>
                <a:gd name="T60" fmla="*/ 0 w 474"/>
                <a:gd name="T61" fmla="*/ 0 h 530"/>
                <a:gd name="T62" fmla="*/ 0 w 474"/>
                <a:gd name="T63" fmla="*/ 0 h 530"/>
                <a:gd name="T64" fmla="*/ 0 w 474"/>
                <a:gd name="T65" fmla="*/ 0 h 530"/>
                <a:gd name="T66" fmla="*/ 0 w 474"/>
                <a:gd name="T67" fmla="*/ 0 h 530"/>
                <a:gd name="T68" fmla="*/ 0 w 474"/>
                <a:gd name="T69" fmla="*/ 0 h 530"/>
                <a:gd name="T70" fmla="*/ 0 w 474"/>
                <a:gd name="T71" fmla="*/ 0 h 530"/>
                <a:gd name="T72" fmla="*/ 0 w 474"/>
                <a:gd name="T73" fmla="*/ 0 h 530"/>
                <a:gd name="T74" fmla="*/ 0 w 474"/>
                <a:gd name="T75" fmla="*/ 0 h 530"/>
                <a:gd name="T76" fmla="*/ 0 w 474"/>
                <a:gd name="T77" fmla="*/ 0 h 530"/>
                <a:gd name="T78" fmla="*/ 0 w 474"/>
                <a:gd name="T79" fmla="*/ 0 h 530"/>
                <a:gd name="T80" fmla="*/ 0 w 474"/>
                <a:gd name="T81" fmla="*/ 0 h 530"/>
                <a:gd name="T82" fmla="*/ 0 w 474"/>
                <a:gd name="T83" fmla="*/ 0 h 530"/>
                <a:gd name="T84" fmla="*/ 0 w 474"/>
                <a:gd name="T85" fmla="*/ 0 h 530"/>
                <a:gd name="T86" fmla="*/ 0 w 474"/>
                <a:gd name="T87" fmla="*/ 0 h 530"/>
                <a:gd name="T88" fmla="*/ 0 w 474"/>
                <a:gd name="T89" fmla="*/ 0 h 530"/>
                <a:gd name="T90" fmla="*/ 0 w 474"/>
                <a:gd name="T91" fmla="*/ 0 h 530"/>
                <a:gd name="T92" fmla="*/ 0 w 474"/>
                <a:gd name="T93" fmla="*/ 0 h 530"/>
                <a:gd name="T94" fmla="*/ 0 w 474"/>
                <a:gd name="T95" fmla="*/ 0 h 530"/>
                <a:gd name="T96" fmla="*/ 0 w 474"/>
                <a:gd name="T97" fmla="*/ 0 h 530"/>
                <a:gd name="T98" fmla="*/ 0 w 474"/>
                <a:gd name="T99" fmla="*/ 0 h 530"/>
                <a:gd name="T100" fmla="*/ 0 w 474"/>
                <a:gd name="T101" fmla="*/ 0 h 530"/>
                <a:gd name="T102" fmla="*/ 0 w 474"/>
                <a:gd name="T103" fmla="*/ 0 h 530"/>
                <a:gd name="T104" fmla="*/ 0 w 474"/>
                <a:gd name="T105" fmla="*/ 0 h 530"/>
                <a:gd name="T106" fmla="*/ 0 w 474"/>
                <a:gd name="T107" fmla="*/ 0 h 53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74"/>
                <a:gd name="T163" fmla="*/ 0 h 530"/>
                <a:gd name="T164" fmla="*/ 474 w 474"/>
                <a:gd name="T165" fmla="*/ 530 h 53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74" h="530">
                  <a:moveTo>
                    <a:pt x="421" y="265"/>
                  </a:moveTo>
                  <a:lnTo>
                    <a:pt x="421" y="265"/>
                  </a:lnTo>
                  <a:lnTo>
                    <a:pt x="437" y="284"/>
                  </a:lnTo>
                  <a:lnTo>
                    <a:pt x="450" y="303"/>
                  </a:lnTo>
                  <a:lnTo>
                    <a:pt x="460" y="320"/>
                  </a:lnTo>
                  <a:lnTo>
                    <a:pt x="467" y="338"/>
                  </a:lnTo>
                  <a:lnTo>
                    <a:pt x="472" y="355"/>
                  </a:lnTo>
                  <a:lnTo>
                    <a:pt x="474" y="370"/>
                  </a:lnTo>
                  <a:lnTo>
                    <a:pt x="472" y="384"/>
                  </a:lnTo>
                  <a:lnTo>
                    <a:pt x="467" y="397"/>
                  </a:lnTo>
                  <a:lnTo>
                    <a:pt x="459" y="408"/>
                  </a:lnTo>
                  <a:lnTo>
                    <a:pt x="447" y="416"/>
                  </a:lnTo>
                  <a:lnTo>
                    <a:pt x="432" y="423"/>
                  </a:lnTo>
                  <a:lnTo>
                    <a:pt x="416" y="426"/>
                  </a:lnTo>
                  <a:lnTo>
                    <a:pt x="397" y="429"/>
                  </a:lnTo>
                  <a:lnTo>
                    <a:pt x="376" y="429"/>
                  </a:lnTo>
                  <a:lnTo>
                    <a:pt x="353" y="428"/>
                  </a:lnTo>
                  <a:lnTo>
                    <a:pt x="329" y="423"/>
                  </a:lnTo>
                  <a:lnTo>
                    <a:pt x="321" y="446"/>
                  </a:lnTo>
                  <a:lnTo>
                    <a:pt x="311" y="467"/>
                  </a:lnTo>
                  <a:lnTo>
                    <a:pt x="301" y="485"/>
                  </a:lnTo>
                  <a:lnTo>
                    <a:pt x="290" y="500"/>
                  </a:lnTo>
                  <a:lnTo>
                    <a:pt x="277" y="513"/>
                  </a:lnTo>
                  <a:lnTo>
                    <a:pt x="264" y="522"/>
                  </a:lnTo>
                  <a:lnTo>
                    <a:pt x="252" y="528"/>
                  </a:lnTo>
                  <a:lnTo>
                    <a:pt x="238" y="530"/>
                  </a:lnTo>
                  <a:lnTo>
                    <a:pt x="224" y="528"/>
                  </a:lnTo>
                  <a:lnTo>
                    <a:pt x="210" y="522"/>
                  </a:lnTo>
                  <a:lnTo>
                    <a:pt x="197" y="513"/>
                  </a:lnTo>
                  <a:lnTo>
                    <a:pt x="186" y="500"/>
                  </a:lnTo>
                  <a:lnTo>
                    <a:pt x="174" y="485"/>
                  </a:lnTo>
                  <a:lnTo>
                    <a:pt x="164" y="467"/>
                  </a:lnTo>
                  <a:lnTo>
                    <a:pt x="155" y="446"/>
                  </a:lnTo>
                  <a:lnTo>
                    <a:pt x="147" y="423"/>
                  </a:lnTo>
                  <a:lnTo>
                    <a:pt x="122" y="428"/>
                  </a:lnTo>
                  <a:lnTo>
                    <a:pt x="99" y="430"/>
                  </a:lnTo>
                  <a:lnTo>
                    <a:pt x="78" y="430"/>
                  </a:lnTo>
                  <a:lnTo>
                    <a:pt x="59" y="428"/>
                  </a:lnTo>
                  <a:lnTo>
                    <a:pt x="42" y="424"/>
                  </a:lnTo>
                  <a:lnTo>
                    <a:pt x="28" y="417"/>
                  </a:lnTo>
                  <a:lnTo>
                    <a:pt x="15" y="409"/>
                  </a:lnTo>
                  <a:lnTo>
                    <a:pt x="7" y="398"/>
                  </a:lnTo>
                  <a:lnTo>
                    <a:pt x="3" y="385"/>
                  </a:lnTo>
                  <a:lnTo>
                    <a:pt x="0" y="370"/>
                  </a:lnTo>
                  <a:lnTo>
                    <a:pt x="3" y="355"/>
                  </a:lnTo>
                  <a:lnTo>
                    <a:pt x="7" y="338"/>
                  </a:lnTo>
                  <a:lnTo>
                    <a:pt x="14" y="320"/>
                  </a:lnTo>
                  <a:lnTo>
                    <a:pt x="25" y="303"/>
                  </a:lnTo>
                  <a:lnTo>
                    <a:pt x="37" y="284"/>
                  </a:lnTo>
                  <a:lnTo>
                    <a:pt x="53" y="265"/>
                  </a:lnTo>
                  <a:lnTo>
                    <a:pt x="37" y="247"/>
                  </a:lnTo>
                  <a:lnTo>
                    <a:pt x="25" y="228"/>
                  </a:lnTo>
                  <a:lnTo>
                    <a:pt x="14" y="210"/>
                  </a:lnTo>
                  <a:lnTo>
                    <a:pt x="6" y="193"/>
                  </a:lnTo>
                  <a:lnTo>
                    <a:pt x="1" y="176"/>
                  </a:lnTo>
                  <a:lnTo>
                    <a:pt x="0" y="161"/>
                  </a:lnTo>
                  <a:lnTo>
                    <a:pt x="3" y="147"/>
                  </a:lnTo>
                  <a:lnTo>
                    <a:pt x="7" y="134"/>
                  </a:lnTo>
                  <a:lnTo>
                    <a:pt x="15" y="122"/>
                  </a:lnTo>
                  <a:lnTo>
                    <a:pt x="27" y="114"/>
                  </a:lnTo>
                  <a:lnTo>
                    <a:pt x="41" y="107"/>
                  </a:lnTo>
                  <a:lnTo>
                    <a:pt x="58" y="103"/>
                  </a:lnTo>
                  <a:lnTo>
                    <a:pt x="76" y="102"/>
                  </a:lnTo>
                  <a:lnTo>
                    <a:pt x="98" y="102"/>
                  </a:lnTo>
                  <a:lnTo>
                    <a:pt x="121" y="103"/>
                  </a:lnTo>
                  <a:lnTo>
                    <a:pt x="146" y="107"/>
                  </a:lnTo>
                  <a:lnTo>
                    <a:pt x="154" y="84"/>
                  </a:lnTo>
                  <a:lnTo>
                    <a:pt x="163" y="64"/>
                  </a:lnTo>
                  <a:lnTo>
                    <a:pt x="174" y="45"/>
                  </a:lnTo>
                  <a:lnTo>
                    <a:pt x="185" y="29"/>
                  </a:lnTo>
                  <a:lnTo>
                    <a:pt x="197" y="17"/>
                  </a:lnTo>
                  <a:lnTo>
                    <a:pt x="210" y="8"/>
                  </a:lnTo>
                  <a:lnTo>
                    <a:pt x="224" y="2"/>
                  </a:lnTo>
                  <a:lnTo>
                    <a:pt x="238" y="0"/>
                  </a:lnTo>
                  <a:lnTo>
                    <a:pt x="252" y="2"/>
                  </a:lnTo>
                  <a:lnTo>
                    <a:pt x="264" y="8"/>
                  </a:lnTo>
                  <a:lnTo>
                    <a:pt x="277" y="17"/>
                  </a:lnTo>
                  <a:lnTo>
                    <a:pt x="290" y="29"/>
                  </a:lnTo>
                  <a:lnTo>
                    <a:pt x="301" y="45"/>
                  </a:lnTo>
                  <a:lnTo>
                    <a:pt x="311" y="64"/>
                  </a:lnTo>
                  <a:lnTo>
                    <a:pt x="321" y="84"/>
                  </a:lnTo>
                  <a:lnTo>
                    <a:pt x="329" y="107"/>
                  </a:lnTo>
                  <a:lnTo>
                    <a:pt x="353" y="103"/>
                  </a:lnTo>
                  <a:lnTo>
                    <a:pt x="376" y="102"/>
                  </a:lnTo>
                  <a:lnTo>
                    <a:pt x="397" y="102"/>
                  </a:lnTo>
                  <a:lnTo>
                    <a:pt x="416" y="103"/>
                  </a:lnTo>
                  <a:lnTo>
                    <a:pt x="432" y="107"/>
                  </a:lnTo>
                  <a:lnTo>
                    <a:pt x="447" y="114"/>
                  </a:lnTo>
                  <a:lnTo>
                    <a:pt x="459" y="122"/>
                  </a:lnTo>
                  <a:lnTo>
                    <a:pt x="467" y="134"/>
                  </a:lnTo>
                  <a:lnTo>
                    <a:pt x="472" y="147"/>
                  </a:lnTo>
                  <a:lnTo>
                    <a:pt x="474" y="160"/>
                  </a:lnTo>
                  <a:lnTo>
                    <a:pt x="472" y="176"/>
                  </a:lnTo>
                  <a:lnTo>
                    <a:pt x="467" y="193"/>
                  </a:lnTo>
                  <a:lnTo>
                    <a:pt x="460" y="210"/>
                  </a:lnTo>
                  <a:lnTo>
                    <a:pt x="450" y="228"/>
                  </a:lnTo>
                  <a:lnTo>
                    <a:pt x="437" y="247"/>
                  </a:lnTo>
                  <a:lnTo>
                    <a:pt x="421" y="26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1" name="Freeform 62"/>
            <p:cNvSpPr>
              <a:spLocks noChangeAspect="1"/>
            </p:cNvSpPr>
            <p:nvPr/>
          </p:nvSpPr>
          <p:spPr bwMode="auto">
            <a:xfrm>
              <a:off x="6927" y="14764"/>
              <a:ext cx="54" cy="63"/>
            </a:xfrm>
            <a:custGeom>
              <a:avLst/>
              <a:gdLst>
                <a:gd name="T0" fmla="*/ 0 w 120"/>
                <a:gd name="T1" fmla="*/ 0 h 139"/>
                <a:gd name="T2" fmla="*/ 0 w 120"/>
                <a:gd name="T3" fmla="*/ 0 h 139"/>
                <a:gd name="T4" fmla="*/ 0 w 120"/>
                <a:gd name="T5" fmla="*/ 0 h 139"/>
                <a:gd name="T6" fmla="*/ 0 w 120"/>
                <a:gd name="T7" fmla="*/ 0 h 139"/>
                <a:gd name="T8" fmla="*/ 0 w 120"/>
                <a:gd name="T9" fmla="*/ 0 h 139"/>
                <a:gd name="T10" fmla="*/ 0 w 120"/>
                <a:gd name="T11" fmla="*/ 0 h 139"/>
                <a:gd name="T12" fmla="*/ 0 w 120"/>
                <a:gd name="T13" fmla="*/ 0 h 139"/>
                <a:gd name="T14" fmla="*/ 0 w 120"/>
                <a:gd name="T15" fmla="*/ 0 h 139"/>
                <a:gd name="T16" fmla="*/ 0 w 120"/>
                <a:gd name="T17" fmla="*/ 0 h 139"/>
                <a:gd name="T18" fmla="*/ 0 w 120"/>
                <a:gd name="T19" fmla="*/ 0 h 139"/>
                <a:gd name="T20" fmla="*/ 0 w 120"/>
                <a:gd name="T21" fmla="*/ 0 h 139"/>
                <a:gd name="T22" fmla="*/ 0 w 120"/>
                <a:gd name="T23" fmla="*/ 0 h 139"/>
                <a:gd name="T24" fmla="*/ 0 w 120"/>
                <a:gd name="T25" fmla="*/ 0 h 139"/>
                <a:gd name="T26" fmla="*/ 0 w 120"/>
                <a:gd name="T27" fmla="*/ 0 h 139"/>
                <a:gd name="T28" fmla="*/ 0 w 120"/>
                <a:gd name="T29" fmla="*/ 0 h 139"/>
                <a:gd name="T30" fmla="*/ 0 w 120"/>
                <a:gd name="T31" fmla="*/ 0 h 139"/>
                <a:gd name="T32" fmla="*/ 0 w 120"/>
                <a:gd name="T33" fmla="*/ 0 h 139"/>
                <a:gd name="T34" fmla="*/ 0 w 120"/>
                <a:gd name="T35" fmla="*/ 0 h 139"/>
                <a:gd name="T36" fmla="*/ 0 w 120"/>
                <a:gd name="T37" fmla="*/ 0 h 139"/>
                <a:gd name="T38" fmla="*/ 0 w 120"/>
                <a:gd name="T39" fmla="*/ 0 h 139"/>
                <a:gd name="T40" fmla="*/ 0 w 120"/>
                <a:gd name="T41" fmla="*/ 0 h 139"/>
                <a:gd name="T42" fmla="*/ 0 w 120"/>
                <a:gd name="T43" fmla="*/ 0 h 139"/>
                <a:gd name="T44" fmla="*/ 0 w 120"/>
                <a:gd name="T45" fmla="*/ 0 h 139"/>
                <a:gd name="T46" fmla="*/ 0 w 120"/>
                <a:gd name="T47" fmla="*/ 0 h 139"/>
                <a:gd name="T48" fmla="*/ 0 w 120"/>
                <a:gd name="T49" fmla="*/ 0 h 139"/>
                <a:gd name="T50" fmla="*/ 0 w 120"/>
                <a:gd name="T51" fmla="*/ 0 h 139"/>
                <a:gd name="T52" fmla="*/ 0 w 120"/>
                <a:gd name="T53" fmla="*/ 0 h 139"/>
                <a:gd name="T54" fmla="*/ 0 w 120"/>
                <a:gd name="T55" fmla="*/ 0 h 139"/>
                <a:gd name="T56" fmla="*/ 0 w 120"/>
                <a:gd name="T57" fmla="*/ 0 h 139"/>
                <a:gd name="T58" fmla="*/ 0 w 120"/>
                <a:gd name="T59" fmla="*/ 0 h 139"/>
                <a:gd name="T60" fmla="*/ 0 w 120"/>
                <a:gd name="T61" fmla="*/ 0 h 139"/>
                <a:gd name="T62" fmla="*/ 0 w 120"/>
                <a:gd name="T63" fmla="*/ 0 h 139"/>
                <a:gd name="T64" fmla="*/ 0 w 120"/>
                <a:gd name="T65" fmla="*/ 0 h 139"/>
                <a:gd name="T66" fmla="*/ 0 w 120"/>
                <a:gd name="T67" fmla="*/ 0 h 139"/>
                <a:gd name="T68" fmla="*/ 0 w 120"/>
                <a:gd name="T69" fmla="*/ 0 h 139"/>
                <a:gd name="T70" fmla="*/ 0 w 120"/>
                <a:gd name="T71" fmla="*/ 0 h 139"/>
                <a:gd name="T72" fmla="*/ 0 w 120"/>
                <a:gd name="T73" fmla="*/ 0 h 1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20"/>
                <a:gd name="T112" fmla="*/ 0 h 139"/>
                <a:gd name="T113" fmla="*/ 120 w 120"/>
                <a:gd name="T114" fmla="*/ 139 h 13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20" h="139">
                  <a:moveTo>
                    <a:pt x="80" y="0"/>
                  </a:moveTo>
                  <a:lnTo>
                    <a:pt x="80" y="0"/>
                  </a:lnTo>
                  <a:lnTo>
                    <a:pt x="73" y="6"/>
                  </a:lnTo>
                  <a:lnTo>
                    <a:pt x="65" y="13"/>
                  </a:lnTo>
                  <a:lnTo>
                    <a:pt x="58" y="20"/>
                  </a:lnTo>
                  <a:lnTo>
                    <a:pt x="50" y="27"/>
                  </a:lnTo>
                  <a:lnTo>
                    <a:pt x="42" y="34"/>
                  </a:lnTo>
                  <a:lnTo>
                    <a:pt x="34" y="41"/>
                  </a:lnTo>
                  <a:lnTo>
                    <a:pt x="24" y="47"/>
                  </a:lnTo>
                  <a:lnTo>
                    <a:pt x="16" y="54"/>
                  </a:lnTo>
                  <a:lnTo>
                    <a:pt x="15" y="65"/>
                  </a:lnTo>
                  <a:lnTo>
                    <a:pt x="13" y="76"/>
                  </a:lnTo>
                  <a:lnTo>
                    <a:pt x="12" y="86"/>
                  </a:lnTo>
                  <a:lnTo>
                    <a:pt x="9" y="96"/>
                  </a:lnTo>
                  <a:lnTo>
                    <a:pt x="7" y="107"/>
                  </a:lnTo>
                  <a:lnTo>
                    <a:pt x="5" y="117"/>
                  </a:lnTo>
                  <a:lnTo>
                    <a:pt x="2" y="126"/>
                  </a:lnTo>
                  <a:lnTo>
                    <a:pt x="0" y="136"/>
                  </a:lnTo>
                  <a:lnTo>
                    <a:pt x="20" y="138"/>
                  </a:lnTo>
                  <a:lnTo>
                    <a:pt x="39" y="139"/>
                  </a:lnTo>
                  <a:lnTo>
                    <a:pt x="57" y="139"/>
                  </a:lnTo>
                  <a:lnTo>
                    <a:pt x="72" y="136"/>
                  </a:lnTo>
                  <a:lnTo>
                    <a:pt x="85" y="132"/>
                  </a:lnTo>
                  <a:lnTo>
                    <a:pt x="97" y="126"/>
                  </a:lnTo>
                  <a:lnTo>
                    <a:pt x="107" y="118"/>
                  </a:lnTo>
                  <a:lnTo>
                    <a:pt x="114" y="109"/>
                  </a:lnTo>
                  <a:lnTo>
                    <a:pt x="118" y="99"/>
                  </a:lnTo>
                  <a:lnTo>
                    <a:pt x="120" y="87"/>
                  </a:lnTo>
                  <a:lnTo>
                    <a:pt x="119" y="74"/>
                  </a:lnTo>
                  <a:lnTo>
                    <a:pt x="115" y="61"/>
                  </a:lnTo>
                  <a:lnTo>
                    <a:pt x="110" y="46"/>
                  </a:lnTo>
                  <a:lnTo>
                    <a:pt x="102" y="31"/>
                  </a:lnTo>
                  <a:lnTo>
                    <a:pt x="92" y="16"/>
                  </a:lnTo>
                  <a:lnTo>
                    <a:pt x="8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2" name="Freeform 63"/>
            <p:cNvSpPr>
              <a:spLocks noChangeAspect="1"/>
            </p:cNvSpPr>
            <p:nvPr/>
          </p:nvSpPr>
          <p:spPr bwMode="auto">
            <a:xfrm>
              <a:off x="6934" y="14738"/>
              <a:ext cx="24" cy="44"/>
            </a:xfrm>
            <a:custGeom>
              <a:avLst/>
              <a:gdLst>
                <a:gd name="T0" fmla="*/ 0 w 54"/>
                <a:gd name="T1" fmla="*/ 0 h 98"/>
                <a:gd name="T2" fmla="*/ 0 w 54"/>
                <a:gd name="T3" fmla="*/ 0 h 98"/>
                <a:gd name="T4" fmla="*/ 0 w 54"/>
                <a:gd name="T5" fmla="*/ 0 h 98"/>
                <a:gd name="T6" fmla="*/ 0 w 54"/>
                <a:gd name="T7" fmla="*/ 0 h 98"/>
                <a:gd name="T8" fmla="*/ 0 w 54"/>
                <a:gd name="T9" fmla="*/ 0 h 98"/>
                <a:gd name="T10" fmla="*/ 0 w 54"/>
                <a:gd name="T11" fmla="*/ 0 h 98"/>
                <a:gd name="T12" fmla="*/ 0 w 54"/>
                <a:gd name="T13" fmla="*/ 0 h 98"/>
                <a:gd name="T14" fmla="*/ 0 w 54"/>
                <a:gd name="T15" fmla="*/ 0 h 98"/>
                <a:gd name="T16" fmla="*/ 0 w 54"/>
                <a:gd name="T17" fmla="*/ 0 h 98"/>
                <a:gd name="T18" fmla="*/ 0 w 54"/>
                <a:gd name="T19" fmla="*/ 0 h 98"/>
                <a:gd name="T20" fmla="*/ 0 w 54"/>
                <a:gd name="T21" fmla="*/ 0 h 98"/>
                <a:gd name="T22" fmla="*/ 0 w 54"/>
                <a:gd name="T23" fmla="*/ 0 h 98"/>
                <a:gd name="T24" fmla="*/ 0 w 54"/>
                <a:gd name="T25" fmla="*/ 0 h 98"/>
                <a:gd name="T26" fmla="*/ 0 w 54"/>
                <a:gd name="T27" fmla="*/ 0 h 98"/>
                <a:gd name="T28" fmla="*/ 0 w 54"/>
                <a:gd name="T29" fmla="*/ 0 h 98"/>
                <a:gd name="T30" fmla="*/ 0 w 54"/>
                <a:gd name="T31" fmla="*/ 0 h 98"/>
                <a:gd name="T32" fmla="*/ 0 w 54"/>
                <a:gd name="T33" fmla="*/ 0 h 98"/>
                <a:gd name="T34" fmla="*/ 0 w 54"/>
                <a:gd name="T35" fmla="*/ 0 h 98"/>
                <a:gd name="T36" fmla="*/ 0 w 54"/>
                <a:gd name="T37" fmla="*/ 0 h 98"/>
                <a:gd name="T38" fmla="*/ 0 w 54"/>
                <a:gd name="T39" fmla="*/ 0 h 98"/>
                <a:gd name="T40" fmla="*/ 0 w 54"/>
                <a:gd name="T41" fmla="*/ 0 h 98"/>
                <a:gd name="T42" fmla="*/ 0 w 54"/>
                <a:gd name="T43" fmla="*/ 0 h 98"/>
                <a:gd name="T44" fmla="*/ 0 w 54"/>
                <a:gd name="T45" fmla="*/ 0 h 98"/>
                <a:gd name="T46" fmla="*/ 0 w 54"/>
                <a:gd name="T47" fmla="*/ 0 h 98"/>
                <a:gd name="T48" fmla="*/ 0 w 54"/>
                <a:gd name="T49" fmla="*/ 0 h 98"/>
                <a:gd name="T50" fmla="*/ 0 w 54"/>
                <a:gd name="T51" fmla="*/ 0 h 98"/>
                <a:gd name="T52" fmla="*/ 0 w 54"/>
                <a:gd name="T53" fmla="*/ 0 h 98"/>
                <a:gd name="T54" fmla="*/ 0 w 54"/>
                <a:gd name="T55" fmla="*/ 0 h 98"/>
                <a:gd name="T56" fmla="*/ 0 w 54"/>
                <a:gd name="T57" fmla="*/ 0 h 98"/>
                <a:gd name="T58" fmla="*/ 0 w 54"/>
                <a:gd name="T59" fmla="*/ 0 h 98"/>
                <a:gd name="T60" fmla="*/ 0 w 54"/>
                <a:gd name="T61" fmla="*/ 0 h 98"/>
                <a:gd name="T62" fmla="*/ 0 w 54"/>
                <a:gd name="T63" fmla="*/ 0 h 98"/>
                <a:gd name="T64" fmla="*/ 0 w 54"/>
                <a:gd name="T65" fmla="*/ 0 h 98"/>
                <a:gd name="T66" fmla="*/ 0 w 54"/>
                <a:gd name="T67" fmla="*/ 0 h 98"/>
                <a:gd name="T68" fmla="*/ 0 w 54"/>
                <a:gd name="T69" fmla="*/ 0 h 98"/>
                <a:gd name="T70" fmla="*/ 0 w 54"/>
                <a:gd name="T71" fmla="*/ 0 h 98"/>
                <a:gd name="T72" fmla="*/ 0 w 54"/>
                <a:gd name="T73" fmla="*/ 0 h 9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4"/>
                <a:gd name="T112" fmla="*/ 0 h 98"/>
                <a:gd name="T113" fmla="*/ 54 w 54"/>
                <a:gd name="T114" fmla="*/ 98 h 9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4" h="98">
                  <a:moveTo>
                    <a:pt x="54" y="48"/>
                  </a:moveTo>
                  <a:lnTo>
                    <a:pt x="54" y="48"/>
                  </a:lnTo>
                  <a:lnTo>
                    <a:pt x="49" y="41"/>
                  </a:lnTo>
                  <a:lnTo>
                    <a:pt x="43" y="36"/>
                  </a:lnTo>
                  <a:lnTo>
                    <a:pt x="36" y="30"/>
                  </a:lnTo>
                  <a:lnTo>
                    <a:pt x="30" y="23"/>
                  </a:lnTo>
                  <a:lnTo>
                    <a:pt x="23" y="17"/>
                  </a:lnTo>
                  <a:lnTo>
                    <a:pt x="16" y="11"/>
                  </a:lnTo>
                  <a:lnTo>
                    <a:pt x="10" y="6"/>
                  </a:lnTo>
                  <a:lnTo>
                    <a:pt x="1" y="0"/>
                  </a:lnTo>
                  <a:lnTo>
                    <a:pt x="1" y="6"/>
                  </a:lnTo>
                  <a:lnTo>
                    <a:pt x="3" y="11"/>
                  </a:lnTo>
                  <a:lnTo>
                    <a:pt x="3" y="17"/>
                  </a:lnTo>
                  <a:lnTo>
                    <a:pt x="3" y="23"/>
                  </a:lnTo>
                  <a:lnTo>
                    <a:pt x="3" y="30"/>
                  </a:lnTo>
                  <a:lnTo>
                    <a:pt x="3" y="36"/>
                  </a:lnTo>
                  <a:lnTo>
                    <a:pt x="3" y="41"/>
                  </a:lnTo>
                  <a:lnTo>
                    <a:pt x="3" y="48"/>
                  </a:lnTo>
                  <a:lnTo>
                    <a:pt x="3" y="54"/>
                  </a:lnTo>
                  <a:lnTo>
                    <a:pt x="3" y="61"/>
                  </a:lnTo>
                  <a:lnTo>
                    <a:pt x="3" y="67"/>
                  </a:lnTo>
                  <a:lnTo>
                    <a:pt x="3" y="72"/>
                  </a:lnTo>
                  <a:lnTo>
                    <a:pt x="3" y="79"/>
                  </a:lnTo>
                  <a:lnTo>
                    <a:pt x="1" y="85"/>
                  </a:lnTo>
                  <a:lnTo>
                    <a:pt x="1" y="92"/>
                  </a:lnTo>
                  <a:lnTo>
                    <a:pt x="0" y="98"/>
                  </a:lnTo>
                  <a:lnTo>
                    <a:pt x="8" y="92"/>
                  </a:lnTo>
                  <a:lnTo>
                    <a:pt x="16" y="85"/>
                  </a:lnTo>
                  <a:lnTo>
                    <a:pt x="23" y="79"/>
                  </a:lnTo>
                  <a:lnTo>
                    <a:pt x="30" y="72"/>
                  </a:lnTo>
                  <a:lnTo>
                    <a:pt x="37" y="67"/>
                  </a:lnTo>
                  <a:lnTo>
                    <a:pt x="43" y="61"/>
                  </a:lnTo>
                  <a:lnTo>
                    <a:pt x="49" y="54"/>
                  </a:lnTo>
                  <a:lnTo>
                    <a:pt x="54" y="4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3" name="Freeform 64"/>
            <p:cNvSpPr>
              <a:spLocks noChangeAspect="1"/>
            </p:cNvSpPr>
            <p:nvPr/>
          </p:nvSpPr>
          <p:spPr bwMode="auto">
            <a:xfrm>
              <a:off x="6788" y="14692"/>
              <a:ext cx="54" cy="64"/>
            </a:xfrm>
            <a:custGeom>
              <a:avLst/>
              <a:gdLst>
                <a:gd name="T0" fmla="*/ 0 w 120"/>
                <a:gd name="T1" fmla="*/ 0 h 142"/>
                <a:gd name="T2" fmla="*/ 0 w 120"/>
                <a:gd name="T3" fmla="*/ 0 h 142"/>
                <a:gd name="T4" fmla="*/ 0 w 120"/>
                <a:gd name="T5" fmla="*/ 0 h 142"/>
                <a:gd name="T6" fmla="*/ 0 w 120"/>
                <a:gd name="T7" fmla="*/ 0 h 142"/>
                <a:gd name="T8" fmla="*/ 0 w 120"/>
                <a:gd name="T9" fmla="*/ 0 h 142"/>
                <a:gd name="T10" fmla="*/ 0 w 120"/>
                <a:gd name="T11" fmla="*/ 0 h 142"/>
                <a:gd name="T12" fmla="*/ 0 w 120"/>
                <a:gd name="T13" fmla="*/ 0 h 142"/>
                <a:gd name="T14" fmla="*/ 0 w 120"/>
                <a:gd name="T15" fmla="*/ 0 h 142"/>
                <a:gd name="T16" fmla="*/ 0 w 120"/>
                <a:gd name="T17" fmla="*/ 0 h 142"/>
                <a:gd name="T18" fmla="*/ 0 w 120"/>
                <a:gd name="T19" fmla="*/ 0 h 142"/>
                <a:gd name="T20" fmla="*/ 0 w 120"/>
                <a:gd name="T21" fmla="*/ 0 h 142"/>
                <a:gd name="T22" fmla="*/ 0 w 120"/>
                <a:gd name="T23" fmla="*/ 0 h 142"/>
                <a:gd name="T24" fmla="*/ 0 w 120"/>
                <a:gd name="T25" fmla="*/ 0 h 142"/>
                <a:gd name="T26" fmla="*/ 0 w 120"/>
                <a:gd name="T27" fmla="*/ 0 h 142"/>
                <a:gd name="T28" fmla="*/ 0 w 120"/>
                <a:gd name="T29" fmla="*/ 0 h 142"/>
                <a:gd name="T30" fmla="*/ 0 w 120"/>
                <a:gd name="T31" fmla="*/ 0 h 142"/>
                <a:gd name="T32" fmla="*/ 0 w 120"/>
                <a:gd name="T33" fmla="*/ 0 h 142"/>
                <a:gd name="T34" fmla="*/ 0 w 120"/>
                <a:gd name="T35" fmla="*/ 0 h 142"/>
                <a:gd name="T36" fmla="*/ 0 w 120"/>
                <a:gd name="T37" fmla="*/ 0 h 142"/>
                <a:gd name="T38" fmla="*/ 0 w 120"/>
                <a:gd name="T39" fmla="*/ 0 h 142"/>
                <a:gd name="T40" fmla="*/ 0 w 120"/>
                <a:gd name="T41" fmla="*/ 0 h 142"/>
                <a:gd name="T42" fmla="*/ 0 w 120"/>
                <a:gd name="T43" fmla="*/ 0 h 142"/>
                <a:gd name="T44" fmla="*/ 0 w 120"/>
                <a:gd name="T45" fmla="*/ 0 h 142"/>
                <a:gd name="T46" fmla="*/ 0 w 120"/>
                <a:gd name="T47" fmla="*/ 0 h 142"/>
                <a:gd name="T48" fmla="*/ 0 w 120"/>
                <a:gd name="T49" fmla="*/ 0 h 142"/>
                <a:gd name="T50" fmla="*/ 0 w 120"/>
                <a:gd name="T51" fmla="*/ 0 h 142"/>
                <a:gd name="T52" fmla="*/ 0 w 120"/>
                <a:gd name="T53" fmla="*/ 0 h 142"/>
                <a:gd name="T54" fmla="*/ 0 w 120"/>
                <a:gd name="T55" fmla="*/ 0 h 142"/>
                <a:gd name="T56" fmla="*/ 0 w 120"/>
                <a:gd name="T57" fmla="*/ 0 h 142"/>
                <a:gd name="T58" fmla="*/ 0 w 120"/>
                <a:gd name="T59" fmla="*/ 0 h 142"/>
                <a:gd name="T60" fmla="*/ 0 w 120"/>
                <a:gd name="T61" fmla="*/ 0 h 142"/>
                <a:gd name="T62" fmla="*/ 0 w 120"/>
                <a:gd name="T63" fmla="*/ 0 h 142"/>
                <a:gd name="T64" fmla="*/ 0 w 120"/>
                <a:gd name="T65" fmla="*/ 0 h 142"/>
                <a:gd name="T66" fmla="*/ 0 w 120"/>
                <a:gd name="T67" fmla="*/ 0 h 142"/>
                <a:gd name="T68" fmla="*/ 0 w 120"/>
                <a:gd name="T69" fmla="*/ 0 h 142"/>
                <a:gd name="T70" fmla="*/ 0 w 120"/>
                <a:gd name="T71" fmla="*/ 0 h 142"/>
                <a:gd name="T72" fmla="*/ 0 w 120"/>
                <a:gd name="T73" fmla="*/ 0 h 14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20"/>
                <a:gd name="T112" fmla="*/ 0 h 142"/>
                <a:gd name="T113" fmla="*/ 120 w 120"/>
                <a:gd name="T114" fmla="*/ 142 h 14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20" h="142">
                  <a:moveTo>
                    <a:pt x="42" y="142"/>
                  </a:moveTo>
                  <a:lnTo>
                    <a:pt x="42" y="142"/>
                  </a:lnTo>
                  <a:lnTo>
                    <a:pt x="49" y="135"/>
                  </a:lnTo>
                  <a:lnTo>
                    <a:pt x="56" y="127"/>
                  </a:lnTo>
                  <a:lnTo>
                    <a:pt x="62" y="120"/>
                  </a:lnTo>
                  <a:lnTo>
                    <a:pt x="71" y="113"/>
                  </a:lnTo>
                  <a:lnTo>
                    <a:pt x="79" y="106"/>
                  </a:lnTo>
                  <a:lnTo>
                    <a:pt x="87" y="99"/>
                  </a:lnTo>
                  <a:lnTo>
                    <a:pt x="96" y="94"/>
                  </a:lnTo>
                  <a:lnTo>
                    <a:pt x="105" y="87"/>
                  </a:lnTo>
                  <a:lnTo>
                    <a:pt x="106" y="75"/>
                  </a:lnTo>
                  <a:lnTo>
                    <a:pt x="107" y="65"/>
                  </a:lnTo>
                  <a:lnTo>
                    <a:pt x="109" y="55"/>
                  </a:lnTo>
                  <a:lnTo>
                    <a:pt x="111" y="44"/>
                  </a:lnTo>
                  <a:lnTo>
                    <a:pt x="113" y="34"/>
                  </a:lnTo>
                  <a:lnTo>
                    <a:pt x="115" y="25"/>
                  </a:lnTo>
                  <a:lnTo>
                    <a:pt x="118" y="14"/>
                  </a:lnTo>
                  <a:lnTo>
                    <a:pt x="120" y="5"/>
                  </a:lnTo>
                  <a:lnTo>
                    <a:pt x="100" y="2"/>
                  </a:lnTo>
                  <a:lnTo>
                    <a:pt x="81" y="0"/>
                  </a:lnTo>
                  <a:lnTo>
                    <a:pt x="64" y="2"/>
                  </a:lnTo>
                  <a:lnTo>
                    <a:pt x="49" y="4"/>
                  </a:lnTo>
                  <a:lnTo>
                    <a:pt x="35" y="8"/>
                  </a:lnTo>
                  <a:lnTo>
                    <a:pt x="23" y="14"/>
                  </a:lnTo>
                  <a:lnTo>
                    <a:pt x="13" y="22"/>
                  </a:lnTo>
                  <a:lnTo>
                    <a:pt x="6" y="32"/>
                  </a:lnTo>
                  <a:lnTo>
                    <a:pt x="1" y="42"/>
                  </a:lnTo>
                  <a:lnTo>
                    <a:pt x="0" y="53"/>
                  </a:lnTo>
                  <a:lnTo>
                    <a:pt x="1" y="67"/>
                  </a:lnTo>
                  <a:lnTo>
                    <a:pt x="5" y="81"/>
                  </a:lnTo>
                  <a:lnTo>
                    <a:pt x="11" y="95"/>
                  </a:lnTo>
                  <a:lnTo>
                    <a:pt x="19" y="111"/>
                  </a:lnTo>
                  <a:lnTo>
                    <a:pt x="29" y="126"/>
                  </a:lnTo>
                  <a:lnTo>
                    <a:pt x="42" y="14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4" name="Freeform 65"/>
            <p:cNvSpPr>
              <a:spLocks noChangeAspect="1"/>
            </p:cNvSpPr>
            <p:nvPr/>
          </p:nvSpPr>
          <p:spPr bwMode="auto">
            <a:xfrm>
              <a:off x="6809" y="14737"/>
              <a:ext cx="25" cy="45"/>
            </a:xfrm>
            <a:custGeom>
              <a:avLst/>
              <a:gdLst>
                <a:gd name="T0" fmla="*/ 0 w 55"/>
                <a:gd name="T1" fmla="*/ 0 h 99"/>
                <a:gd name="T2" fmla="*/ 0 w 55"/>
                <a:gd name="T3" fmla="*/ 0 h 99"/>
                <a:gd name="T4" fmla="*/ 0 w 55"/>
                <a:gd name="T5" fmla="*/ 0 h 99"/>
                <a:gd name="T6" fmla="*/ 0 w 55"/>
                <a:gd name="T7" fmla="*/ 0 h 99"/>
                <a:gd name="T8" fmla="*/ 0 w 55"/>
                <a:gd name="T9" fmla="*/ 0 h 99"/>
                <a:gd name="T10" fmla="*/ 0 w 55"/>
                <a:gd name="T11" fmla="*/ 0 h 99"/>
                <a:gd name="T12" fmla="*/ 0 w 55"/>
                <a:gd name="T13" fmla="*/ 0 h 99"/>
                <a:gd name="T14" fmla="*/ 0 w 55"/>
                <a:gd name="T15" fmla="*/ 0 h 99"/>
                <a:gd name="T16" fmla="*/ 0 w 55"/>
                <a:gd name="T17" fmla="*/ 0 h 99"/>
                <a:gd name="T18" fmla="*/ 0 w 55"/>
                <a:gd name="T19" fmla="*/ 0 h 99"/>
                <a:gd name="T20" fmla="*/ 0 w 55"/>
                <a:gd name="T21" fmla="*/ 0 h 99"/>
                <a:gd name="T22" fmla="*/ 0 w 55"/>
                <a:gd name="T23" fmla="*/ 0 h 99"/>
                <a:gd name="T24" fmla="*/ 0 w 55"/>
                <a:gd name="T25" fmla="*/ 0 h 99"/>
                <a:gd name="T26" fmla="*/ 0 w 55"/>
                <a:gd name="T27" fmla="*/ 0 h 99"/>
                <a:gd name="T28" fmla="*/ 0 w 55"/>
                <a:gd name="T29" fmla="*/ 0 h 99"/>
                <a:gd name="T30" fmla="*/ 0 w 55"/>
                <a:gd name="T31" fmla="*/ 0 h 99"/>
                <a:gd name="T32" fmla="*/ 0 w 55"/>
                <a:gd name="T33" fmla="*/ 0 h 99"/>
                <a:gd name="T34" fmla="*/ 0 w 55"/>
                <a:gd name="T35" fmla="*/ 0 h 99"/>
                <a:gd name="T36" fmla="*/ 0 w 55"/>
                <a:gd name="T37" fmla="*/ 0 h 99"/>
                <a:gd name="T38" fmla="*/ 0 w 55"/>
                <a:gd name="T39" fmla="*/ 0 h 99"/>
                <a:gd name="T40" fmla="*/ 0 w 55"/>
                <a:gd name="T41" fmla="*/ 0 h 99"/>
                <a:gd name="T42" fmla="*/ 0 w 55"/>
                <a:gd name="T43" fmla="*/ 0 h 99"/>
                <a:gd name="T44" fmla="*/ 0 w 55"/>
                <a:gd name="T45" fmla="*/ 0 h 99"/>
                <a:gd name="T46" fmla="*/ 0 w 55"/>
                <a:gd name="T47" fmla="*/ 0 h 99"/>
                <a:gd name="T48" fmla="*/ 0 w 55"/>
                <a:gd name="T49" fmla="*/ 0 h 99"/>
                <a:gd name="T50" fmla="*/ 0 w 55"/>
                <a:gd name="T51" fmla="*/ 0 h 99"/>
                <a:gd name="T52" fmla="*/ 0 w 55"/>
                <a:gd name="T53" fmla="*/ 0 h 99"/>
                <a:gd name="T54" fmla="*/ 0 w 55"/>
                <a:gd name="T55" fmla="*/ 0 h 99"/>
                <a:gd name="T56" fmla="*/ 0 w 55"/>
                <a:gd name="T57" fmla="*/ 0 h 99"/>
                <a:gd name="T58" fmla="*/ 0 w 55"/>
                <a:gd name="T59" fmla="*/ 0 h 99"/>
                <a:gd name="T60" fmla="*/ 0 w 55"/>
                <a:gd name="T61" fmla="*/ 0 h 99"/>
                <a:gd name="T62" fmla="*/ 0 w 55"/>
                <a:gd name="T63" fmla="*/ 0 h 99"/>
                <a:gd name="T64" fmla="*/ 0 w 55"/>
                <a:gd name="T65" fmla="*/ 0 h 99"/>
                <a:gd name="T66" fmla="*/ 0 w 55"/>
                <a:gd name="T67" fmla="*/ 0 h 99"/>
                <a:gd name="T68" fmla="*/ 0 w 55"/>
                <a:gd name="T69" fmla="*/ 0 h 99"/>
                <a:gd name="T70" fmla="*/ 0 w 55"/>
                <a:gd name="T71" fmla="*/ 0 h 99"/>
                <a:gd name="T72" fmla="*/ 0 w 55"/>
                <a:gd name="T73" fmla="*/ 0 h 9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5"/>
                <a:gd name="T112" fmla="*/ 0 h 99"/>
                <a:gd name="T113" fmla="*/ 55 w 55"/>
                <a:gd name="T114" fmla="*/ 99 h 9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5" h="99">
                  <a:moveTo>
                    <a:pt x="0" y="50"/>
                  </a:moveTo>
                  <a:lnTo>
                    <a:pt x="0" y="50"/>
                  </a:lnTo>
                  <a:lnTo>
                    <a:pt x="5" y="56"/>
                  </a:lnTo>
                  <a:lnTo>
                    <a:pt x="11" y="63"/>
                  </a:lnTo>
                  <a:lnTo>
                    <a:pt x="18" y="69"/>
                  </a:lnTo>
                  <a:lnTo>
                    <a:pt x="25" y="75"/>
                  </a:lnTo>
                  <a:lnTo>
                    <a:pt x="32" y="81"/>
                  </a:lnTo>
                  <a:lnTo>
                    <a:pt x="39" y="87"/>
                  </a:lnTo>
                  <a:lnTo>
                    <a:pt x="47" y="93"/>
                  </a:lnTo>
                  <a:lnTo>
                    <a:pt x="54" y="99"/>
                  </a:lnTo>
                  <a:lnTo>
                    <a:pt x="54" y="93"/>
                  </a:lnTo>
                  <a:lnTo>
                    <a:pt x="53" y="87"/>
                  </a:lnTo>
                  <a:lnTo>
                    <a:pt x="53" y="81"/>
                  </a:lnTo>
                  <a:lnTo>
                    <a:pt x="53" y="75"/>
                  </a:lnTo>
                  <a:lnTo>
                    <a:pt x="51" y="69"/>
                  </a:lnTo>
                  <a:lnTo>
                    <a:pt x="51" y="62"/>
                  </a:lnTo>
                  <a:lnTo>
                    <a:pt x="51" y="56"/>
                  </a:lnTo>
                  <a:lnTo>
                    <a:pt x="51" y="49"/>
                  </a:lnTo>
                  <a:lnTo>
                    <a:pt x="51" y="42"/>
                  </a:lnTo>
                  <a:lnTo>
                    <a:pt x="51" y="37"/>
                  </a:lnTo>
                  <a:lnTo>
                    <a:pt x="51" y="30"/>
                  </a:lnTo>
                  <a:lnTo>
                    <a:pt x="53" y="24"/>
                  </a:lnTo>
                  <a:lnTo>
                    <a:pt x="53" y="17"/>
                  </a:lnTo>
                  <a:lnTo>
                    <a:pt x="54" y="11"/>
                  </a:lnTo>
                  <a:lnTo>
                    <a:pt x="54" y="5"/>
                  </a:lnTo>
                  <a:lnTo>
                    <a:pt x="55" y="0"/>
                  </a:lnTo>
                  <a:lnTo>
                    <a:pt x="47" y="5"/>
                  </a:lnTo>
                  <a:lnTo>
                    <a:pt x="39" y="12"/>
                  </a:lnTo>
                  <a:lnTo>
                    <a:pt x="32" y="18"/>
                  </a:lnTo>
                  <a:lnTo>
                    <a:pt x="25" y="24"/>
                  </a:lnTo>
                  <a:lnTo>
                    <a:pt x="18" y="31"/>
                  </a:lnTo>
                  <a:lnTo>
                    <a:pt x="11" y="37"/>
                  </a:lnTo>
                  <a:lnTo>
                    <a:pt x="5" y="43"/>
                  </a:lnTo>
                  <a:lnTo>
                    <a:pt x="0" y="5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5" name="Freeform 66"/>
            <p:cNvSpPr>
              <a:spLocks noChangeAspect="1"/>
            </p:cNvSpPr>
            <p:nvPr/>
          </p:nvSpPr>
          <p:spPr bwMode="auto">
            <a:xfrm>
              <a:off x="6788" y="14764"/>
              <a:ext cx="54" cy="63"/>
            </a:xfrm>
            <a:custGeom>
              <a:avLst/>
              <a:gdLst>
                <a:gd name="T0" fmla="*/ 0 w 120"/>
                <a:gd name="T1" fmla="*/ 0 h 139"/>
                <a:gd name="T2" fmla="*/ 0 w 120"/>
                <a:gd name="T3" fmla="*/ 0 h 139"/>
                <a:gd name="T4" fmla="*/ 0 w 120"/>
                <a:gd name="T5" fmla="*/ 0 h 139"/>
                <a:gd name="T6" fmla="*/ 0 w 120"/>
                <a:gd name="T7" fmla="*/ 0 h 139"/>
                <a:gd name="T8" fmla="*/ 0 w 120"/>
                <a:gd name="T9" fmla="*/ 0 h 139"/>
                <a:gd name="T10" fmla="*/ 0 w 120"/>
                <a:gd name="T11" fmla="*/ 0 h 139"/>
                <a:gd name="T12" fmla="*/ 0 w 120"/>
                <a:gd name="T13" fmla="*/ 0 h 139"/>
                <a:gd name="T14" fmla="*/ 0 w 120"/>
                <a:gd name="T15" fmla="*/ 0 h 139"/>
                <a:gd name="T16" fmla="*/ 0 w 120"/>
                <a:gd name="T17" fmla="*/ 0 h 139"/>
                <a:gd name="T18" fmla="*/ 0 w 120"/>
                <a:gd name="T19" fmla="*/ 0 h 139"/>
                <a:gd name="T20" fmla="*/ 0 w 120"/>
                <a:gd name="T21" fmla="*/ 0 h 139"/>
                <a:gd name="T22" fmla="*/ 0 w 120"/>
                <a:gd name="T23" fmla="*/ 0 h 139"/>
                <a:gd name="T24" fmla="*/ 0 w 120"/>
                <a:gd name="T25" fmla="*/ 0 h 139"/>
                <a:gd name="T26" fmla="*/ 0 w 120"/>
                <a:gd name="T27" fmla="*/ 0 h 139"/>
                <a:gd name="T28" fmla="*/ 0 w 120"/>
                <a:gd name="T29" fmla="*/ 0 h 139"/>
                <a:gd name="T30" fmla="*/ 0 w 120"/>
                <a:gd name="T31" fmla="*/ 0 h 139"/>
                <a:gd name="T32" fmla="*/ 0 w 120"/>
                <a:gd name="T33" fmla="*/ 0 h 139"/>
                <a:gd name="T34" fmla="*/ 0 w 120"/>
                <a:gd name="T35" fmla="*/ 0 h 139"/>
                <a:gd name="T36" fmla="*/ 0 w 120"/>
                <a:gd name="T37" fmla="*/ 0 h 139"/>
                <a:gd name="T38" fmla="*/ 0 w 120"/>
                <a:gd name="T39" fmla="*/ 0 h 139"/>
                <a:gd name="T40" fmla="*/ 0 w 120"/>
                <a:gd name="T41" fmla="*/ 0 h 139"/>
                <a:gd name="T42" fmla="*/ 0 w 120"/>
                <a:gd name="T43" fmla="*/ 0 h 139"/>
                <a:gd name="T44" fmla="*/ 0 w 120"/>
                <a:gd name="T45" fmla="*/ 0 h 139"/>
                <a:gd name="T46" fmla="*/ 0 w 120"/>
                <a:gd name="T47" fmla="*/ 0 h 139"/>
                <a:gd name="T48" fmla="*/ 0 w 120"/>
                <a:gd name="T49" fmla="*/ 0 h 139"/>
                <a:gd name="T50" fmla="*/ 0 w 120"/>
                <a:gd name="T51" fmla="*/ 0 h 139"/>
                <a:gd name="T52" fmla="*/ 0 w 120"/>
                <a:gd name="T53" fmla="*/ 0 h 139"/>
                <a:gd name="T54" fmla="*/ 0 w 120"/>
                <a:gd name="T55" fmla="*/ 0 h 139"/>
                <a:gd name="T56" fmla="*/ 0 w 120"/>
                <a:gd name="T57" fmla="*/ 0 h 139"/>
                <a:gd name="T58" fmla="*/ 0 w 120"/>
                <a:gd name="T59" fmla="*/ 0 h 139"/>
                <a:gd name="T60" fmla="*/ 0 w 120"/>
                <a:gd name="T61" fmla="*/ 0 h 139"/>
                <a:gd name="T62" fmla="*/ 0 w 120"/>
                <a:gd name="T63" fmla="*/ 0 h 139"/>
                <a:gd name="T64" fmla="*/ 0 w 120"/>
                <a:gd name="T65" fmla="*/ 0 h 139"/>
                <a:gd name="T66" fmla="*/ 0 w 120"/>
                <a:gd name="T67" fmla="*/ 0 h 139"/>
                <a:gd name="T68" fmla="*/ 0 w 120"/>
                <a:gd name="T69" fmla="*/ 0 h 139"/>
                <a:gd name="T70" fmla="*/ 0 w 120"/>
                <a:gd name="T71" fmla="*/ 0 h 139"/>
                <a:gd name="T72" fmla="*/ 0 w 120"/>
                <a:gd name="T73" fmla="*/ 0 h 1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20"/>
                <a:gd name="T112" fmla="*/ 0 h 139"/>
                <a:gd name="T113" fmla="*/ 120 w 120"/>
                <a:gd name="T114" fmla="*/ 139 h 13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20" h="139">
                  <a:moveTo>
                    <a:pt x="41" y="0"/>
                  </a:moveTo>
                  <a:lnTo>
                    <a:pt x="41" y="0"/>
                  </a:lnTo>
                  <a:lnTo>
                    <a:pt x="28" y="16"/>
                  </a:lnTo>
                  <a:lnTo>
                    <a:pt x="19" y="31"/>
                  </a:lnTo>
                  <a:lnTo>
                    <a:pt x="11" y="46"/>
                  </a:lnTo>
                  <a:lnTo>
                    <a:pt x="5" y="61"/>
                  </a:lnTo>
                  <a:lnTo>
                    <a:pt x="1" y="74"/>
                  </a:lnTo>
                  <a:lnTo>
                    <a:pt x="0" y="87"/>
                  </a:lnTo>
                  <a:lnTo>
                    <a:pt x="3" y="99"/>
                  </a:lnTo>
                  <a:lnTo>
                    <a:pt x="6" y="109"/>
                  </a:lnTo>
                  <a:lnTo>
                    <a:pt x="14" y="118"/>
                  </a:lnTo>
                  <a:lnTo>
                    <a:pt x="23" y="126"/>
                  </a:lnTo>
                  <a:lnTo>
                    <a:pt x="35" y="132"/>
                  </a:lnTo>
                  <a:lnTo>
                    <a:pt x="49" y="136"/>
                  </a:lnTo>
                  <a:lnTo>
                    <a:pt x="65" y="139"/>
                  </a:lnTo>
                  <a:lnTo>
                    <a:pt x="81" y="139"/>
                  </a:lnTo>
                  <a:lnTo>
                    <a:pt x="100" y="138"/>
                  </a:lnTo>
                  <a:lnTo>
                    <a:pt x="120" y="136"/>
                  </a:lnTo>
                  <a:lnTo>
                    <a:pt x="118" y="126"/>
                  </a:lnTo>
                  <a:lnTo>
                    <a:pt x="115" y="117"/>
                  </a:lnTo>
                  <a:lnTo>
                    <a:pt x="113" y="107"/>
                  </a:lnTo>
                  <a:lnTo>
                    <a:pt x="111" y="96"/>
                  </a:lnTo>
                  <a:lnTo>
                    <a:pt x="109" y="86"/>
                  </a:lnTo>
                  <a:lnTo>
                    <a:pt x="107" y="76"/>
                  </a:lnTo>
                  <a:lnTo>
                    <a:pt x="106" y="65"/>
                  </a:lnTo>
                  <a:lnTo>
                    <a:pt x="105" y="54"/>
                  </a:lnTo>
                  <a:lnTo>
                    <a:pt x="96" y="47"/>
                  </a:lnTo>
                  <a:lnTo>
                    <a:pt x="88" y="41"/>
                  </a:lnTo>
                  <a:lnTo>
                    <a:pt x="79" y="34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6" y="13"/>
                  </a:lnTo>
                  <a:lnTo>
                    <a:pt x="47" y="6"/>
                  </a:lnTo>
                  <a:lnTo>
                    <a:pt x="4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6" name="Freeform 67"/>
            <p:cNvSpPr>
              <a:spLocks noChangeAspect="1"/>
            </p:cNvSpPr>
            <p:nvPr/>
          </p:nvSpPr>
          <p:spPr bwMode="auto">
            <a:xfrm>
              <a:off x="6840" y="14696"/>
              <a:ext cx="38" cy="31"/>
            </a:xfrm>
            <a:custGeom>
              <a:avLst/>
              <a:gdLst>
                <a:gd name="T0" fmla="*/ 0 w 86"/>
                <a:gd name="T1" fmla="*/ 0 h 72"/>
                <a:gd name="T2" fmla="*/ 0 w 86"/>
                <a:gd name="T3" fmla="*/ 0 h 72"/>
                <a:gd name="T4" fmla="*/ 0 w 86"/>
                <a:gd name="T5" fmla="*/ 0 h 72"/>
                <a:gd name="T6" fmla="*/ 0 w 86"/>
                <a:gd name="T7" fmla="*/ 0 h 72"/>
                <a:gd name="T8" fmla="*/ 0 w 86"/>
                <a:gd name="T9" fmla="*/ 0 h 72"/>
                <a:gd name="T10" fmla="*/ 0 w 86"/>
                <a:gd name="T11" fmla="*/ 0 h 72"/>
                <a:gd name="T12" fmla="*/ 0 w 86"/>
                <a:gd name="T13" fmla="*/ 0 h 72"/>
                <a:gd name="T14" fmla="*/ 0 w 86"/>
                <a:gd name="T15" fmla="*/ 0 h 72"/>
                <a:gd name="T16" fmla="*/ 0 w 86"/>
                <a:gd name="T17" fmla="*/ 0 h 72"/>
                <a:gd name="T18" fmla="*/ 0 w 86"/>
                <a:gd name="T19" fmla="*/ 0 h 72"/>
                <a:gd name="T20" fmla="*/ 0 w 86"/>
                <a:gd name="T21" fmla="*/ 0 h 72"/>
                <a:gd name="T22" fmla="*/ 0 w 86"/>
                <a:gd name="T23" fmla="*/ 0 h 72"/>
                <a:gd name="T24" fmla="*/ 0 w 86"/>
                <a:gd name="T25" fmla="*/ 0 h 72"/>
                <a:gd name="T26" fmla="*/ 0 w 86"/>
                <a:gd name="T27" fmla="*/ 0 h 72"/>
                <a:gd name="T28" fmla="*/ 0 w 86"/>
                <a:gd name="T29" fmla="*/ 0 h 72"/>
                <a:gd name="T30" fmla="*/ 0 w 86"/>
                <a:gd name="T31" fmla="*/ 0 h 72"/>
                <a:gd name="T32" fmla="*/ 0 w 86"/>
                <a:gd name="T33" fmla="*/ 0 h 72"/>
                <a:gd name="T34" fmla="*/ 0 w 86"/>
                <a:gd name="T35" fmla="*/ 0 h 72"/>
                <a:gd name="T36" fmla="*/ 0 w 86"/>
                <a:gd name="T37" fmla="*/ 0 h 72"/>
                <a:gd name="T38" fmla="*/ 0 w 86"/>
                <a:gd name="T39" fmla="*/ 0 h 72"/>
                <a:gd name="T40" fmla="*/ 0 w 86"/>
                <a:gd name="T41" fmla="*/ 0 h 72"/>
                <a:gd name="T42" fmla="*/ 0 w 86"/>
                <a:gd name="T43" fmla="*/ 0 h 72"/>
                <a:gd name="T44" fmla="*/ 0 w 86"/>
                <a:gd name="T45" fmla="*/ 0 h 72"/>
                <a:gd name="T46" fmla="*/ 0 w 86"/>
                <a:gd name="T47" fmla="*/ 0 h 72"/>
                <a:gd name="T48" fmla="*/ 0 w 86"/>
                <a:gd name="T49" fmla="*/ 0 h 72"/>
                <a:gd name="T50" fmla="*/ 0 w 86"/>
                <a:gd name="T51" fmla="*/ 0 h 72"/>
                <a:gd name="T52" fmla="*/ 0 w 86"/>
                <a:gd name="T53" fmla="*/ 0 h 72"/>
                <a:gd name="T54" fmla="*/ 0 w 86"/>
                <a:gd name="T55" fmla="*/ 0 h 72"/>
                <a:gd name="T56" fmla="*/ 0 w 86"/>
                <a:gd name="T57" fmla="*/ 0 h 72"/>
                <a:gd name="T58" fmla="*/ 0 w 86"/>
                <a:gd name="T59" fmla="*/ 0 h 72"/>
                <a:gd name="T60" fmla="*/ 0 w 86"/>
                <a:gd name="T61" fmla="*/ 0 h 72"/>
                <a:gd name="T62" fmla="*/ 0 w 86"/>
                <a:gd name="T63" fmla="*/ 0 h 72"/>
                <a:gd name="T64" fmla="*/ 0 w 86"/>
                <a:gd name="T65" fmla="*/ 0 h 72"/>
                <a:gd name="T66" fmla="*/ 0 w 86"/>
                <a:gd name="T67" fmla="*/ 0 h 72"/>
                <a:gd name="T68" fmla="*/ 0 w 86"/>
                <a:gd name="T69" fmla="*/ 0 h 72"/>
                <a:gd name="T70" fmla="*/ 0 w 86"/>
                <a:gd name="T71" fmla="*/ 0 h 72"/>
                <a:gd name="T72" fmla="*/ 0 w 86"/>
                <a:gd name="T73" fmla="*/ 0 h 7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6"/>
                <a:gd name="T112" fmla="*/ 0 h 72"/>
                <a:gd name="T113" fmla="*/ 86 w 86"/>
                <a:gd name="T114" fmla="*/ 72 h 7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6" h="72">
                  <a:moveTo>
                    <a:pt x="86" y="22"/>
                  </a:moveTo>
                  <a:lnTo>
                    <a:pt x="86" y="22"/>
                  </a:lnTo>
                  <a:lnTo>
                    <a:pt x="76" y="19"/>
                  </a:lnTo>
                  <a:lnTo>
                    <a:pt x="67" y="15"/>
                  </a:lnTo>
                  <a:lnTo>
                    <a:pt x="59" y="12"/>
                  </a:lnTo>
                  <a:lnTo>
                    <a:pt x="50" y="10"/>
                  </a:lnTo>
                  <a:lnTo>
                    <a:pt x="42" y="6"/>
                  </a:lnTo>
                  <a:lnTo>
                    <a:pt x="33" y="4"/>
                  </a:lnTo>
                  <a:lnTo>
                    <a:pt x="25" y="3"/>
                  </a:lnTo>
                  <a:lnTo>
                    <a:pt x="17" y="0"/>
                  </a:lnTo>
                  <a:lnTo>
                    <a:pt x="14" y="8"/>
                  </a:lnTo>
                  <a:lnTo>
                    <a:pt x="12" y="16"/>
                  </a:lnTo>
                  <a:lnTo>
                    <a:pt x="10" y="26"/>
                  </a:lnTo>
                  <a:lnTo>
                    <a:pt x="7" y="34"/>
                  </a:lnTo>
                  <a:lnTo>
                    <a:pt x="6" y="43"/>
                  </a:lnTo>
                  <a:lnTo>
                    <a:pt x="4" y="53"/>
                  </a:lnTo>
                  <a:lnTo>
                    <a:pt x="3" y="63"/>
                  </a:lnTo>
                  <a:lnTo>
                    <a:pt x="0" y="72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7" y="60"/>
                  </a:lnTo>
                  <a:lnTo>
                    <a:pt x="22" y="57"/>
                  </a:lnTo>
                  <a:lnTo>
                    <a:pt x="27" y="53"/>
                  </a:lnTo>
                  <a:lnTo>
                    <a:pt x="33" y="50"/>
                  </a:lnTo>
                  <a:lnTo>
                    <a:pt x="37" y="48"/>
                  </a:lnTo>
                  <a:lnTo>
                    <a:pt x="43" y="44"/>
                  </a:lnTo>
                  <a:lnTo>
                    <a:pt x="49" y="41"/>
                  </a:lnTo>
                  <a:lnTo>
                    <a:pt x="53" y="38"/>
                  </a:lnTo>
                  <a:lnTo>
                    <a:pt x="59" y="35"/>
                  </a:lnTo>
                  <a:lnTo>
                    <a:pt x="64" y="33"/>
                  </a:lnTo>
                  <a:lnTo>
                    <a:pt x="70" y="30"/>
                  </a:lnTo>
                  <a:lnTo>
                    <a:pt x="74" y="28"/>
                  </a:lnTo>
                  <a:lnTo>
                    <a:pt x="80" y="25"/>
                  </a:lnTo>
                  <a:lnTo>
                    <a:pt x="86" y="2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7" name="Freeform 68"/>
            <p:cNvSpPr>
              <a:spLocks noChangeAspect="1"/>
            </p:cNvSpPr>
            <p:nvPr/>
          </p:nvSpPr>
          <p:spPr bwMode="auto">
            <a:xfrm>
              <a:off x="6849" y="14817"/>
              <a:ext cx="71" cy="50"/>
            </a:xfrm>
            <a:custGeom>
              <a:avLst/>
              <a:gdLst>
                <a:gd name="T0" fmla="*/ 0 w 159"/>
                <a:gd name="T1" fmla="*/ 0 h 113"/>
                <a:gd name="T2" fmla="*/ 0 w 159"/>
                <a:gd name="T3" fmla="*/ 0 h 113"/>
                <a:gd name="T4" fmla="*/ 0 w 159"/>
                <a:gd name="T5" fmla="*/ 0 h 113"/>
                <a:gd name="T6" fmla="*/ 0 w 159"/>
                <a:gd name="T7" fmla="*/ 0 h 113"/>
                <a:gd name="T8" fmla="*/ 0 w 159"/>
                <a:gd name="T9" fmla="*/ 0 h 113"/>
                <a:gd name="T10" fmla="*/ 0 w 159"/>
                <a:gd name="T11" fmla="*/ 0 h 113"/>
                <a:gd name="T12" fmla="*/ 0 w 159"/>
                <a:gd name="T13" fmla="*/ 0 h 113"/>
                <a:gd name="T14" fmla="*/ 0 w 159"/>
                <a:gd name="T15" fmla="*/ 0 h 113"/>
                <a:gd name="T16" fmla="*/ 0 w 159"/>
                <a:gd name="T17" fmla="*/ 0 h 113"/>
                <a:gd name="T18" fmla="*/ 0 w 159"/>
                <a:gd name="T19" fmla="*/ 0 h 113"/>
                <a:gd name="T20" fmla="*/ 0 w 159"/>
                <a:gd name="T21" fmla="*/ 0 h 113"/>
                <a:gd name="T22" fmla="*/ 0 w 159"/>
                <a:gd name="T23" fmla="*/ 0 h 113"/>
                <a:gd name="T24" fmla="*/ 0 w 159"/>
                <a:gd name="T25" fmla="*/ 0 h 113"/>
                <a:gd name="T26" fmla="*/ 0 w 159"/>
                <a:gd name="T27" fmla="*/ 0 h 113"/>
                <a:gd name="T28" fmla="*/ 0 w 159"/>
                <a:gd name="T29" fmla="*/ 0 h 113"/>
                <a:gd name="T30" fmla="*/ 0 w 159"/>
                <a:gd name="T31" fmla="*/ 0 h 113"/>
                <a:gd name="T32" fmla="*/ 0 w 159"/>
                <a:gd name="T33" fmla="*/ 0 h 113"/>
                <a:gd name="T34" fmla="*/ 0 w 159"/>
                <a:gd name="T35" fmla="*/ 0 h 113"/>
                <a:gd name="T36" fmla="*/ 0 w 159"/>
                <a:gd name="T37" fmla="*/ 0 h 113"/>
                <a:gd name="T38" fmla="*/ 0 w 159"/>
                <a:gd name="T39" fmla="*/ 0 h 113"/>
                <a:gd name="T40" fmla="*/ 0 w 159"/>
                <a:gd name="T41" fmla="*/ 0 h 113"/>
                <a:gd name="T42" fmla="*/ 0 w 159"/>
                <a:gd name="T43" fmla="*/ 0 h 113"/>
                <a:gd name="T44" fmla="*/ 0 w 159"/>
                <a:gd name="T45" fmla="*/ 0 h 113"/>
                <a:gd name="T46" fmla="*/ 0 w 159"/>
                <a:gd name="T47" fmla="*/ 0 h 113"/>
                <a:gd name="T48" fmla="*/ 0 w 159"/>
                <a:gd name="T49" fmla="*/ 0 h 113"/>
                <a:gd name="T50" fmla="*/ 0 w 159"/>
                <a:gd name="T51" fmla="*/ 0 h 113"/>
                <a:gd name="T52" fmla="*/ 0 w 159"/>
                <a:gd name="T53" fmla="*/ 0 h 113"/>
                <a:gd name="T54" fmla="*/ 0 w 159"/>
                <a:gd name="T55" fmla="*/ 0 h 113"/>
                <a:gd name="T56" fmla="*/ 0 w 159"/>
                <a:gd name="T57" fmla="*/ 0 h 113"/>
                <a:gd name="T58" fmla="*/ 0 w 159"/>
                <a:gd name="T59" fmla="*/ 0 h 113"/>
                <a:gd name="T60" fmla="*/ 0 w 159"/>
                <a:gd name="T61" fmla="*/ 0 h 113"/>
                <a:gd name="T62" fmla="*/ 0 w 159"/>
                <a:gd name="T63" fmla="*/ 0 h 113"/>
                <a:gd name="T64" fmla="*/ 0 w 159"/>
                <a:gd name="T65" fmla="*/ 0 h 113"/>
                <a:gd name="T66" fmla="*/ 0 w 159"/>
                <a:gd name="T67" fmla="*/ 0 h 113"/>
                <a:gd name="T68" fmla="*/ 0 w 159"/>
                <a:gd name="T69" fmla="*/ 0 h 113"/>
                <a:gd name="T70" fmla="*/ 0 w 159"/>
                <a:gd name="T71" fmla="*/ 0 h 113"/>
                <a:gd name="T72" fmla="*/ 0 w 159"/>
                <a:gd name="T73" fmla="*/ 0 h 11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9"/>
                <a:gd name="T112" fmla="*/ 0 h 113"/>
                <a:gd name="T113" fmla="*/ 159 w 159"/>
                <a:gd name="T114" fmla="*/ 113 h 11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9" h="113">
                  <a:moveTo>
                    <a:pt x="81" y="0"/>
                  </a:moveTo>
                  <a:lnTo>
                    <a:pt x="81" y="0"/>
                  </a:lnTo>
                  <a:lnTo>
                    <a:pt x="70" y="5"/>
                  </a:lnTo>
                  <a:lnTo>
                    <a:pt x="60" y="8"/>
                  </a:lnTo>
                  <a:lnTo>
                    <a:pt x="50" y="12"/>
                  </a:lnTo>
                  <a:lnTo>
                    <a:pt x="40" y="15"/>
                  </a:lnTo>
                  <a:lnTo>
                    <a:pt x="30" y="19"/>
                  </a:lnTo>
                  <a:lnTo>
                    <a:pt x="20" y="22"/>
                  </a:lnTo>
                  <a:lnTo>
                    <a:pt x="10" y="25"/>
                  </a:lnTo>
                  <a:lnTo>
                    <a:pt x="0" y="28"/>
                  </a:lnTo>
                  <a:lnTo>
                    <a:pt x="8" y="46"/>
                  </a:lnTo>
                  <a:lnTo>
                    <a:pt x="16" y="62"/>
                  </a:lnTo>
                  <a:lnTo>
                    <a:pt x="25" y="77"/>
                  </a:lnTo>
                  <a:lnTo>
                    <a:pt x="36" y="89"/>
                  </a:lnTo>
                  <a:lnTo>
                    <a:pt x="46" y="99"/>
                  </a:lnTo>
                  <a:lnTo>
                    <a:pt x="58" y="107"/>
                  </a:lnTo>
                  <a:lnTo>
                    <a:pt x="69" y="112"/>
                  </a:lnTo>
                  <a:lnTo>
                    <a:pt x="81" y="113"/>
                  </a:lnTo>
                  <a:lnTo>
                    <a:pt x="92" y="112"/>
                  </a:lnTo>
                  <a:lnTo>
                    <a:pt x="104" y="107"/>
                  </a:lnTo>
                  <a:lnTo>
                    <a:pt x="114" y="99"/>
                  </a:lnTo>
                  <a:lnTo>
                    <a:pt x="124" y="90"/>
                  </a:lnTo>
                  <a:lnTo>
                    <a:pt x="135" y="77"/>
                  </a:lnTo>
                  <a:lnTo>
                    <a:pt x="143" y="63"/>
                  </a:lnTo>
                  <a:lnTo>
                    <a:pt x="152" y="46"/>
                  </a:lnTo>
                  <a:lnTo>
                    <a:pt x="159" y="28"/>
                  </a:lnTo>
                  <a:lnTo>
                    <a:pt x="150" y="25"/>
                  </a:lnTo>
                  <a:lnTo>
                    <a:pt x="139" y="22"/>
                  </a:lnTo>
                  <a:lnTo>
                    <a:pt x="130" y="20"/>
                  </a:lnTo>
                  <a:lnTo>
                    <a:pt x="121" y="16"/>
                  </a:lnTo>
                  <a:lnTo>
                    <a:pt x="111" y="13"/>
                  </a:lnTo>
                  <a:lnTo>
                    <a:pt x="101" y="9"/>
                  </a:lnTo>
                  <a:lnTo>
                    <a:pt x="91" y="5"/>
                  </a:lnTo>
                  <a:lnTo>
                    <a:pt x="8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8" name="Freeform 69"/>
            <p:cNvSpPr>
              <a:spLocks noChangeAspect="1"/>
            </p:cNvSpPr>
            <p:nvPr/>
          </p:nvSpPr>
          <p:spPr bwMode="auto">
            <a:xfrm>
              <a:off x="6890" y="14793"/>
              <a:ext cx="39" cy="31"/>
            </a:xfrm>
            <a:custGeom>
              <a:avLst/>
              <a:gdLst>
                <a:gd name="T0" fmla="*/ 0 w 87"/>
                <a:gd name="T1" fmla="*/ 0 h 70"/>
                <a:gd name="T2" fmla="*/ 0 w 87"/>
                <a:gd name="T3" fmla="*/ 0 h 70"/>
                <a:gd name="T4" fmla="*/ 0 w 87"/>
                <a:gd name="T5" fmla="*/ 0 h 70"/>
                <a:gd name="T6" fmla="*/ 0 w 87"/>
                <a:gd name="T7" fmla="*/ 0 h 70"/>
                <a:gd name="T8" fmla="*/ 0 w 87"/>
                <a:gd name="T9" fmla="*/ 0 h 70"/>
                <a:gd name="T10" fmla="*/ 0 w 87"/>
                <a:gd name="T11" fmla="*/ 0 h 70"/>
                <a:gd name="T12" fmla="*/ 0 w 87"/>
                <a:gd name="T13" fmla="*/ 0 h 70"/>
                <a:gd name="T14" fmla="*/ 0 w 87"/>
                <a:gd name="T15" fmla="*/ 0 h 70"/>
                <a:gd name="T16" fmla="*/ 0 w 87"/>
                <a:gd name="T17" fmla="*/ 0 h 70"/>
                <a:gd name="T18" fmla="*/ 0 w 87"/>
                <a:gd name="T19" fmla="*/ 0 h 70"/>
                <a:gd name="T20" fmla="*/ 0 w 87"/>
                <a:gd name="T21" fmla="*/ 0 h 70"/>
                <a:gd name="T22" fmla="*/ 0 w 87"/>
                <a:gd name="T23" fmla="*/ 0 h 70"/>
                <a:gd name="T24" fmla="*/ 0 w 87"/>
                <a:gd name="T25" fmla="*/ 0 h 70"/>
                <a:gd name="T26" fmla="*/ 0 w 87"/>
                <a:gd name="T27" fmla="*/ 0 h 70"/>
                <a:gd name="T28" fmla="*/ 0 w 87"/>
                <a:gd name="T29" fmla="*/ 0 h 70"/>
                <a:gd name="T30" fmla="*/ 0 w 87"/>
                <a:gd name="T31" fmla="*/ 0 h 70"/>
                <a:gd name="T32" fmla="*/ 0 w 87"/>
                <a:gd name="T33" fmla="*/ 0 h 70"/>
                <a:gd name="T34" fmla="*/ 0 w 87"/>
                <a:gd name="T35" fmla="*/ 0 h 70"/>
                <a:gd name="T36" fmla="*/ 0 w 87"/>
                <a:gd name="T37" fmla="*/ 0 h 70"/>
                <a:gd name="T38" fmla="*/ 0 w 87"/>
                <a:gd name="T39" fmla="*/ 0 h 70"/>
                <a:gd name="T40" fmla="*/ 0 w 87"/>
                <a:gd name="T41" fmla="*/ 0 h 70"/>
                <a:gd name="T42" fmla="*/ 0 w 87"/>
                <a:gd name="T43" fmla="*/ 0 h 70"/>
                <a:gd name="T44" fmla="*/ 0 w 87"/>
                <a:gd name="T45" fmla="*/ 0 h 70"/>
                <a:gd name="T46" fmla="*/ 0 w 87"/>
                <a:gd name="T47" fmla="*/ 0 h 70"/>
                <a:gd name="T48" fmla="*/ 0 w 87"/>
                <a:gd name="T49" fmla="*/ 0 h 70"/>
                <a:gd name="T50" fmla="*/ 0 w 87"/>
                <a:gd name="T51" fmla="*/ 0 h 70"/>
                <a:gd name="T52" fmla="*/ 0 w 87"/>
                <a:gd name="T53" fmla="*/ 0 h 70"/>
                <a:gd name="T54" fmla="*/ 0 w 87"/>
                <a:gd name="T55" fmla="*/ 0 h 70"/>
                <a:gd name="T56" fmla="*/ 0 w 87"/>
                <a:gd name="T57" fmla="*/ 0 h 70"/>
                <a:gd name="T58" fmla="*/ 0 w 87"/>
                <a:gd name="T59" fmla="*/ 0 h 70"/>
                <a:gd name="T60" fmla="*/ 0 w 87"/>
                <a:gd name="T61" fmla="*/ 0 h 70"/>
                <a:gd name="T62" fmla="*/ 0 w 87"/>
                <a:gd name="T63" fmla="*/ 0 h 70"/>
                <a:gd name="T64" fmla="*/ 0 w 87"/>
                <a:gd name="T65" fmla="*/ 0 h 70"/>
                <a:gd name="T66" fmla="*/ 0 w 87"/>
                <a:gd name="T67" fmla="*/ 0 h 70"/>
                <a:gd name="T68" fmla="*/ 0 w 87"/>
                <a:gd name="T69" fmla="*/ 0 h 70"/>
                <a:gd name="T70" fmla="*/ 0 w 87"/>
                <a:gd name="T71" fmla="*/ 0 h 70"/>
                <a:gd name="T72" fmla="*/ 0 w 87"/>
                <a:gd name="T73" fmla="*/ 0 h 7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7"/>
                <a:gd name="T112" fmla="*/ 0 h 70"/>
                <a:gd name="T113" fmla="*/ 87 w 87"/>
                <a:gd name="T114" fmla="*/ 70 h 7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7" h="70">
                  <a:moveTo>
                    <a:pt x="0" y="48"/>
                  </a:moveTo>
                  <a:lnTo>
                    <a:pt x="0" y="48"/>
                  </a:lnTo>
                  <a:lnTo>
                    <a:pt x="10" y="52"/>
                  </a:lnTo>
                  <a:lnTo>
                    <a:pt x="19" y="55"/>
                  </a:lnTo>
                  <a:lnTo>
                    <a:pt x="28" y="58"/>
                  </a:lnTo>
                  <a:lnTo>
                    <a:pt x="37" y="61"/>
                  </a:lnTo>
                  <a:lnTo>
                    <a:pt x="45" y="63"/>
                  </a:lnTo>
                  <a:lnTo>
                    <a:pt x="55" y="66"/>
                  </a:lnTo>
                  <a:lnTo>
                    <a:pt x="63" y="68"/>
                  </a:lnTo>
                  <a:lnTo>
                    <a:pt x="71" y="70"/>
                  </a:lnTo>
                  <a:lnTo>
                    <a:pt x="73" y="62"/>
                  </a:lnTo>
                  <a:lnTo>
                    <a:pt x="75" y="54"/>
                  </a:lnTo>
                  <a:lnTo>
                    <a:pt x="78" y="45"/>
                  </a:lnTo>
                  <a:lnTo>
                    <a:pt x="80" y="37"/>
                  </a:lnTo>
                  <a:lnTo>
                    <a:pt x="81" y="28"/>
                  </a:lnTo>
                  <a:lnTo>
                    <a:pt x="83" y="18"/>
                  </a:lnTo>
                  <a:lnTo>
                    <a:pt x="84" y="9"/>
                  </a:lnTo>
                  <a:lnTo>
                    <a:pt x="87" y="0"/>
                  </a:lnTo>
                  <a:lnTo>
                    <a:pt x="81" y="3"/>
                  </a:lnTo>
                  <a:lnTo>
                    <a:pt x="76" y="6"/>
                  </a:lnTo>
                  <a:lnTo>
                    <a:pt x="71" y="9"/>
                  </a:lnTo>
                  <a:lnTo>
                    <a:pt x="66" y="13"/>
                  </a:lnTo>
                  <a:lnTo>
                    <a:pt x="60" y="16"/>
                  </a:lnTo>
                  <a:lnTo>
                    <a:pt x="55" y="20"/>
                  </a:lnTo>
                  <a:lnTo>
                    <a:pt x="50" y="22"/>
                  </a:lnTo>
                  <a:lnTo>
                    <a:pt x="44" y="25"/>
                  </a:lnTo>
                  <a:lnTo>
                    <a:pt x="38" y="29"/>
                  </a:lnTo>
                  <a:lnTo>
                    <a:pt x="33" y="31"/>
                  </a:lnTo>
                  <a:lnTo>
                    <a:pt x="28" y="34"/>
                  </a:lnTo>
                  <a:lnTo>
                    <a:pt x="22" y="37"/>
                  </a:lnTo>
                  <a:lnTo>
                    <a:pt x="16" y="40"/>
                  </a:lnTo>
                  <a:lnTo>
                    <a:pt x="12" y="43"/>
                  </a:lnTo>
                  <a:lnTo>
                    <a:pt x="6" y="46"/>
                  </a:lnTo>
                  <a:lnTo>
                    <a:pt x="0" y="4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9" name="Freeform 70"/>
            <p:cNvSpPr>
              <a:spLocks noChangeAspect="1"/>
            </p:cNvSpPr>
            <p:nvPr/>
          </p:nvSpPr>
          <p:spPr bwMode="auto">
            <a:xfrm>
              <a:off x="6837" y="14707"/>
              <a:ext cx="94" cy="105"/>
            </a:xfrm>
            <a:custGeom>
              <a:avLst/>
              <a:gdLst>
                <a:gd name="T0" fmla="*/ 0 w 207"/>
                <a:gd name="T1" fmla="*/ 0 h 233"/>
                <a:gd name="T2" fmla="*/ 0 w 207"/>
                <a:gd name="T3" fmla="*/ 0 h 233"/>
                <a:gd name="T4" fmla="*/ 0 w 207"/>
                <a:gd name="T5" fmla="*/ 0 h 233"/>
                <a:gd name="T6" fmla="*/ 0 w 207"/>
                <a:gd name="T7" fmla="*/ 0 h 233"/>
                <a:gd name="T8" fmla="*/ 0 w 207"/>
                <a:gd name="T9" fmla="*/ 0 h 233"/>
                <a:gd name="T10" fmla="*/ 0 w 207"/>
                <a:gd name="T11" fmla="*/ 0 h 233"/>
                <a:gd name="T12" fmla="*/ 0 w 207"/>
                <a:gd name="T13" fmla="*/ 0 h 233"/>
                <a:gd name="T14" fmla="*/ 0 w 207"/>
                <a:gd name="T15" fmla="*/ 0 h 233"/>
                <a:gd name="T16" fmla="*/ 0 w 207"/>
                <a:gd name="T17" fmla="*/ 0 h 233"/>
                <a:gd name="T18" fmla="*/ 0 w 207"/>
                <a:gd name="T19" fmla="*/ 0 h 233"/>
                <a:gd name="T20" fmla="*/ 0 w 207"/>
                <a:gd name="T21" fmla="*/ 0 h 233"/>
                <a:gd name="T22" fmla="*/ 0 w 207"/>
                <a:gd name="T23" fmla="*/ 0 h 233"/>
                <a:gd name="T24" fmla="*/ 0 w 207"/>
                <a:gd name="T25" fmla="*/ 0 h 233"/>
                <a:gd name="T26" fmla="*/ 0 w 207"/>
                <a:gd name="T27" fmla="*/ 0 h 233"/>
                <a:gd name="T28" fmla="*/ 0 w 207"/>
                <a:gd name="T29" fmla="*/ 0 h 233"/>
                <a:gd name="T30" fmla="*/ 0 w 207"/>
                <a:gd name="T31" fmla="*/ 0 h 233"/>
                <a:gd name="T32" fmla="*/ 0 w 207"/>
                <a:gd name="T33" fmla="*/ 0 h 233"/>
                <a:gd name="T34" fmla="*/ 0 w 207"/>
                <a:gd name="T35" fmla="*/ 0 h 233"/>
                <a:gd name="T36" fmla="*/ 0 w 207"/>
                <a:gd name="T37" fmla="*/ 0 h 233"/>
                <a:gd name="T38" fmla="*/ 0 w 207"/>
                <a:gd name="T39" fmla="*/ 0 h 233"/>
                <a:gd name="T40" fmla="*/ 0 w 207"/>
                <a:gd name="T41" fmla="*/ 0 h 233"/>
                <a:gd name="T42" fmla="*/ 0 w 207"/>
                <a:gd name="T43" fmla="*/ 0 h 233"/>
                <a:gd name="T44" fmla="*/ 0 w 207"/>
                <a:gd name="T45" fmla="*/ 0 h 233"/>
                <a:gd name="T46" fmla="*/ 0 w 207"/>
                <a:gd name="T47" fmla="*/ 0 h 233"/>
                <a:gd name="T48" fmla="*/ 0 w 207"/>
                <a:gd name="T49" fmla="*/ 0 h 233"/>
                <a:gd name="T50" fmla="*/ 0 w 207"/>
                <a:gd name="T51" fmla="*/ 0 h 233"/>
                <a:gd name="T52" fmla="*/ 0 w 207"/>
                <a:gd name="T53" fmla="*/ 0 h 233"/>
                <a:gd name="T54" fmla="*/ 0 w 207"/>
                <a:gd name="T55" fmla="*/ 0 h 233"/>
                <a:gd name="T56" fmla="*/ 0 w 207"/>
                <a:gd name="T57" fmla="*/ 0 h 233"/>
                <a:gd name="T58" fmla="*/ 0 w 207"/>
                <a:gd name="T59" fmla="*/ 0 h 233"/>
                <a:gd name="T60" fmla="*/ 0 w 207"/>
                <a:gd name="T61" fmla="*/ 0 h 233"/>
                <a:gd name="T62" fmla="*/ 0 w 207"/>
                <a:gd name="T63" fmla="*/ 0 h 233"/>
                <a:gd name="T64" fmla="*/ 0 w 207"/>
                <a:gd name="T65" fmla="*/ 0 h 233"/>
                <a:gd name="T66" fmla="*/ 0 w 207"/>
                <a:gd name="T67" fmla="*/ 0 h 233"/>
                <a:gd name="T68" fmla="*/ 0 w 207"/>
                <a:gd name="T69" fmla="*/ 0 h 233"/>
                <a:gd name="T70" fmla="*/ 0 w 207"/>
                <a:gd name="T71" fmla="*/ 0 h 233"/>
                <a:gd name="T72" fmla="*/ 0 w 207"/>
                <a:gd name="T73" fmla="*/ 0 h 233"/>
                <a:gd name="T74" fmla="*/ 0 w 207"/>
                <a:gd name="T75" fmla="*/ 0 h 233"/>
                <a:gd name="T76" fmla="*/ 0 w 207"/>
                <a:gd name="T77" fmla="*/ 0 h 233"/>
                <a:gd name="T78" fmla="*/ 0 w 207"/>
                <a:gd name="T79" fmla="*/ 0 h 233"/>
                <a:gd name="T80" fmla="*/ 0 w 207"/>
                <a:gd name="T81" fmla="*/ 0 h 233"/>
                <a:gd name="T82" fmla="*/ 0 w 207"/>
                <a:gd name="T83" fmla="*/ 0 h 233"/>
                <a:gd name="T84" fmla="*/ 0 w 207"/>
                <a:gd name="T85" fmla="*/ 0 h 233"/>
                <a:gd name="T86" fmla="*/ 0 w 207"/>
                <a:gd name="T87" fmla="*/ 0 h 233"/>
                <a:gd name="T88" fmla="*/ 0 w 207"/>
                <a:gd name="T89" fmla="*/ 0 h 233"/>
                <a:gd name="T90" fmla="*/ 0 w 207"/>
                <a:gd name="T91" fmla="*/ 0 h 233"/>
                <a:gd name="T92" fmla="*/ 0 w 207"/>
                <a:gd name="T93" fmla="*/ 0 h 233"/>
                <a:gd name="T94" fmla="*/ 0 w 207"/>
                <a:gd name="T95" fmla="*/ 0 h 233"/>
                <a:gd name="T96" fmla="*/ 0 w 207"/>
                <a:gd name="T97" fmla="*/ 0 h 233"/>
                <a:gd name="T98" fmla="*/ 0 w 207"/>
                <a:gd name="T99" fmla="*/ 0 h 233"/>
                <a:gd name="T100" fmla="*/ 0 w 207"/>
                <a:gd name="T101" fmla="*/ 0 h 233"/>
                <a:gd name="T102" fmla="*/ 0 w 207"/>
                <a:gd name="T103" fmla="*/ 0 h 233"/>
                <a:gd name="T104" fmla="*/ 0 w 207"/>
                <a:gd name="T105" fmla="*/ 0 h 233"/>
                <a:gd name="T106" fmla="*/ 0 w 207"/>
                <a:gd name="T107" fmla="*/ 0 h 23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7"/>
                <a:gd name="T163" fmla="*/ 0 h 233"/>
                <a:gd name="T164" fmla="*/ 207 w 207"/>
                <a:gd name="T165" fmla="*/ 233 h 23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7" h="233">
                  <a:moveTo>
                    <a:pt x="105" y="233"/>
                  </a:moveTo>
                  <a:lnTo>
                    <a:pt x="105" y="233"/>
                  </a:lnTo>
                  <a:lnTo>
                    <a:pt x="110" y="230"/>
                  </a:lnTo>
                  <a:lnTo>
                    <a:pt x="117" y="227"/>
                  </a:lnTo>
                  <a:lnTo>
                    <a:pt x="123" y="223"/>
                  </a:lnTo>
                  <a:lnTo>
                    <a:pt x="130" y="221"/>
                  </a:lnTo>
                  <a:lnTo>
                    <a:pt x="136" y="218"/>
                  </a:lnTo>
                  <a:lnTo>
                    <a:pt x="143" y="214"/>
                  </a:lnTo>
                  <a:lnTo>
                    <a:pt x="148" y="210"/>
                  </a:lnTo>
                  <a:lnTo>
                    <a:pt x="155" y="206"/>
                  </a:lnTo>
                  <a:lnTo>
                    <a:pt x="162" y="203"/>
                  </a:lnTo>
                  <a:lnTo>
                    <a:pt x="168" y="199"/>
                  </a:lnTo>
                  <a:lnTo>
                    <a:pt x="175" y="195"/>
                  </a:lnTo>
                  <a:lnTo>
                    <a:pt x="181" y="191"/>
                  </a:lnTo>
                  <a:lnTo>
                    <a:pt x="188" y="186"/>
                  </a:lnTo>
                  <a:lnTo>
                    <a:pt x="193" y="182"/>
                  </a:lnTo>
                  <a:lnTo>
                    <a:pt x="199" y="178"/>
                  </a:lnTo>
                  <a:lnTo>
                    <a:pt x="205" y="174"/>
                  </a:lnTo>
                  <a:lnTo>
                    <a:pt x="205" y="167"/>
                  </a:lnTo>
                  <a:lnTo>
                    <a:pt x="206" y="160"/>
                  </a:lnTo>
                  <a:lnTo>
                    <a:pt x="206" y="153"/>
                  </a:lnTo>
                  <a:lnTo>
                    <a:pt x="206" y="145"/>
                  </a:lnTo>
                  <a:lnTo>
                    <a:pt x="207" y="138"/>
                  </a:lnTo>
                  <a:lnTo>
                    <a:pt x="207" y="131"/>
                  </a:lnTo>
                  <a:lnTo>
                    <a:pt x="207" y="123"/>
                  </a:lnTo>
                  <a:lnTo>
                    <a:pt x="207" y="116"/>
                  </a:lnTo>
                  <a:lnTo>
                    <a:pt x="207" y="109"/>
                  </a:lnTo>
                  <a:lnTo>
                    <a:pt x="207" y="101"/>
                  </a:lnTo>
                  <a:lnTo>
                    <a:pt x="207" y="94"/>
                  </a:lnTo>
                  <a:lnTo>
                    <a:pt x="206" y="87"/>
                  </a:lnTo>
                  <a:lnTo>
                    <a:pt x="206" y="80"/>
                  </a:lnTo>
                  <a:lnTo>
                    <a:pt x="206" y="74"/>
                  </a:lnTo>
                  <a:lnTo>
                    <a:pt x="205" y="65"/>
                  </a:lnTo>
                  <a:lnTo>
                    <a:pt x="205" y="59"/>
                  </a:lnTo>
                  <a:lnTo>
                    <a:pt x="199" y="54"/>
                  </a:lnTo>
                  <a:lnTo>
                    <a:pt x="192" y="51"/>
                  </a:lnTo>
                  <a:lnTo>
                    <a:pt x="186" y="46"/>
                  </a:lnTo>
                  <a:lnTo>
                    <a:pt x="181" y="42"/>
                  </a:lnTo>
                  <a:lnTo>
                    <a:pt x="175" y="38"/>
                  </a:lnTo>
                  <a:lnTo>
                    <a:pt x="168" y="34"/>
                  </a:lnTo>
                  <a:lnTo>
                    <a:pt x="162" y="30"/>
                  </a:lnTo>
                  <a:lnTo>
                    <a:pt x="155" y="26"/>
                  </a:lnTo>
                  <a:lnTo>
                    <a:pt x="148" y="23"/>
                  </a:lnTo>
                  <a:lnTo>
                    <a:pt x="143" y="19"/>
                  </a:lnTo>
                  <a:lnTo>
                    <a:pt x="136" y="16"/>
                  </a:lnTo>
                  <a:lnTo>
                    <a:pt x="130" y="12"/>
                  </a:lnTo>
                  <a:lnTo>
                    <a:pt x="124" y="10"/>
                  </a:lnTo>
                  <a:lnTo>
                    <a:pt x="117" y="7"/>
                  </a:lnTo>
                  <a:lnTo>
                    <a:pt x="112" y="3"/>
                  </a:lnTo>
                  <a:lnTo>
                    <a:pt x="105" y="0"/>
                  </a:lnTo>
                  <a:lnTo>
                    <a:pt x="98" y="3"/>
                  </a:lnTo>
                  <a:lnTo>
                    <a:pt x="91" y="6"/>
                  </a:lnTo>
                  <a:lnTo>
                    <a:pt x="85" y="9"/>
                  </a:lnTo>
                  <a:lnTo>
                    <a:pt x="78" y="12"/>
                  </a:lnTo>
                  <a:lnTo>
                    <a:pt x="72" y="16"/>
                  </a:lnTo>
                  <a:lnTo>
                    <a:pt x="66" y="19"/>
                  </a:lnTo>
                  <a:lnTo>
                    <a:pt x="60" y="23"/>
                  </a:lnTo>
                  <a:lnTo>
                    <a:pt x="53" y="26"/>
                  </a:lnTo>
                  <a:lnTo>
                    <a:pt x="46" y="30"/>
                  </a:lnTo>
                  <a:lnTo>
                    <a:pt x="39" y="34"/>
                  </a:lnTo>
                  <a:lnTo>
                    <a:pt x="33" y="38"/>
                  </a:lnTo>
                  <a:lnTo>
                    <a:pt x="27" y="42"/>
                  </a:lnTo>
                  <a:lnTo>
                    <a:pt x="21" y="46"/>
                  </a:lnTo>
                  <a:lnTo>
                    <a:pt x="15" y="51"/>
                  </a:lnTo>
                  <a:lnTo>
                    <a:pt x="10" y="54"/>
                  </a:lnTo>
                  <a:lnTo>
                    <a:pt x="4" y="59"/>
                  </a:lnTo>
                  <a:lnTo>
                    <a:pt x="3" y="65"/>
                  </a:lnTo>
                  <a:lnTo>
                    <a:pt x="3" y="72"/>
                  </a:lnTo>
                  <a:lnTo>
                    <a:pt x="2" y="79"/>
                  </a:lnTo>
                  <a:lnTo>
                    <a:pt x="1" y="87"/>
                  </a:lnTo>
                  <a:lnTo>
                    <a:pt x="1" y="94"/>
                  </a:lnTo>
                  <a:lnTo>
                    <a:pt x="0" y="101"/>
                  </a:lnTo>
                  <a:lnTo>
                    <a:pt x="0" y="109"/>
                  </a:lnTo>
                  <a:lnTo>
                    <a:pt x="0" y="116"/>
                  </a:lnTo>
                  <a:lnTo>
                    <a:pt x="0" y="123"/>
                  </a:lnTo>
                  <a:lnTo>
                    <a:pt x="0" y="131"/>
                  </a:lnTo>
                  <a:lnTo>
                    <a:pt x="1" y="138"/>
                  </a:lnTo>
                  <a:lnTo>
                    <a:pt x="1" y="145"/>
                  </a:lnTo>
                  <a:lnTo>
                    <a:pt x="2" y="153"/>
                  </a:lnTo>
                  <a:lnTo>
                    <a:pt x="3" y="160"/>
                  </a:lnTo>
                  <a:lnTo>
                    <a:pt x="3" y="168"/>
                  </a:lnTo>
                  <a:lnTo>
                    <a:pt x="4" y="175"/>
                  </a:lnTo>
                  <a:lnTo>
                    <a:pt x="10" y="178"/>
                  </a:lnTo>
                  <a:lnTo>
                    <a:pt x="15" y="183"/>
                  </a:lnTo>
                  <a:lnTo>
                    <a:pt x="21" y="186"/>
                  </a:lnTo>
                  <a:lnTo>
                    <a:pt x="27" y="191"/>
                  </a:lnTo>
                  <a:lnTo>
                    <a:pt x="33" y="195"/>
                  </a:lnTo>
                  <a:lnTo>
                    <a:pt x="39" y="199"/>
                  </a:lnTo>
                  <a:lnTo>
                    <a:pt x="46" y="203"/>
                  </a:lnTo>
                  <a:lnTo>
                    <a:pt x="53" y="206"/>
                  </a:lnTo>
                  <a:lnTo>
                    <a:pt x="60" y="210"/>
                  </a:lnTo>
                  <a:lnTo>
                    <a:pt x="66" y="213"/>
                  </a:lnTo>
                  <a:lnTo>
                    <a:pt x="72" y="216"/>
                  </a:lnTo>
                  <a:lnTo>
                    <a:pt x="78" y="220"/>
                  </a:lnTo>
                  <a:lnTo>
                    <a:pt x="85" y="223"/>
                  </a:lnTo>
                  <a:lnTo>
                    <a:pt x="91" y="227"/>
                  </a:lnTo>
                  <a:lnTo>
                    <a:pt x="98" y="229"/>
                  </a:lnTo>
                  <a:lnTo>
                    <a:pt x="105" y="23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0" name="Freeform 71"/>
            <p:cNvSpPr>
              <a:spLocks noChangeAspect="1"/>
            </p:cNvSpPr>
            <p:nvPr/>
          </p:nvSpPr>
          <p:spPr bwMode="auto">
            <a:xfrm>
              <a:off x="6840" y="14792"/>
              <a:ext cx="38" cy="32"/>
            </a:xfrm>
            <a:custGeom>
              <a:avLst/>
              <a:gdLst>
                <a:gd name="T0" fmla="*/ 0 w 87"/>
                <a:gd name="T1" fmla="*/ 0 h 71"/>
                <a:gd name="T2" fmla="*/ 0 w 87"/>
                <a:gd name="T3" fmla="*/ 0 h 71"/>
                <a:gd name="T4" fmla="*/ 0 w 87"/>
                <a:gd name="T5" fmla="*/ 0 h 71"/>
                <a:gd name="T6" fmla="*/ 0 w 87"/>
                <a:gd name="T7" fmla="*/ 0 h 71"/>
                <a:gd name="T8" fmla="*/ 0 w 87"/>
                <a:gd name="T9" fmla="*/ 0 h 71"/>
                <a:gd name="T10" fmla="*/ 0 w 87"/>
                <a:gd name="T11" fmla="*/ 0 h 71"/>
                <a:gd name="T12" fmla="*/ 0 w 87"/>
                <a:gd name="T13" fmla="*/ 0 h 71"/>
                <a:gd name="T14" fmla="*/ 0 w 87"/>
                <a:gd name="T15" fmla="*/ 0 h 71"/>
                <a:gd name="T16" fmla="*/ 0 w 87"/>
                <a:gd name="T17" fmla="*/ 0 h 71"/>
                <a:gd name="T18" fmla="*/ 0 w 87"/>
                <a:gd name="T19" fmla="*/ 0 h 71"/>
                <a:gd name="T20" fmla="*/ 0 w 87"/>
                <a:gd name="T21" fmla="*/ 0 h 71"/>
                <a:gd name="T22" fmla="*/ 0 w 87"/>
                <a:gd name="T23" fmla="*/ 0 h 71"/>
                <a:gd name="T24" fmla="*/ 0 w 87"/>
                <a:gd name="T25" fmla="*/ 0 h 71"/>
                <a:gd name="T26" fmla="*/ 0 w 87"/>
                <a:gd name="T27" fmla="*/ 0 h 71"/>
                <a:gd name="T28" fmla="*/ 0 w 87"/>
                <a:gd name="T29" fmla="*/ 0 h 71"/>
                <a:gd name="T30" fmla="*/ 0 w 87"/>
                <a:gd name="T31" fmla="*/ 0 h 71"/>
                <a:gd name="T32" fmla="*/ 0 w 87"/>
                <a:gd name="T33" fmla="*/ 0 h 71"/>
                <a:gd name="T34" fmla="*/ 0 w 87"/>
                <a:gd name="T35" fmla="*/ 0 h 71"/>
                <a:gd name="T36" fmla="*/ 0 w 87"/>
                <a:gd name="T37" fmla="*/ 0 h 71"/>
                <a:gd name="T38" fmla="*/ 0 w 87"/>
                <a:gd name="T39" fmla="*/ 0 h 71"/>
                <a:gd name="T40" fmla="*/ 0 w 87"/>
                <a:gd name="T41" fmla="*/ 0 h 71"/>
                <a:gd name="T42" fmla="*/ 0 w 87"/>
                <a:gd name="T43" fmla="*/ 0 h 71"/>
                <a:gd name="T44" fmla="*/ 0 w 87"/>
                <a:gd name="T45" fmla="*/ 0 h 71"/>
                <a:gd name="T46" fmla="*/ 0 w 87"/>
                <a:gd name="T47" fmla="*/ 0 h 71"/>
                <a:gd name="T48" fmla="*/ 0 w 87"/>
                <a:gd name="T49" fmla="*/ 0 h 71"/>
                <a:gd name="T50" fmla="*/ 0 w 87"/>
                <a:gd name="T51" fmla="*/ 0 h 71"/>
                <a:gd name="T52" fmla="*/ 0 w 87"/>
                <a:gd name="T53" fmla="*/ 0 h 71"/>
                <a:gd name="T54" fmla="*/ 0 w 87"/>
                <a:gd name="T55" fmla="*/ 0 h 71"/>
                <a:gd name="T56" fmla="*/ 0 w 87"/>
                <a:gd name="T57" fmla="*/ 0 h 71"/>
                <a:gd name="T58" fmla="*/ 0 w 87"/>
                <a:gd name="T59" fmla="*/ 0 h 71"/>
                <a:gd name="T60" fmla="*/ 0 w 87"/>
                <a:gd name="T61" fmla="*/ 0 h 71"/>
                <a:gd name="T62" fmla="*/ 0 w 87"/>
                <a:gd name="T63" fmla="*/ 0 h 71"/>
                <a:gd name="T64" fmla="*/ 0 w 87"/>
                <a:gd name="T65" fmla="*/ 0 h 71"/>
                <a:gd name="T66" fmla="*/ 0 w 87"/>
                <a:gd name="T67" fmla="*/ 0 h 71"/>
                <a:gd name="T68" fmla="*/ 0 w 87"/>
                <a:gd name="T69" fmla="*/ 0 h 71"/>
                <a:gd name="T70" fmla="*/ 0 w 87"/>
                <a:gd name="T71" fmla="*/ 0 h 71"/>
                <a:gd name="T72" fmla="*/ 0 w 87"/>
                <a:gd name="T73" fmla="*/ 0 h 7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7"/>
                <a:gd name="T112" fmla="*/ 0 h 71"/>
                <a:gd name="T113" fmla="*/ 87 w 87"/>
                <a:gd name="T114" fmla="*/ 71 h 7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7" h="71">
                  <a:moveTo>
                    <a:pt x="87" y="49"/>
                  </a:moveTo>
                  <a:lnTo>
                    <a:pt x="87" y="49"/>
                  </a:lnTo>
                  <a:lnTo>
                    <a:pt x="81" y="47"/>
                  </a:lnTo>
                  <a:lnTo>
                    <a:pt x="75" y="44"/>
                  </a:lnTo>
                  <a:lnTo>
                    <a:pt x="71" y="41"/>
                  </a:lnTo>
                  <a:lnTo>
                    <a:pt x="65" y="38"/>
                  </a:lnTo>
                  <a:lnTo>
                    <a:pt x="59" y="35"/>
                  </a:lnTo>
                  <a:lnTo>
                    <a:pt x="55" y="32"/>
                  </a:lnTo>
                  <a:lnTo>
                    <a:pt x="49" y="30"/>
                  </a:lnTo>
                  <a:lnTo>
                    <a:pt x="43" y="26"/>
                  </a:lnTo>
                  <a:lnTo>
                    <a:pt x="37" y="23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22" y="14"/>
                  </a:lnTo>
                  <a:lnTo>
                    <a:pt x="17" y="10"/>
                  </a:lnTo>
                  <a:lnTo>
                    <a:pt x="11" y="7"/>
                  </a:lnTo>
                  <a:lnTo>
                    <a:pt x="6" y="3"/>
                  </a:lnTo>
                  <a:lnTo>
                    <a:pt x="0" y="0"/>
                  </a:lnTo>
                  <a:lnTo>
                    <a:pt x="3" y="10"/>
                  </a:lnTo>
                  <a:lnTo>
                    <a:pt x="4" y="19"/>
                  </a:lnTo>
                  <a:lnTo>
                    <a:pt x="6" y="29"/>
                  </a:lnTo>
                  <a:lnTo>
                    <a:pt x="7" y="38"/>
                  </a:lnTo>
                  <a:lnTo>
                    <a:pt x="10" y="47"/>
                  </a:lnTo>
                  <a:lnTo>
                    <a:pt x="12" y="55"/>
                  </a:lnTo>
                  <a:lnTo>
                    <a:pt x="15" y="63"/>
                  </a:lnTo>
                  <a:lnTo>
                    <a:pt x="18" y="71"/>
                  </a:lnTo>
                  <a:lnTo>
                    <a:pt x="26" y="69"/>
                  </a:lnTo>
                  <a:lnTo>
                    <a:pt x="34" y="68"/>
                  </a:lnTo>
                  <a:lnTo>
                    <a:pt x="43" y="65"/>
                  </a:lnTo>
                  <a:lnTo>
                    <a:pt x="51" y="62"/>
                  </a:lnTo>
                  <a:lnTo>
                    <a:pt x="60" y="60"/>
                  </a:lnTo>
                  <a:lnTo>
                    <a:pt x="68" y="56"/>
                  </a:lnTo>
                  <a:lnTo>
                    <a:pt x="78" y="53"/>
                  </a:lnTo>
                  <a:lnTo>
                    <a:pt x="87" y="4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1" name="Freeform 72"/>
            <p:cNvSpPr>
              <a:spLocks noChangeAspect="1"/>
            </p:cNvSpPr>
            <p:nvPr/>
          </p:nvSpPr>
          <p:spPr bwMode="auto">
            <a:xfrm>
              <a:off x="6890" y="14695"/>
              <a:ext cx="39" cy="32"/>
            </a:xfrm>
            <a:custGeom>
              <a:avLst/>
              <a:gdLst>
                <a:gd name="T0" fmla="*/ 0 w 87"/>
                <a:gd name="T1" fmla="*/ 0 h 72"/>
                <a:gd name="T2" fmla="*/ 0 w 87"/>
                <a:gd name="T3" fmla="*/ 0 h 72"/>
                <a:gd name="T4" fmla="*/ 0 w 87"/>
                <a:gd name="T5" fmla="*/ 0 h 72"/>
                <a:gd name="T6" fmla="*/ 0 w 87"/>
                <a:gd name="T7" fmla="*/ 0 h 72"/>
                <a:gd name="T8" fmla="*/ 0 w 87"/>
                <a:gd name="T9" fmla="*/ 0 h 72"/>
                <a:gd name="T10" fmla="*/ 0 w 87"/>
                <a:gd name="T11" fmla="*/ 0 h 72"/>
                <a:gd name="T12" fmla="*/ 0 w 87"/>
                <a:gd name="T13" fmla="*/ 0 h 72"/>
                <a:gd name="T14" fmla="*/ 0 w 87"/>
                <a:gd name="T15" fmla="*/ 0 h 72"/>
                <a:gd name="T16" fmla="*/ 0 w 87"/>
                <a:gd name="T17" fmla="*/ 0 h 72"/>
                <a:gd name="T18" fmla="*/ 0 w 87"/>
                <a:gd name="T19" fmla="*/ 0 h 72"/>
                <a:gd name="T20" fmla="*/ 0 w 87"/>
                <a:gd name="T21" fmla="*/ 0 h 72"/>
                <a:gd name="T22" fmla="*/ 0 w 87"/>
                <a:gd name="T23" fmla="*/ 0 h 72"/>
                <a:gd name="T24" fmla="*/ 0 w 87"/>
                <a:gd name="T25" fmla="*/ 0 h 72"/>
                <a:gd name="T26" fmla="*/ 0 w 87"/>
                <a:gd name="T27" fmla="*/ 0 h 72"/>
                <a:gd name="T28" fmla="*/ 0 w 87"/>
                <a:gd name="T29" fmla="*/ 0 h 72"/>
                <a:gd name="T30" fmla="*/ 0 w 87"/>
                <a:gd name="T31" fmla="*/ 0 h 72"/>
                <a:gd name="T32" fmla="*/ 0 w 87"/>
                <a:gd name="T33" fmla="*/ 0 h 72"/>
                <a:gd name="T34" fmla="*/ 0 w 87"/>
                <a:gd name="T35" fmla="*/ 0 h 72"/>
                <a:gd name="T36" fmla="*/ 0 w 87"/>
                <a:gd name="T37" fmla="*/ 0 h 72"/>
                <a:gd name="T38" fmla="*/ 0 w 87"/>
                <a:gd name="T39" fmla="*/ 0 h 72"/>
                <a:gd name="T40" fmla="*/ 0 w 87"/>
                <a:gd name="T41" fmla="*/ 0 h 72"/>
                <a:gd name="T42" fmla="*/ 0 w 87"/>
                <a:gd name="T43" fmla="*/ 0 h 72"/>
                <a:gd name="T44" fmla="*/ 0 w 87"/>
                <a:gd name="T45" fmla="*/ 0 h 72"/>
                <a:gd name="T46" fmla="*/ 0 w 87"/>
                <a:gd name="T47" fmla="*/ 0 h 72"/>
                <a:gd name="T48" fmla="*/ 0 w 87"/>
                <a:gd name="T49" fmla="*/ 0 h 72"/>
                <a:gd name="T50" fmla="*/ 0 w 87"/>
                <a:gd name="T51" fmla="*/ 0 h 72"/>
                <a:gd name="T52" fmla="*/ 0 w 87"/>
                <a:gd name="T53" fmla="*/ 0 h 72"/>
                <a:gd name="T54" fmla="*/ 0 w 87"/>
                <a:gd name="T55" fmla="*/ 0 h 72"/>
                <a:gd name="T56" fmla="*/ 0 w 87"/>
                <a:gd name="T57" fmla="*/ 0 h 72"/>
                <a:gd name="T58" fmla="*/ 0 w 87"/>
                <a:gd name="T59" fmla="*/ 0 h 72"/>
                <a:gd name="T60" fmla="*/ 0 w 87"/>
                <a:gd name="T61" fmla="*/ 0 h 72"/>
                <a:gd name="T62" fmla="*/ 0 w 87"/>
                <a:gd name="T63" fmla="*/ 0 h 72"/>
                <a:gd name="T64" fmla="*/ 0 w 87"/>
                <a:gd name="T65" fmla="*/ 0 h 72"/>
                <a:gd name="T66" fmla="*/ 0 w 87"/>
                <a:gd name="T67" fmla="*/ 0 h 72"/>
                <a:gd name="T68" fmla="*/ 0 w 87"/>
                <a:gd name="T69" fmla="*/ 0 h 72"/>
                <a:gd name="T70" fmla="*/ 0 w 87"/>
                <a:gd name="T71" fmla="*/ 0 h 72"/>
                <a:gd name="T72" fmla="*/ 0 w 87"/>
                <a:gd name="T73" fmla="*/ 0 h 7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7"/>
                <a:gd name="T112" fmla="*/ 0 h 72"/>
                <a:gd name="T113" fmla="*/ 87 w 87"/>
                <a:gd name="T114" fmla="*/ 72 h 7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7" h="72">
                  <a:moveTo>
                    <a:pt x="0" y="22"/>
                  </a:moveTo>
                  <a:lnTo>
                    <a:pt x="0" y="22"/>
                  </a:lnTo>
                  <a:lnTo>
                    <a:pt x="6" y="24"/>
                  </a:lnTo>
                  <a:lnTo>
                    <a:pt x="12" y="28"/>
                  </a:lnTo>
                  <a:lnTo>
                    <a:pt x="17" y="30"/>
                  </a:lnTo>
                  <a:lnTo>
                    <a:pt x="23" y="34"/>
                  </a:lnTo>
                  <a:lnTo>
                    <a:pt x="28" y="36"/>
                  </a:lnTo>
                  <a:lnTo>
                    <a:pt x="34" y="39"/>
                  </a:lnTo>
                  <a:lnTo>
                    <a:pt x="39" y="42"/>
                  </a:lnTo>
                  <a:lnTo>
                    <a:pt x="45" y="45"/>
                  </a:lnTo>
                  <a:lnTo>
                    <a:pt x="51" y="49"/>
                  </a:lnTo>
                  <a:lnTo>
                    <a:pt x="56" y="51"/>
                  </a:lnTo>
                  <a:lnTo>
                    <a:pt x="61" y="54"/>
                  </a:lnTo>
                  <a:lnTo>
                    <a:pt x="66" y="58"/>
                  </a:lnTo>
                  <a:lnTo>
                    <a:pt x="72" y="61"/>
                  </a:lnTo>
                  <a:lnTo>
                    <a:pt x="76" y="65"/>
                  </a:lnTo>
                  <a:lnTo>
                    <a:pt x="82" y="68"/>
                  </a:lnTo>
                  <a:lnTo>
                    <a:pt x="87" y="72"/>
                  </a:lnTo>
                  <a:lnTo>
                    <a:pt x="85" y="62"/>
                  </a:lnTo>
                  <a:lnTo>
                    <a:pt x="83" y="53"/>
                  </a:lnTo>
                  <a:lnTo>
                    <a:pt x="82" y="43"/>
                  </a:lnTo>
                  <a:lnTo>
                    <a:pt x="80" y="34"/>
                  </a:lnTo>
                  <a:lnTo>
                    <a:pt x="77" y="26"/>
                  </a:lnTo>
                  <a:lnTo>
                    <a:pt x="75" y="16"/>
                  </a:lnTo>
                  <a:lnTo>
                    <a:pt x="73" y="8"/>
                  </a:lnTo>
                  <a:lnTo>
                    <a:pt x="70" y="0"/>
                  </a:lnTo>
                  <a:lnTo>
                    <a:pt x="62" y="2"/>
                  </a:lnTo>
                  <a:lnTo>
                    <a:pt x="54" y="5"/>
                  </a:lnTo>
                  <a:lnTo>
                    <a:pt x="46" y="7"/>
                  </a:lnTo>
                  <a:lnTo>
                    <a:pt x="37" y="9"/>
                  </a:lnTo>
                  <a:lnTo>
                    <a:pt x="29" y="13"/>
                  </a:lnTo>
                  <a:lnTo>
                    <a:pt x="20" y="15"/>
                  </a:lnTo>
                  <a:lnTo>
                    <a:pt x="9" y="19"/>
                  </a:lnTo>
                  <a:lnTo>
                    <a:pt x="0" y="2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2" name="Freeform 73"/>
            <p:cNvSpPr>
              <a:spLocks noChangeAspect="1"/>
            </p:cNvSpPr>
            <p:nvPr/>
          </p:nvSpPr>
          <p:spPr bwMode="auto">
            <a:xfrm>
              <a:off x="6849" y="14652"/>
              <a:ext cx="71" cy="51"/>
            </a:xfrm>
            <a:custGeom>
              <a:avLst/>
              <a:gdLst>
                <a:gd name="T0" fmla="*/ 0 w 159"/>
                <a:gd name="T1" fmla="*/ 0 h 112"/>
                <a:gd name="T2" fmla="*/ 0 w 159"/>
                <a:gd name="T3" fmla="*/ 0 h 112"/>
                <a:gd name="T4" fmla="*/ 0 w 159"/>
                <a:gd name="T5" fmla="*/ 0 h 112"/>
                <a:gd name="T6" fmla="*/ 0 w 159"/>
                <a:gd name="T7" fmla="*/ 0 h 112"/>
                <a:gd name="T8" fmla="*/ 0 w 159"/>
                <a:gd name="T9" fmla="*/ 0 h 112"/>
                <a:gd name="T10" fmla="*/ 0 w 159"/>
                <a:gd name="T11" fmla="*/ 0 h 112"/>
                <a:gd name="T12" fmla="*/ 0 w 159"/>
                <a:gd name="T13" fmla="*/ 0 h 112"/>
                <a:gd name="T14" fmla="*/ 0 w 159"/>
                <a:gd name="T15" fmla="*/ 0 h 112"/>
                <a:gd name="T16" fmla="*/ 0 w 159"/>
                <a:gd name="T17" fmla="*/ 0 h 112"/>
                <a:gd name="T18" fmla="*/ 0 w 159"/>
                <a:gd name="T19" fmla="*/ 0 h 112"/>
                <a:gd name="T20" fmla="*/ 0 w 159"/>
                <a:gd name="T21" fmla="*/ 0 h 112"/>
                <a:gd name="T22" fmla="*/ 0 w 159"/>
                <a:gd name="T23" fmla="*/ 0 h 112"/>
                <a:gd name="T24" fmla="*/ 0 w 159"/>
                <a:gd name="T25" fmla="*/ 0 h 112"/>
                <a:gd name="T26" fmla="*/ 0 w 159"/>
                <a:gd name="T27" fmla="*/ 0 h 112"/>
                <a:gd name="T28" fmla="*/ 0 w 159"/>
                <a:gd name="T29" fmla="*/ 0 h 112"/>
                <a:gd name="T30" fmla="*/ 0 w 159"/>
                <a:gd name="T31" fmla="*/ 0 h 112"/>
                <a:gd name="T32" fmla="*/ 0 w 159"/>
                <a:gd name="T33" fmla="*/ 0 h 112"/>
                <a:gd name="T34" fmla="*/ 0 w 159"/>
                <a:gd name="T35" fmla="*/ 0 h 112"/>
                <a:gd name="T36" fmla="*/ 0 w 159"/>
                <a:gd name="T37" fmla="*/ 0 h 112"/>
                <a:gd name="T38" fmla="*/ 0 w 159"/>
                <a:gd name="T39" fmla="*/ 0 h 112"/>
                <a:gd name="T40" fmla="*/ 0 w 159"/>
                <a:gd name="T41" fmla="*/ 0 h 112"/>
                <a:gd name="T42" fmla="*/ 0 w 159"/>
                <a:gd name="T43" fmla="*/ 0 h 112"/>
                <a:gd name="T44" fmla="*/ 0 w 159"/>
                <a:gd name="T45" fmla="*/ 0 h 112"/>
                <a:gd name="T46" fmla="*/ 0 w 159"/>
                <a:gd name="T47" fmla="*/ 0 h 112"/>
                <a:gd name="T48" fmla="*/ 0 w 159"/>
                <a:gd name="T49" fmla="*/ 0 h 112"/>
                <a:gd name="T50" fmla="*/ 0 w 159"/>
                <a:gd name="T51" fmla="*/ 0 h 112"/>
                <a:gd name="T52" fmla="*/ 0 w 159"/>
                <a:gd name="T53" fmla="*/ 0 h 112"/>
                <a:gd name="T54" fmla="*/ 0 w 159"/>
                <a:gd name="T55" fmla="*/ 0 h 112"/>
                <a:gd name="T56" fmla="*/ 0 w 159"/>
                <a:gd name="T57" fmla="*/ 0 h 112"/>
                <a:gd name="T58" fmla="*/ 0 w 159"/>
                <a:gd name="T59" fmla="*/ 0 h 112"/>
                <a:gd name="T60" fmla="*/ 0 w 159"/>
                <a:gd name="T61" fmla="*/ 0 h 112"/>
                <a:gd name="T62" fmla="*/ 0 w 159"/>
                <a:gd name="T63" fmla="*/ 0 h 112"/>
                <a:gd name="T64" fmla="*/ 0 w 159"/>
                <a:gd name="T65" fmla="*/ 0 h 112"/>
                <a:gd name="T66" fmla="*/ 0 w 159"/>
                <a:gd name="T67" fmla="*/ 0 h 112"/>
                <a:gd name="T68" fmla="*/ 0 w 159"/>
                <a:gd name="T69" fmla="*/ 0 h 112"/>
                <a:gd name="T70" fmla="*/ 0 w 159"/>
                <a:gd name="T71" fmla="*/ 0 h 112"/>
                <a:gd name="T72" fmla="*/ 0 w 159"/>
                <a:gd name="T73" fmla="*/ 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9"/>
                <a:gd name="T112" fmla="*/ 0 h 112"/>
                <a:gd name="T113" fmla="*/ 159 w 159"/>
                <a:gd name="T114" fmla="*/ 112 h 1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9" h="112">
                  <a:moveTo>
                    <a:pt x="80" y="112"/>
                  </a:moveTo>
                  <a:lnTo>
                    <a:pt x="80" y="112"/>
                  </a:lnTo>
                  <a:lnTo>
                    <a:pt x="90" y="108"/>
                  </a:lnTo>
                  <a:lnTo>
                    <a:pt x="100" y="103"/>
                  </a:lnTo>
                  <a:lnTo>
                    <a:pt x="111" y="100"/>
                  </a:lnTo>
                  <a:lnTo>
                    <a:pt x="120" y="95"/>
                  </a:lnTo>
                  <a:lnTo>
                    <a:pt x="130" y="92"/>
                  </a:lnTo>
                  <a:lnTo>
                    <a:pt x="139" y="88"/>
                  </a:lnTo>
                  <a:lnTo>
                    <a:pt x="150" y="86"/>
                  </a:lnTo>
                  <a:lnTo>
                    <a:pt x="159" y="84"/>
                  </a:lnTo>
                  <a:lnTo>
                    <a:pt x="152" y="65"/>
                  </a:lnTo>
                  <a:lnTo>
                    <a:pt x="143" y="49"/>
                  </a:lnTo>
                  <a:lnTo>
                    <a:pt x="135" y="34"/>
                  </a:lnTo>
                  <a:lnTo>
                    <a:pt x="124" y="23"/>
                  </a:lnTo>
                  <a:lnTo>
                    <a:pt x="114" y="12"/>
                  </a:lnTo>
                  <a:lnTo>
                    <a:pt x="104" y="5"/>
                  </a:lnTo>
                  <a:lnTo>
                    <a:pt x="92" y="1"/>
                  </a:lnTo>
                  <a:lnTo>
                    <a:pt x="81" y="0"/>
                  </a:lnTo>
                  <a:lnTo>
                    <a:pt x="69" y="1"/>
                  </a:lnTo>
                  <a:lnTo>
                    <a:pt x="58" y="5"/>
                  </a:lnTo>
                  <a:lnTo>
                    <a:pt x="46" y="12"/>
                  </a:lnTo>
                  <a:lnTo>
                    <a:pt x="36" y="21"/>
                  </a:lnTo>
                  <a:lnTo>
                    <a:pt x="25" y="34"/>
                  </a:lnTo>
                  <a:lnTo>
                    <a:pt x="16" y="48"/>
                  </a:lnTo>
                  <a:lnTo>
                    <a:pt x="8" y="65"/>
                  </a:lnTo>
                  <a:lnTo>
                    <a:pt x="0" y="84"/>
                  </a:lnTo>
                  <a:lnTo>
                    <a:pt x="9" y="86"/>
                  </a:lnTo>
                  <a:lnTo>
                    <a:pt x="20" y="88"/>
                  </a:lnTo>
                  <a:lnTo>
                    <a:pt x="29" y="92"/>
                  </a:lnTo>
                  <a:lnTo>
                    <a:pt x="39" y="95"/>
                  </a:lnTo>
                  <a:lnTo>
                    <a:pt x="48" y="100"/>
                  </a:lnTo>
                  <a:lnTo>
                    <a:pt x="59" y="103"/>
                  </a:lnTo>
                  <a:lnTo>
                    <a:pt x="69" y="108"/>
                  </a:lnTo>
                  <a:lnTo>
                    <a:pt x="80" y="1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3" name="Text Box 74"/>
            <p:cNvSpPr txBox="1">
              <a:spLocks noChangeAspect="1" noChangeArrowheads="1"/>
            </p:cNvSpPr>
            <p:nvPr/>
          </p:nvSpPr>
          <p:spPr bwMode="auto">
            <a:xfrm>
              <a:off x="6962" y="14628"/>
              <a:ext cx="85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Proton beam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exposure</a:t>
              </a:r>
            </a:p>
          </p:txBody>
        </p:sp>
      </p:grpSp>
      <p:grpSp>
        <p:nvGrpSpPr>
          <p:cNvPr id="39943" name="Group 75"/>
          <p:cNvGrpSpPr>
            <a:grpSpLocks noChangeAspect="1"/>
          </p:cNvGrpSpPr>
          <p:nvPr/>
        </p:nvGrpSpPr>
        <p:grpSpPr bwMode="auto">
          <a:xfrm>
            <a:off x="7121528" y="3671888"/>
            <a:ext cx="460375" cy="463550"/>
            <a:chOff x="7081" y="16391"/>
            <a:chExt cx="322" cy="325"/>
          </a:xfrm>
        </p:grpSpPr>
        <p:sp>
          <p:nvSpPr>
            <p:cNvPr id="40052" name="Freeform 76"/>
            <p:cNvSpPr>
              <a:spLocks noChangeAspect="1"/>
            </p:cNvSpPr>
            <p:nvPr/>
          </p:nvSpPr>
          <p:spPr bwMode="auto">
            <a:xfrm>
              <a:off x="7274" y="16391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3" name="Freeform 77"/>
            <p:cNvSpPr>
              <a:spLocks noChangeAspect="1"/>
            </p:cNvSpPr>
            <p:nvPr/>
          </p:nvSpPr>
          <p:spPr bwMode="auto">
            <a:xfrm>
              <a:off x="7274" y="16391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4" name="Freeform 78"/>
            <p:cNvSpPr>
              <a:spLocks noChangeAspect="1"/>
            </p:cNvSpPr>
            <p:nvPr/>
          </p:nvSpPr>
          <p:spPr bwMode="auto">
            <a:xfrm>
              <a:off x="7081" y="16586"/>
              <a:ext cx="322" cy="130"/>
            </a:xfrm>
            <a:custGeom>
              <a:avLst/>
              <a:gdLst>
                <a:gd name="T0" fmla="*/ 0 w 718"/>
                <a:gd name="T1" fmla="*/ 0 h 288"/>
                <a:gd name="T2" fmla="*/ 0 w 718"/>
                <a:gd name="T3" fmla="*/ 0 h 288"/>
                <a:gd name="T4" fmla="*/ 0 w 718"/>
                <a:gd name="T5" fmla="*/ 0 h 288"/>
                <a:gd name="T6" fmla="*/ 0 w 718"/>
                <a:gd name="T7" fmla="*/ 0 h 288"/>
                <a:gd name="T8" fmla="*/ 0 w 718"/>
                <a:gd name="T9" fmla="*/ 0 h 288"/>
                <a:gd name="T10" fmla="*/ 0 w 718"/>
                <a:gd name="T11" fmla="*/ 0 h 288"/>
                <a:gd name="T12" fmla="*/ 0 w 718"/>
                <a:gd name="T13" fmla="*/ 0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8"/>
                <a:gd name="T22" fmla="*/ 0 h 288"/>
                <a:gd name="T23" fmla="*/ 718 w 718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8" h="288">
                  <a:moveTo>
                    <a:pt x="575" y="0"/>
                  </a:moveTo>
                  <a:lnTo>
                    <a:pt x="718" y="142"/>
                  </a:lnTo>
                  <a:lnTo>
                    <a:pt x="430" y="288"/>
                  </a:lnTo>
                  <a:lnTo>
                    <a:pt x="142" y="142"/>
                  </a:lnTo>
                  <a:lnTo>
                    <a:pt x="0" y="0"/>
                  </a:lnTo>
                  <a:lnTo>
                    <a:pt x="287" y="142"/>
                  </a:lnTo>
                  <a:lnTo>
                    <a:pt x="57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5" name="Line 79"/>
            <p:cNvSpPr>
              <a:spLocks noChangeAspect="1" noChangeShapeType="1"/>
            </p:cNvSpPr>
            <p:nvPr/>
          </p:nvSpPr>
          <p:spPr bwMode="auto">
            <a:xfrm>
              <a:off x="7210" y="16650"/>
              <a:ext cx="64" cy="6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6" name="Freeform 80"/>
            <p:cNvSpPr>
              <a:spLocks noChangeAspect="1"/>
            </p:cNvSpPr>
            <p:nvPr/>
          </p:nvSpPr>
          <p:spPr bwMode="auto">
            <a:xfrm>
              <a:off x="7081" y="16391"/>
              <a:ext cx="259" cy="259"/>
            </a:xfrm>
            <a:custGeom>
              <a:avLst/>
              <a:gdLst>
                <a:gd name="T0" fmla="*/ 0 w 575"/>
                <a:gd name="T1" fmla="*/ 0 h 576"/>
                <a:gd name="T2" fmla="*/ 0 w 575"/>
                <a:gd name="T3" fmla="*/ 0 h 576"/>
                <a:gd name="T4" fmla="*/ 0 w 575"/>
                <a:gd name="T5" fmla="*/ 0 h 576"/>
                <a:gd name="T6" fmla="*/ 0 w 575"/>
                <a:gd name="T7" fmla="*/ 0 h 576"/>
                <a:gd name="T8" fmla="*/ 0 w 575"/>
                <a:gd name="T9" fmla="*/ 0 h 576"/>
                <a:gd name="T10" fmla="*/ 0 w 575"/>
                <a:gd name="T11" fmla="*/ 0 h 576"/>
                <a:gd name="T12" fmla="*/ 0 w 575"/>
                <a:gd name="T13" fmla="*/ 0 h 576"/>
                <a:gd name="T14" fmla="*/ 0 w 575"/>
                <a:gd name="T15" fmla="*/ 0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5"/>
                <a:gd name="T25" fmla="*/ 0 h 576"/>
                <a:gd name="T26" fmla="*/ 575 w 575"/>
                <a:gd name="T27" fmla="*/ 576 h 5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5" h="576">
                  <a:moveTo>
                    <a:pt x="142" y="0"/>
                  </a:moveTo>
                  <a:lnTo>
                    <a:pt x="430" y="0"/>
                  </a:lnTo>
                  <a:lnTo>
                    <a:pt x="430" y="434"/>
                  </a:lnTo>
                  <a:lnTo>
                    <a:pt x="575" y="434"/>
                  </a:lnTo>
                  <a:lnTo>
                    <a:pt x="287" y="576"/>
                  </a:lnTo>
                  <a:lnTo>
                    <a:pt x="0" y="434"/>
                  </a:lnTo>
                  <a:lnTo>
                    <a:pt x="142" y="43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057" name="Group 81"/>
            <p:cNvGrpSpPr>
              <a:grpSpLocks noChangeAspect="1"/>
            </p:cNvGrpSpPr>
            <p:nvPr/>
          </p:nvGrpSpPr>
          <p:grpSpPr bwMode="auto">
            <a:xfrm>
              <a:off x="7081" y="16391"/>
              <a:ext cx="322" cy="325"/>
              <a:chOff x="7081" y="16391"/>
              <a:chExt cx="322" cy="325"/>
            </a:xfrm>
          </p:grpSpPr>
          <p:sp>
            <p:nvSpPr>
              <p:cNvPr id="40058" name="Freeform 82"/>
              <p:cNvSpPr>
                <a:spLocks noChangeAspect="1"/>
              </p:cNvSpPr>
              <p:nvPr/>
            </p:nvSpPr>
            <p:spPr bwMode="auto">
              <a:xfrm>
                <a:off x="7081" y="16586"/>
                <a:ext cx="322" cy="130"/>
              </a:xfrm>
              <a:custGeom>
                <a:avLst/>
                <a:gdLst>
                  <a:gd name="T0" fmla="*/ 0 w 718"/>
                  <a:gd name="T1" fmla="*/ 0 h 288"/>
                  <a:gd name="T2" fmla="*/ 0 w 718"/>
                  <a:gd name="T3" fmla="*/ 0 h 288"/>
                  <a:gd name="T4" fmla="*/ 0 w 718"/>
                  <a:gd name="T5" fmla="*/ 0 h 288"/>
                  <a:gd name="T6" fmla="*/ 0 w 718"/>
                  <a:gd name="T7" fmla="*/ 0 h 288"/>
                  <a:gd name="T8" fmla="*/ 0 w 718"/>
                  <a:gd name="T9" fmla="*/ 0 h 288"/>
                  <a:gd name="T10" fmla="*/ 0 w 718"/>
                  <a:gd name="T11" fmla="*/ 0 h 288"/>
                  <a:gd name="T12" fmla="*/ 0 w 718"/>
                  <a:gd name="T13" fmla="*/ 0 h 2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18"/>
                  <a:gd name="T22" fmla="*/ 0 h 288"/>
                  <a:gd name="T23" fmla="*/ 718 w 718"/>
                  <a:gd name="T24" fmla="*/ 288 h 2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18" h="288">
                    <a:moveTo>
                      <a:pt x="575" y="0"/>
                    </a:moveTo>
                    <a:lnTo>
                      <a:pt x="718" y="142"/>
                    </a:lnTo>
                    <a:lnTo>
                      <a:pt x="430" y="288"/>
                    </a:lnTo>
                    <a:lnTo>
                      <a:pt x="142" y="142"/>
                    </a:lnTo>
                    <a:lnTo>
                      <a:pt x="0" y="0"/>
                    </a:lnTo>
                    <a:lnTo>
                      <a:pt x="287" y="142"/>
                    </a:lnTo>
                    <a:lnTo>
                      <a:pt x="575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59" name="Freeform 83"/>
              <p:cNvSpPr>
                <a:spLocks noChangeAspect="1"/>
              </p:cNvSpPr>
              <p:nvPr/>
            </p:nvSpPr>
            <p:spPr bwMode="auto">
              <a:xfrm>
                <a:off x="7081" y="16391"/>
                <a:ext cx="259" cy="259"/>
              </a:xfrm>
              <a:custGeom>
                <a:avLst/>
                <a:gdLst>
                  <a:gd name="T0" fmla="*/ 0 w 575"/>
                  <a:gd name="T1" fmla="*/ 0 h 576"/>
                  <a:gd name="T2" fmla="*/ 0 w 575"/>
                  <a:gd name="T3" fmla="*/ 0 h 576"/>
                  <a:gd name="T4" fmla="*/ 0 w 575"/>
                  <a:gd name="T5" fmla="*/ 0 h 576"/>
                  <a:gd name="T6" fmla="*/ 0 w 575"/>
                  <a:gd name="T7" fmla="*/ 0 h 576"/>
                  <a:gd name="T8" fmla="*/ 0 w 575"/>
                  <a:gd name="T9" fmla="*/ 0 h 576"/>
                  <a:gd name="T10" fmla="*/ 0 w 575"/>
                  <a:gd name="T11" fmla="*/ 0 h 576"/>
                  <a:gd name="T12" fmla="*/ 0 w 575"/>
                  <a:gd name="T13" fmla="*/ 0 h 576"/>
                  <a:gd name="T14" fmla="*/ 0 w 575"/>
                  <a:gd name="T15" fmla="*/ 0 h 5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5"/>
                  <a:gd name="T25" fmla="*/ 0 h 576"/>
                  <a:gd name="T26" fmla="*/ 575 w 575"/>
                  <a:gd name="T27" fmla="*/ 576 h 57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5" h="576">
                    <a:moveTo>
                      <a:pt x="142" y="0"/>
                    </a:moveTo>
                    <a:lnTo>
                      <a:pt x="430" y="0"/>
                    </a:lnTo>
                    <a:lnTo>
                      <a:pt x="430" y="434"/>
                    </a:lnTo>
                    <a:lnTo>
                      <a:pt x="575" y="434"/>
                    </a:lnTo>
                    <a:lnTo>
                      <a:pt x="287" y="576"/>
                    </a:lnTo>
                    <a:lnTo>
                      <a:pt x="0" y="434"/>
                    </a:lnTo>
                    <a:lnTo>
                      <a:pt x="142" y="434"/>
                    </a:lnTo>
                    <a:lnTo>
                      <a:pt x="14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9944" name="Group 84"/>
          <p:cNvGrpSpPr>
            <a:grpSpLocks noChangeAspect="1"/>
          </p:cNvGrpSpPr>
          <p:nvPr/>
        </p:nvGrpSpPr>
        <p:grpSpPr bwMode="auto">
          <a:xfrm>
            <a:off x="6564313" y="4294191"/>
            <a:ext cx="1573212" cy="835025"/>
            <a:chOff x="6733" y="16778"/>
            <a:chExt cx="1101" cy="584"/>
          </a:xfrm>
        </p:grpSpPr>
        <p:sp>
          <p:nvSpPr>
            <p:cNvPr id="40038" name="Freeform 85"/>
            <p:cNvSpPr>
              <a:spLocks noChangeAspect="1"/>
            </p:cNvSpPr>
            <p:nvPr/>
          </p:nvSpPr>
          <p:spPr bwMode="auto">
            <a:xfrm>
              <a:off x="6733" y="17296"/>
              <a:ext cx="1101" cy="66"/>
            </a:xfrm>
            <a:custGeom>
              <a:avLst/>
              <a:gdLst>
                <a:gd name="T0" fmla="*/ 0 w 2450"/>
                <a:gd name="T1" fmla="*/ 0 h 146"/>
                <a:gd name="T2" fmla="*/ 0 w 2450"/>
                <a:gd name="T3" fmla="*/ 0 h 146"/>
                <a:gd name="T4" fmla="*/ 0 w 2450"/>
                <a:gd name="T5" fmla="*/ 0 h 146"/>
                <a:gd name="T6" fmla="*/ 0 w 2450"/>
                <a:gd name="T7" fmla="*/ 0 h 146"/>
                <a:gd name="T8" fmla="*/ 0 w 2450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6"/>
                <a:gd name="T17" fmla="*/ 2450 w 2450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6">
                  <a:moveTo>
                    <a:pt x="2303" y="0"/>
                  </a:moveTo>
                  <a:lnTo>
                    <a:pt x="0" y="0"/>
                  </a:lnTo>
                  <a:lnTo>
                    <a:pt x="146" y="146"/>
                  </a:lnTo>
                  <a:lnTo>
                    <a:pt x="2450" y="146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9" name="Freeform 86"/>
            <p:cNvSpPr>
              <a:spLocks noChangeAspect="1"/>
            </p:cNvSpPr>
            <p:nvPr/>
          </p:nvSpPr>
          <p:spPr bwMode="auto">
            <a:xfrm>
              <a:off x="7768" y="16778"/>
              <a:ext cx="66" cy="584"/>
            </a:xfrm>
            <a:custGeom>
              <a:avLst/>
              <a:gdLst>
                <a:gd name="T0" fmla="*/ 0 w 147"/>
                <a:gd name="T1" fmla="*/ 0 h 1298"/>
                <a:gd name="T2" fmla="*/ 0 w 147"/>
                <a:gd name="T3" fmla="*/ 0 h 1298"/>
                <a:gd name="T4" fmla="*/ 0 w 147"/>
                <a:gd name="T5" fmla="*/ 0 h 1298"/>
                <a:gd name="T6" fmla="*/ 0 w 147"/>
                <a:gd name="T7" fmla="*/ 0 h 1298"/>
                <a:gd name="T8" fmla="*/ 0 w 147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8"/>
                <a:gd name="T17" fmla="*/ 147 w 147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8">
                  <a:moveTo>
                    <a:pt x="147" y="1298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6"/>
                  </a:lnTo>
                  <a:lnTo>
                    <a:pt x="147" y="1298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0" name="Rectangle 87"/>
            <p:cNvSpPr>
              <a:spLocks noChangeAspect="1" noChangeArrowheads="1"/>
            </p:cNvSpPr>
            <p:nvPr/>
          </p:nvSpPr>
          <p:spPr bwMode="auto">
            <a:xfrm>
              <a:off x="6733" y="16778"/>
              <a:ext cx="1035" cy="5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0041" name="Group 88"/>
            <p:cNvGrpSpPr>
              <a:grpSpLocks noChangeAspect="1"/>
            </p:cNvGrpSpPr>
            <p:nvPr/>
          </p:nvGrpSpPr>
          <p:grpSpPr bwMode="auto">
            <a:xfrm>
              <a:off x="6733" y="16778"/>
              <a:ext cx="1101" cy="584"/>
              <a:chOff x="6733" y="16778"/>
              <a:chExt cx="1101" cy="584"/>
            </a:xfrm>
          </p:grpSpPr>
          <p:sp>
            <p:nvSpPr>
              <p:cNvPr id="40042" name="Freeform 89"/>
              <p:cNvSpPr>
                <a:spLocks noChangeAspect="1"/>
              </p:cNvSpPr>
              <p:nvPr/>
            </p:nvSpPr>
            <p:spPr bwMode="auto">
              <a:xfrm>
                <a:off x="6733" y="17296"/>
                <a:ext cx="1101" cy="66"/>
              </a:xfrm>
              <a:custGeom>
                <a:avLst/>
                <a:gdLst>
                  <a:gd name="T0" fmla="*/ 0 w 2450"/>
                  <a:gd name="T1" fmla="*/ 0 h 146"/>
                  <a:gd name="T2" fmla="*/ 0 w 2450"/>
                  <a:gd name="T3" fmla="*/ 0 h 146"/>
                  <a:gd name="T4" fmla="*/ 0 w 2450"/>
                  <a:gd name="T5" fmla="*/ 0 h 146"/>
                  <a:gd name="T6" fmla="*/ 0 w 2450"/>
                  <a:gd name="T7" fmla="*/ 0 h 146"/>
                  <a:gd name="T8" fmla="*/ 0 w 2450"/>
                  <a:gd name="T9" fmla="*/ 0 h 1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50"/>
                  <a:gd name="T16" fmla="*/ 0 h 146"/>
                  <a:gd name="T17" fmla="*/ 2450 w 2450"/>
                  <a:gd name="T18" fmla="*/ 146 h 1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50" h="146">
                    <a:moveTo>
                      <a:pt x="2303" y="0"/>
                    </a:moveTo>
                    <a:lnTo>
                      <a:pt x="0" y="0"/>
                    </a:lnTo>
                    <a:lnTo>
                      <a:pt x="146" y="146"/>
                    </a:lnTo>
                    <a:lnTo>
                      <a:pt x="2450" y="146"/>
                    </a:lnTo>
                    <a:lnTo>
                      <a:pt x="230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43" name="Freeform 90"/>
              <p:cNvSpPr>
                <a:spLocks noChangeAspect="1"/>
              </p:cNvSpPr>
              <p:nvPr/>
            </p:nvSpPr>
            <p:spPr bwMode="auto">
              <a:xfrm>
                <a:off x="7768" y="16778"/>
                <a:ext cx="66" cy="584"/>
              </a:xfrm>
              <a:custGeom>
                <a:avLst/>
                <a:gdLst>
                  <a:gd name="T0" fmla="*/ 0 w 147"/>
                  <a:gd name="T1" fmla="*/ 0 h 1298"/>
                  <a:gd name="T2" fmla="*/ 0 w 147"/>
                  <a:gd name="T3" fmla="*/ 0 h 1298"/>
                  <a:gd name="T4" fmla="*/ 0 w 147"/>
                  <a:gd name="T5" fmla="*/ 0 h 1298"/>
                  <a:gd name="T6" fmla="*/ 0 w 147"/>
                  <a:gd name="T7" fmla="*/ 0 h 1298"/>
                  <a:gd name="T8" fmla="*/ 0 w 147"/>
                  <a:gd name="T9" fmla="*/ 0 h 12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7"/>
                  <a:gd name="T16" fmla="*/ 0 h 1298"/>
                  <a:gd name="T17" fmla="*/ 147 w 147"/>
                  <a:gd name="T18" fmla="*/ 1298 h 12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7" h="1298">
                    <a:moveTo>
                      <a:pt x="147" y="1298"/>
                    </a:moveTo>
                    <a:lnTo>
                      <a:pt x="0" y="1152"/>
                    </a:lnTo>
                    <a:lnTo>
                      <a:pt x="0" y="0"/>
                    </a:lnTo>
                    <a:lnTo>
                      <a:pt x="147" y="146"/>
                    </a:lnTo>
                    <a:lnTo>
                      <a:pt x="147" y="129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44" name="Rectangle 91"/>
              <p:cNvSpPr>
                <a:spLocks noChangeAspect="1" noChangeArrowheads="1"/>
              </p:cNvSpPr>
              <p:nvPr/>
            </p:nvSpPr>
            <p:spPr bwMode="auto">
              <a:xfrm>
                <a:off x="6733" y="16778"/>
                <a:ext cx="1035" cy="51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0045" name="Group 92"/>
              <p:cNvGrpSpPr>
                <a:grpSpLocks noChangeAspect="1"/>
              </p:cNvGrpSpPr>
              <p:nvPr/>
            </p:nvGrpSpPr>
            <p:grpSpPr bwMode="auto">
              <a:xfrm>
                <a:off x="6762" y="16802"/>
                <a:ext cx="938" cy="474"/>
                <a:chOff x="8049" y="13122"/>
                <a:chExt cx="938" cy="474"/>
              </a:xfrm>
            </p:grpSpPr>
            <p:sp>
              <p:nvSpPr>
                <p:cNvPr id="40046" name="Freeform 93"/>
                <p:cNvSpPr>
                  <a:spLocks noChangeAspect="1" noEditPoints="1"/>
                </p:cNvSpPr>
                <p:nvPr/>
              </p:nvSpPr>
              <p:spPr bwMode="auto">
                <a:xfrm>
                  <a:off x="8133" y="13122"/>
                  <a:ext cx="234" cy="243"/>
                </a:xfrm>
                <a:custGeom>
                  <a:avLst/>
                  <a:gdLst>
                    <a:gd name="T0" fmla="*/ 0 w 520"/>
                    <a:gd name="T1" fmla="*/ 0 h 541"/>
                    <a:gd name="T2" fmla="*/ 0 w 520"/>
                    <a:gd name="T3" fmla="*/ 0 h 541"/>
                    <a:gd name="T4" fmla="*/ 0 w 520"/>
                    <a:gd name="T5" fmla="*/ 0 h 541"/>
                    <a:gd name="T6" fmla="*/ 0 w 520"/>
                    <a:gd name="T7" fmla="*/ 0 h 541"/>
                    <a:gd name="T8" fmla="*/ 0 w 520"/>
                    <a:gd name="T9" fmla="*/ 0 h 541"/>
                    <a:gd name="T10" fmla="*/ 0 w 520"/>
                    <a:gd name="T11" fmla="*/ 0 h 541"/>
                    <a:gd name="T12" fmla="*/ 0 w 520"/>
                    <a:gd name="T13" fmla="*/ 0 h 541"/>
                    <a:gd name="T14" fmla="*/ 0 w 520"/>
                    <a:gd name="T15" fmla="*/ 0 h 541"/>
                    <a:gd name="T16" fmla="*/ 0 w 520"/>
                    <a:gd name="T17" fmla="*/ 0 h 541"/>
                    <a:gd name="T18" fmla="*/ 0 w 520"/>
                    <a:gd name="T19" fmla="*/ 0 h 541"/>
                    <a:gd name="T20" fmla="*/ 0 w 520"/>
                    <a:gd name="T21" fmla="*/ 0 h 541"/>
                    <a:gd name="T22" fmla="*/ 0 w 520"/>
                    <a:gd name="T23" fmla="*/ 0 h 541"/>
                    <a:gd name="T24" fmla="*/ 0 w 520"/>
                    <a:gd name="T25" fmla="*/ 0 h 541"/>
                    <a:gd name="T26" fmla="*/ 0 w 520"/>
                    <a:gd name="T27" fmla="*/ 0 h 541"/>
                    <a:gd name="T28" fmla="*/ 0 w 520"/>
                    <a:gd name="T29" fmla="*/ 0 h 541"/>
                    <a:gd name="T30" fmla="*/ 0 w 520"/>
                    <a:gd name="T31" fmla="*/ 0 h 541"/>
                    <a:gd name="T32" fmla="*/ 0 w 520"/>
                    <a:gd name="T33" fmla="*/ 0 h 541"/>
                    <a:gd name="T34" fmla="*/ 0 w 520"/>
                    <a:gd name="T35" fmla="*/ 0 h 541"/>
                    <a:gd name="T36" fmla="*/ 0 w 520"/>
                    <a:gd name="T37" fmla="*/ 0 h 541"/>
                    <a:gd name="T38" fmla="*/ 0 w 520"/>
                    <a:gd name="T39" fmla="*/ 0 h 541"/>
                    <a:gd name="T40" fmla="*/ 0 w 520"/>
                    <a:gd name="T41" fmla="*/ 0 h 541"/>
                    <a:gd name="T42" fmla="*/ 0 w 520"/>
                    <a:gd name="T43" fmla="*/ 0 h 541"/>
                    <a:gd name="T44" fmla="*/ 0 w 520"/>
                    <a:gd name="T45" fmla="*/ 0 h 541"/>
                    <a:gd name="T46" fmla="*/ 0 w 520"/>
                    <a:gd name="T47" fmla="*/ 0 h 541"/>
                    <a:gd name="T48" fmla="*/ 0 w 520"/>
                    <a:gd name="T49" fmla="*/ 0 h 541"/>
                    <a:gd name="T50" fmla="*/ 0 w 520"/>
                    <a:gd name="T51" fmla="*/ 0 h 541"/>
                    <a:gd name="T52" fmla="*/ 0 w 520"/>
                    <a:gd name="T53" fmla="*/ 0 h 541"/>
                    <a:gd name="T54" fmla="*/ 0 w 520"/>
                    <a:gd name="T55" fmla="*/ 0 h 541"/>
                    <a:gd name="T56" fmla="*/ 0 w 520"/>
                    <a:gd name="T57" fmla="*/ 0 h 541"/>
                    <a:gd name="T58" fmla="*/ 0 w 520"/>
                    <a:gd name="T59" fmla="*/ 0 h 541"/>
                    <a:gd name="T60" fmla="*/ 0 w 520"/>
                    <a:gd name="T61" fmla="*/ 0 h 541"/>
                    <a:gd name="T62" fmla="*/ 0 w 520"/>
                    <a:gd name="T63" fmla="*/ 0 h 541"/>
                    <a:gd name="T64" fmla="*/ 0 w 520"/>
                    <a:gd name="T65" fmla="*/ 0 h 541"/>
                    <a:gd name="T66" fmla="*/ 0 w 520"/>
                    <a:gd name="T67" fmla="*/ 0 h 541"/>
                    <a:gd name="T68" fmla="*/ 0 w 520"/>
                    <a:gd name="T69" fmla="*/ 0 h 541"/>
                    <a:gd name="T70" fmla="*/ 0 w 520"/>
                    <a:gd name="T71" fmla="*/ 0 h 541"/>
                    <a:gd name="T72" fmla="*/ 0 w 520"/>
                    <a:gd name="T73" fmla="*/ 0 h 541"/>
                    <a:gd name="T74" fmla="*/ 0 w 520"/>
                    <a:gd name="T75" fmla="*/ 0 h 541"/>
                    <a:gd name="T76" fmla="*/ 0 w 520"/>
                    <a:gd name="T77" fmla="*/ 0 h 541"/>
                    <a:gd name="T78" fmla="*/ 0 w 520"/>
                    <a:gd name="T79" fmla="*/ 0 h 541"/>
                    <a:gd name="T80" fmla="*/ 0 w 520"/>
                    <a:gd name="T81" fmla="*/ 0 h 541"/>
                    <a:gd name="T82" fmla="*/ 0 w 520"/>
                    <a:gd name="T83" fmla="*/ 0 h 541"/>
                    <a:gd name="T84" fmla="*/ 0 w 520"/>
                    <a:gd name="T85" fmla="*/ 0 h 541"/>
                    <a:gd name="T86" fmla="*/ 0 w 520"/>
                    <a:gd name="T87" fmla="*/ 0 h 541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520"/>
                    <a:gd name="T133" fmla="*/ 0 h 541"/>
                    <a:gd name="T134" fmla="*/ 520 w 520"/>
                    <a:gd name="T135" fmla="*/ 541 h 541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520" h="541">
                      <a:moveTo>
                        <a:pt x="159" y="123"/>
                      </a:moveTo>
                      <a:lnTo>
                        <a:pt x="166" y="125"/>
                      </a:lnTo>
                      <a:lnTo>
                        <a:pt x="171" y="126"/>
                      </a:lnTo>
                      <a:lnTo>
                        <a:pt x="178" y="129"/>
                      </a:lnTo>
                      <a:lnTo>
                        <a:pt x="183" y="134"/>
                      </a:lnTo>
                      <a:lnTo>
                        <a:pt x="187" y="140"/>
                      </a:lnTo>
                      <a:lnTo>
                        <a:pt x="191" y="145"/>
                      </a:lnTo>
                      <a:lnTo>
                        <a:pt x="192" y="152"/>
                      </a:lnTo>
                      <a:lnTo>
                        <a:pt x="193" y="159"/>
                      </a:lnTo>
                      <a:lnTo>
                        <a:pt x="192" y="166"/>
                      </a:lnTo>
                      <a:lnTo>
                        <a:pt x="191" y="173"/>
                      </a:lnTo>
                      <a:lnTo>
                        <a:pt x="187" y="179"/>
                      </a:lnTo>
                      <a:lnTo>
                        <a:pt x="183" y="183"/>
                      </a:lnTo>
                      <a:lnTo>
                        <a:pt x="178" y="188"/>
                      </a:lnTo>
                      <a:lnTo>
                        <a:pt x="171" y="191"/>
                      </a:lnTo>
                      <a:lnTo>
                        <a:pt x="166" y="194"/>
                      </a:lnTo>
                      <a:lnTo>
                        <a:pt x="159" y="195"/>
                      </a:lnTo>
                      <a:lnTo>
                        <a:pt x="152" y="194"/>
                      </a:lnTo>
                      <a:lnTo>
                        <a:pt x="145" y="191"/>
                      </a:lnTo>
                      <a:lnTo>
                        <a:pt x="139" y="188"/>
                      </a:lnTo>
                      <a:lnTo>
                        <a:pt x="133" y="183"/>
                      </a:lnTo>
                      <a:lnTo>
                        <a:pt x="129" y="179"/>
                      </a:lnTo>
                      <a:lnTo>
                        <a:pt x="125" y="173"/>
                      </a:lnTo>
                      <a:lnTo>
                        <a:pt x="124" y="166"/>
                      </a:lnTo>
                      <a:lnTo>
                        <a:pt x="123" y="159"/>
                      </a:lnTo>
                      <a:lnTo>
                        <a:pt x="124" y="152"/>
                      </a:lnTo>
                      <a:lnTo>
                        <a:pt x="125" y="145"/>
                      </a:lnTo>
                      <a:lnTo>
                        <a:pt x="129" y="140"/>
                      </a:lnTo>
                      <a:lnTo>
                        <a:pt x="133" y="134"/>
                      </a:lnTo>
                      <a:lnTo>
                        <a:pt x="139" y="129"/>
                      </a:lnTo>
                      <a:lnTo>
                        <a:pt x="145" y="126"/>
                      </a:lnTo>
                      <a:lnTo>
                        <a:pt x="152" y="125"/>
                      </a:lnTo>
                      <a:lnTo>
                        <a:pt x="159" y="123"/>
                      </a:lnTo>
                      <a:close/>
                      <a:moveTo>
                        <a:pt x="152" y="34"/>
                      </a:moveTo>
                      <a:lnTo>
                        <a:pt x="185" y="38"/>
                      </a:lnTo>
                      <a:lnTo>
                        <a:pt x="221" y="9"/>
                      </a:lnTo>
                      <a:lnTo>
                        <a:pt x="248" y="24"/>
                      </a:lnTo>
                      <a:lnTo>
                        <a:pt x="240" y="68"/>
                      </a:lnTo>
                      <a:lnTo>
                        <a:pt x="260" y="92"/>
                      </a:lnTo>
                      <a:lnTo>
                        <a:pt x="307" y="96"/>
                      </a:lnTo>
                      <a:lnTo>
                        <a:pt x="316" y="126"/>
                      </a:lnTo>
                      <a:lnTo>
                        <a:pt x="283" y="157"/>
                      </a:lnTo>
                      <a:lnTo>
                        <a:pt x="280" y="189"/>
                      </a:lnTo>
                      <a:lnTo>
                        <a:pt x="307" y="221"/>
                      </a:lnTo>
                      <a:lnTo>
                        <a:pt x="292" y="249"/>
                      </a:lnTo>
                      <a:lnTo>
                        <a:pt x="247" y="243"/>
                      </a:lnTo>
                      <a:lnTo>
                        <a:pt x="223" y="262"/>
                      </a:lnTo>
                      <a:lnTo>
                        <a:pt x="221" y="308"/>
                      </a:lnTo>
                      <a:lnTo>
                        <a:pt x="191" y="317"/>
                      </a:lnTo>
                      <a:lnTo>
                        <a:pt x="162" y="282"/>
                      </a:lnTo>
                      <a:lnTo>
                        <a:pt x="130" y="279"/>
                      </a:lnTo>
                      <a:lnTo>
                        <a:pt x="95" y="308"/>
                      </a:lnTo>
                      <a:lnTo>
                        <a:pt x="69" y="293"/>
                      </a:lnTo>
                      <a:lnTo>
                        <a:pt x="69" y="240"/>
                      </a:lnTo>
                      <a:lnTo>
                        <a:pt x="49" y="216"/>
                      </a:lnTo>
                      <a:lnTo>
                        <a:pt x="9" y="221"/>
                      </a:lnTo>
                      <a:lnTo>
                        <a:pt x="0" y="191"/>
                      </a:lnTo>
                      <a:lnTo>
                        <a:pt x="34" y="159"/>
                      </a:lnTo>
                      <a:lnTo>
                        <a:pt x="39" y="127"/>
                      </a:lnTo>
                      <a:lnTo>
                        <a:pt x="9" y="96"/>
                      </a:lnTo>
                      <a:lnTo>
                        <a:pt x="24" y="68"/>
                      </a:lnTo>
                      <a:lnTo>
                        <a:pt x="64" y="80"/>
                      </a:lnTo>
                      <a:lnTo>
                        <a:pt x="87" y="59"/>
                      </a:lnTo>
                      <a:lnTo>
                        <a:pt x="95" y="9"/>
                      </a:lnTo>
                      <a:lnTo>
                        <a:pt x="125" y="0"/>
                      </a:lnTo>
                      <a:lnTo>
                        <a:pt x="152" y="34"/>
                      </a:lnTo>
                      <a:close/>
                      <a:moveTo>
                        <a:pt x="343" y="349"/>
                      </a:moveTo>
                      <a:lnTo>
                        <a:pt x="350" y="347"/>
                      </a:lnTo>
                      <a:lnTo>
                        <a:pt x="357" y="346"/>
                      </a:lnTo>
                      <a:lnTo>
                        <a:pt x="363" y="346"/>
                      </a:lnTo>
                      <a:lnTo>
                        <a:pt x="369" y="347"/>
                      </a:lnTo>
                      <a:lnTo>
                        <a:pt x="375" y="349"/>
                      </a:lnTo>
                      <a:lnTo>
                        <a:pt x="381" y="353"/>
                      </a:lnTo>
                      <a:lnTo>
                        <a:pt x="387" y="357"/>
                      </a:lnTo>
                      <a:lnTo>
                        <a:pt x="390" y="363"/>
                      </a:lnTo>
                      <a:lnTo>
                        <a:pt x="393" y="370"/>
                      </a:lnTo>
                      <a:lnTo>
                        <a:pt x="395" y="377"/>
                      </a:lnTo>
                      <a:lnTo>
                        <a:pt x="395" y="384"/>
                      </a:lnTo>
                      <a:lnTo>
                        <a:pt x="394" y="390"/>
                      </a:lnTo>
                      <a:lnTo>
                        <a:pt x="390" y="397"/>
                      </a:lnTo>
                      <a:lnTo>
                        <a:pt x="387" y="402"/>
                      </a:lnTo>
                      <a:lnTo>
                        <a:pt x="382" y="407"/>
                      </a:lnTo>
                      <a:lnTo>
                        <a:pt x="376" y="412"/>
                      </a:lnTo>
                      <a:lnTo>
                        <a:pt x="369" y="414"/>
                      </a:lnTo>
                      <a:lnTo>
                        <a:pt x="363" y="415"/>
                      </a:lnTo>
                      <a:lnTo>
                        <a:pt x="356" y="415"/>
                      </a:lnTo>
                      <a:lnTo>
                        <a:pt x="350" y="414"/>
                      </a:lnTo>
                      <a:lnTo>
                        <a:pt x="343" y="410"/>
                      </a:lnTo>
                      <a:lnTo>
                        <a:pt x="337" y="407"/>
                      </a:lnTo>
                      <a:lnTo>
                        <a:pt x="333" y="402"/>
                      </a:lnTo>
                      <a:lnTo>
                        <a:pt x="329" y="397"/>
                      </a:lnTo>
                      <a:lnTo>
                        <a:pt x="327" y="390"/>
                      </a:lnTo>
                      <a:lnTo>
                        <a:pt x="325" y="383"/>
                      </a:lnTo>
                      <a:lnTo>
                        <a:pt x="325" y="377"/>
                      </a:lnTo>
                      <a:lnTo>
                        <a:pt x="326" y="370"/>
                      </a:lnTo>
                      <a:lnTo>
                        <a:pt x="329" y="364"/>
                      </a:lnTo>
                      <a:lnTo>
                        <a:pt x="333" y="359"/>
                      </a:lnTo>
                      <a:lnTo>
                        <a:pt x="337" y="353"/>
                      </a:lnTo>
                      <a:lnTo>
                        <a:pt x="343" y="349"/>
                      </a:lnTo>
                      <a:close/>
                      <a:moveTo>
                        <a:pt x="295" y="273"/>
                      </a:moveTo>
                      <a:lnTo>
                        <a:pt x="325" y="261"/>
                      </a:lnTo>
                      <a:lnTo>
                        <a:pt x="344" y="220"/>
                      </a:lnTo>
                      <a:lnTo>
                        <a:pt x="375" y="220"/>
                      </a:lnTo>
                      <a:lnTo>
                        <a:pt x="388" y="261"/>
                      </a:lnTo>
                      <a:lnTo>
                        <a:pt x="417" y="273"/>
                      </a:lnTo>
                      <a:lnTo>
                        <a:pt x="460" y="254"/>
                      </a:lnTo>
                      <a:lnTo>
                        <a:pt x="484" y="276"/>
                      </a:lnTo>
                      <a:lnTo>
                        <a:pt x="467" y="318"/>
                      </a:lnTo>
                      <a:lnTo>
                        <a:pt x="480" y="349"/>
                      </a:lnTo>
                      <a:lnTo>
                        <a:pt x="520" y="364"/>
                      </a:lnTo>
                      <a:lnTo>
                        <a:pt x="520" y="395"/>
                      </a:lnTo>
                      <a:lnTo>
                        <a:pt x="478" y="412"/>
                      </a:lnTo>
                      <a:lnTo>
                        <a:pt x="465" y="439"/>
                      </a:lnTo>
                      <a:lnTo>
                        <a:pt x="486" y="481"/>
                      </a:lnTo>
                      <a:lnTo>
                        <a:pt x="463" y="504"/>
                      </a:lnTo>
                      <a:lnTo>
                        <a:pt x="421" y="488"/>
                      </a:lnTo>
                      <a:lnTo>
                        <a:pt x="391" y="499"/>
                      </a:lnTo>
                      <a:lnTo>
                        <a:pt x="375" y="541"/>
                      </a:lnTo>
                      <a:lnTo>
                        <a:pt x="344" y="541"/>
                      </a:lnTo>
                      <a:lnTo>
                        <a:pt x="320" y="494"/>
                      </a:lnTo>
                      <a:lnTo>
                        <a:pt x="291" y="482"/>
                      </a:lnTo>
                      <a:lnTo>
                        <a:pt x="260" y="505"/>
                      </a:lnTo>
                      <a:lnTo>
                        <a:pt x="236" y="483"/>
                      </a:lnTo>
                      <a:lnTo>
                        <a:pt x="252" y="438"/>
                      </a:lnTo>
                      <a:lnTo>
                        <a:pt x="239" y="409"/>
                      </a:lnTo>
                      <a:lnTo>
                        <a:pt x="199" y="395"/>
                      </a:lnTo>
                      <a:lnTo>
                        <a:pt x="199" y="363"/>
                      </a:lnTo>
                      <a:lnTo>
                        <a:pt x="239" y="354"/>
                      </a:lnTo>
                      <a:lnTo>
                        <a:pt x="250" y="325"/>
                      </a:lnTo>
                      <a:lnTo>
                        <a:pt x="234" y="279"/>
                      </a:lnTo>
                      <a:lnTo>
                        <a:pt x="255" y="257"/>
                      </a:lnTo>
                      <a:lnTo>
                        <a:pt x="295" y="273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47" name="Freeform 94"/>
                <p:cNvSpPr>
                  <a:spLocks noChangeAspect="1"/>
                </p:cNvSpPr>
                <p:nvPr/>
              </p:nvSpPr>
              <p:spPr bwMode="auto">
                <a:xfrm>
                  <a:off x="8188" y="13178"/>
                  <a:ext cx="32" cy="32"/>
                </a:xfrm>
                <a:custGeom>
                  <a:avLst/>
                  <a:gdLst>
                    <a:gd name="T0" fmla="*/ 0 w 70"/>
                    <a:gd name="T1" fmla="*/ 0 h 72"/>
                    <a:gd name="T2" fmla="*/ 0 w 70"/>
                    <a:gd name="T3" fmla="*/ 0 h 72"/>
                    <a:gd name="T4" fmla="*/ 0 w 70"/>
                    <a:gd name="T5" fmla="*/ 0 h 72"/>
                    <a:gd name="T6" fmla="*/ 0 w 70"/>
                    <a:gd name="T7" fmla="*/ 0 h 72"/>
                    <a:gd name="T8" fmla="*/ 0 w 70"/>
                    <a:gd name="T9" fmla="*/ 0 h 72"/>
                    <a:gd name="T10" fmla="*/ 0 w 70"/>
                    <a:gd name="T11" fmla="*/ 0 h 72"/>
                    <a:gd name="T12" fmla="*/ 0 w 70"/>
                    <a:gd name="T13" fmla="*/ 0 h 72"/>
                    <a:gd name="T14" fmla="*/ 0 w 70"/>
                    <a:gd name="T15" fmla="*/ 0 h 72"/>
                    <a:gd name="T16" fmla="*/ 0 w 70"/>
                    <a:gd name="T17" fmla="*/ 0 h 72"/>
                    <a:gd name="T18" fmla="*/ 0 w 70"/>
                    <a:gd name="T19" fmla="*/ 0 h 72"/>
                    <a:gd name="T20" fmla="*/ 0 w 70"/>
                    <a:gd name="T21" fmla="*/ 0 h 72"/>
                    <a:gd name="T22" fmla="*/ 0 w 70"/>
                    <a:gd name="T23" fmla="*/ 0 h 72"/>
                    <a:gd name="T24" fmla="*/ 0 w 70"/>
                    <a:gd name="T25" fmla="*/ 0 h 72"/>
                    <a:gd name="T26" fmla="*/ 0 w 70"/>
                    <a:gd name="T27" fmla="*/ 0 h 72"/>
                    <a:gd name="T28" fmla="*/ 0 w 70"/>
                    <a:gd name="T29" fmla="*/ 0 h 72"/>
                    <a:gd name="T30" fmla="*/ 0 w 70"/>
                    <a:gd name="T31" fmla="*/ 0 h 72"/>
                    <a:gd name="T32" fmla="*/ 0 w 70"/>
                    <a:gd name="T33" fmla="*/ 0 h 72"/>
                    <a:gd name="T34" fmla="*/ 0 w 70"/>
                    <a:gd name="T35" fmla="*/ 0 h 72"/>
                    <a:gd name="T36" fmla="*/ 0 w 70"/>
                    <a:gd name="T37" fmla="*/ 0 h 72"/>
                    <a:gd name="T38" fmla="*/ 0 w 70"/>
                    <a:gd name="T39" fmla="*/ 0 h 72"/>
                    <a:gd name="T40" fmla="*/ 0 w 70"/>
                    <a:gd name="T41" fmla="*/ 0 h 72"/>
                    <a:gd name="T42" fmla="*/ 0 w 70"/>
                    <a:gd name="T43" fmla="*/ 0 h 72"/>
                    <a:gd name="T44" fmla="*/ 0 w 70"/>
                    <a:gd name="T45" fmla="*/ 0 h 72"/>
                    <a:gd name="T46" fmla="*/ 0 w 70"/>
                    <a:gd name="T47" fmla="*/ 0 h 72"/>
                    <a:gd name="T48" fmla="*/ 0 w 70"/>
                    <a:gd name="T49" fmla="*/ 0 h 72"/>
                    <a:gd name="T50" fmla="*/ 0 w 70"/>
                    <a:gd name="T51" fmla="*/ 0 h 72"/>
                    <a:gd name="T52" fmla="*/ 0 w 70"/>
                    <a:gd name="T53" fmla="*/ 0 h 72"/>
                    <a:gd name="T54" fmla="*/ 0 w 70"/>
                    <a:gd name="T55" fmla="*/ 0 h 72"/>
                    <a:gd name="T56" fmla="*/ 0 w 70"/>
                    <a:gd name="T57" fmla="*/ 0 h 72"/>
                    <a:gd name="T58" fmla="*/ 0 w 70"/>
                    <a:gd name="T59" fmla="*/ 0 h 72"/>
                    <a:gd name="T60" fmla="*/ 0 w 70"/>
                    <a:gd name="T61" fmla="*/ 0 h 72"/>
                    <a:gd name="T62" fmla="*/ 0 w 70"/>
                    <a:gd name="T63" fmla="*/ 0 h 72"/>
                    <a:gd name="T64" fmla="*/ 0 w 70"/>
                    <a:gd name="T65" fmla="*/ 0 h 72"/>
                    <a:gd name="T66" fmla="*/ 0 w 70"/>
                    <a:gd name="T67" fmla="*/ 0 h 72"/>
                    <a:gd name="T68" fmla="*/ 0 w 70"/>
                    <a:gd name="T69" fmla="*/ 0 h 72"/>
                    <a:gd name="T70" fmla="*/ 0 w 70"/>
                    <a:gd name="T71" fmla="*/ 0 h 72"/>
                    <a:gd name="T72" fmla="*/ 0 w 70"/>
                    <a:gd name="T73" fmla="*/ 0 h 72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70"/>
                    <a:gd name="T112" fmla="*/ 0 h 72"/>
                    <a:gd name="T113" fmla="*/ 70 w 70"/>
                    <a:gd name="T114" fmla="*/ 72 h 72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70" h="72">
                      <a:moveTo>
                        <a:pt x="36" y="0"/>
                      </a:moveTo>
                      <a:lnTo>
                        <a:pt x="36" y="0"/>
                      </a:lnTo>
                      <a:lnTo>
                        <a:pt x="43" y="2"/>
                      </a:lnTo>
                      <a:lnTo>
                        <a:pt x="48" y="3"/>
                      </a:lnTo>
                      <a:lnTo>
                        <a:pt x="55" y="6"/>
                      </a:lnTo>
                      <a:lnTo>
                        <a:pt x="60" y="11"/>
                      </a:lnTo>
                      <a:lnTo>
                        <a:pt x="64" y="17"/>
                      </a:lnTo>
                      <a:lnTo>
                        <a:pt x="68" y="22"/>
                      </a:lnTo>
                      <a:lnTo>
                        <a:pt x="69" y="29"/>
                      </a:lnTo>
                      <a:lnTo>
                        <a:pt x="70" y="36"/>
                      </a:lnTo>
                      <a:lnTo>
                        <a:pt x="69" y="43"/>
                      </a:lnTo>
                      <a:lnTo>
                        <a:pt x="68" y="50"/>
                      </a:lnTo>
                      <a:lnTo>
                        <a:pt x="64" y="56"/>
                      </a:lnTo>
                      <a:lnTo>
                        <a:pt x="60" y="60"/>
                      </a:lnTo>
                      <a:lnTo>
                        <a:pt x="55" y="65"/>
                      </a:lnTo>
                      <a:lnTo>
                        <a:pt x="48" y="68"/>
                      </a:lnTo>
                      <a:lnTo>
                        <a:pt x="43" y="71"/>
                      </a:lnTo>
                      <a:lnTo>
                        <a:pt x="36" y="72"/>
                      </a:lnTo>
                      <a:lnTo>
                        <a:pt x="29" y="71"/>
                      </a:lnTo>
                      <a:lnTo>
                        <a:pt x="22" y="68"/>
                      </a:lnTo>
                      <a:lnTo>
                        <a:pt x="16" y="65"/>
                      </a:lnTo>
                      <a:lnTo>
                        <a:pt x="10" y="60"/>
                      </a:lnTo>
                      <a:lnTo>
                        <a:pt x="6" y="56"/>
                      </a:lnTo>
                      <a:lnTo>
                        <a:pt x="2" y="50"/>
                      </a:lnTo>
                      <a:lnTo>
                        <a:pt x="1" y="43"/>
                      </a:lnTo>
                      <a:lnTo>
                        <a:pt x="0" y="36"/>
                      </a:lnTo>
                      <a:lnTo>
                        <a:pt x="1" y="29"/>
                      </a:lnTo>
                      <a:lnTo>
                        <a:pt x="2" y="22"/>
                      </a:lnTo>
                      <a:lnTo>
                        <a:pt x="6" y="17"/>
                      </a:lnTo>
                      <a:lnTo>
                        <a:pt x="10" y="11"/>
                      </a:lnTo>
                      <a:lnTo>
                        <a:pt x="16" y="6"/>
                      </a:lnTo>
                      <a:lnTo>
                        <a:pt x="22" y="3"/>
                      </a:lnTo>
                      <a:lnTo>
                        <a:pt x="29" y="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48" name="Freeform 95"/>
                <p:cNvSpPr>
                  <a:spLocks noChangeAspect="1"/>
                </p:cNvSpPr>
                <p:nvPr/>
              </p:nvSpPr>
              <p:spPr bwMode="auto">
                <a:xfrm>
                  <a:off x="8133" y="13122"/>
                  <a:ext cx="143" cy="143"/>
                </a:xfrm>
                <a:custGeom>
                  <a:avLst/>
                  <a:gdLst>
                    <a:gd name="T0" fmla="*/ 0 w 316"/>
                    <a:gd name="T1" fmla="*/ 0 h 317"/>
                    <a:gd name="T2" fmla="*/ 0 w 316"/>
                    <a:gd name="T3" fmla="*/ 0 h 317"/>
                    <a:gd name="T4" fmla="*/ 0 w 316"/>
                    <a:gd name="T5" fmla="*/ 0 h 317"/>
                    <a:gd name="T6" fmla="*/ 0 w 316"/>
                    <a:gd name="T7" fmla="*/ 0 h 317"/>
                    <a:gd name="T8" fmla="*/ 0 w 316"/>
                    <a:gd name="T9" fmla="*/ 0 h 317"/>
                    <a:gd name="T10" fmla="*/ 0 w 316"/>
                    <a:gd name="T11" fmla="*/ 0 h 317"/>
                    <a:gd name="T12" fmla="*/ 0 w 316"/>
                    <a:gd name="T13" fmla="*/ 0 h 317"/>
                    <a:gd name="T14" fmla="*/ 0 w 316"/>
                    <a:gd name="T15" fmla="*/ 0 h 317"/>
                    <a:gd name="T16" fmla="*/ 0 w 316"/>
                    <a:gd name="T17" fmla="*/ 0 h 317"/>
                    <a:gd name="T18" fmla="*/ 0 w 316"/>
                    <a:gd name="T19" fmla="*/ 0 h 317"/>
                    <a:gd name="T20" fmla="*/ 0 w 316"/>
                    <a:gd name="T21" fmla="*/ 0 h 317"/>
                    <a:gd name="T22" fmla="*/ 0 w 316"/>
                    <a:gd name="T23" fmla="*/ 0 h 317"/>
                    <a:gd name="T24" fmla="*/ 0 w 316"/>
                    <a:gd name="T25" fmla="*/ 0 h 317"/>
                    <a:gd name="T26" fmla="*/ 0 w 316"/>
                    <a:gd name="T27" fmla="*/ 0 h 317"/>
                    <a:gd name="T28" fmla="*/ 0 w 316"/>
                    <a:gd name="T29" fmla="*/ 0 h 317"/>
                    <a:gd name="T30" fmla="*/ 0 w 316"/>
                    <a:gd name="T31" fmla="*/ 0 h 317"/>
                    <a:gd name="T32" fmla="*/ 0 w 316"/>
                    <a:gd name="T33" fmla="*/ 0 h 317"/>
                    <a:gd name="T34" fmla="*/ 0 w 316"/>
                    <a:gd name="T35" fmla="*/ 0 h 317"/>
                    <a:gd name="T36" fmla="*/ 0 w 316"/>
                    <a:gd name="T37" fmla="*/ 0 h 317"/>
                    <a:gd name="T38" fmla="*/ 0 w 316"/>
                    <a:gd name="T39" fmla="*/ 0 h 317"/>
                    <a:gd name="T40" fmla="*/ 0 w 316"/>
                    <a:gd name="T41" fmla="*/ 0 h 317"/>
                    <a:gd name="T42" fmla="*/ 0 w 316"/>
                    <a:gd name="T43" fmla="*/ 0 h 317"/>
                    <a:gd name="T44" fmla="*/ 0 w 316"/>
                    <a:gd name="T45" fmla="*/ 0 h 317"/>
                    <a:gd name="T46" fmla="*/ 0 w 316"/>
                    <a:gd name="T47" fmla="*/ 0 h 317"/>
                    <a:gd name="T48" fmla="*/ 0 w 316"/>
                    <a:gd name="T49" fmla="*/ 0 h 317"/>
                    <a:gd name="T50" fmla="*/ 0 w 316"/>
                    <a:gd name="T51" fmla="*/ 0 h 317"/>
                    <a:gd name="T52" fmla="*/ 0 w 316"/>
                    <a:gd name="T53" fmla="*/ 0 h 317"/>
                    <a:gd name="T54" fmla="*/ 0 w 316"/>
                    <a:gd name="T55" fmla="*/ 0 h 317"/>
                    <a:gd name="T56" fmla="*/ 0 w 316"/>
                    <a:gd name="T57" fmla="*/ 0 h 317"/>
                    <a:gd name="T58" fmla="*/ 0 w 316"/>
                    <a:gd name="T59" fmla="*/ 0 h 317"/>
                    <a:gd name="T60" fmla="*/ 0 w 316"/>
                    <a:gd name="T61" fmla="*/ 0 h 317"/>
                    <a:gd name="T62" fmla="*/ 0 w 316"/>
                    <a:gd name="T63" fmla="*/ 0 h 317"/>
                    <a:gd name="T64" fmla="*/ 0 w 316"/>
                    <a:gd name="T65" fmla="*/ 0 h 317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16"/>
                    <a:gd name="T100" fmla="*/ 0 h 317"/>
                    <a:gd name="T101" fmla="*/ 316 w 316"/>
                    <a:gd name="T102" fmla="*/ 317 h 317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16" h="317">
                      <a:moveTo>
                        <a:pt x="152" y="34"/>
                      </a:moveTo>
                      <a:lnTo>
                        <a:pt x="185" y="38"/>
                      </a:lnTo>
                      <a:lnTo>
                        <a:pt x="221" y="9"/>
                      </a:lnTo>
                      <a:lnTo>
                        <a:pt x="248" y="24"/>
                      </a:lnTo>
                      <a:lnTo>
                        <a:pt x="240" y="68"/>
                      </a:lnTo>
                      <a:lnTo>
                        <a:pt x="260" y="92"/>
                      </a:lnTo>
                      <a:lnTo>
                        <a:pt x="307" y="96"/>
                      </a:lnTo>
                      <a:lnTo>
                        <a:pt x="316" y="126"/>
                      </a:lnTo>
                      <a:lnTo>
                        <a:pt x="283" y="157"/>
                      </a:lnTo>
                      <a:lnTo>
                        <a:pt x="280" y="189"/>
                      </a:lnTo>
                      <a:lnTo>
                        <a:pt x="307" y="221"/>
                      </a:lnTo>
                      <a:lnTo>
                        <a:pt x="292" y="249"/>
                      </a:lnTo>
                      <a:lnTo>
                        <a:pt x="247" y="243"/>
                      </a:lnTo>
                      <a:lnTo>
                        <a:pt x="223" y="262"/>
                      </a:lnTo>
                      <a:lnTo>
                        <a:pt x="221" y="308"/>
                      </a:lnTo>
                      <a:lnTo>
                        <a:pt x="191" y="317"/>
                      </a:lnTo>
                      <a:lnTo>
                        <a:pt x="162" y="282"/>
                      </a:lnTo>
                      <a:lnTo>
                        <a:pt x="130" y="279"/>
                      </a:lnTo>
                      <a:lnTo>
                        <a:pt x="95" y="308"/>
                      </a:lnTo>
                      <a:lnTo>
                        <a:pt x="69" y="293"/>
                      </a:lnTo>
                      <a:lnTo>
                        <a:pt x="69" y="240"/>
                      </a:lnTo>
                      <a:lnTo>
                        <a:pt x="49" y="216"/>
                      </a:lnTo>
                      <a:lnTo>
                        <a:pt x="9" y="221"/>
                      </a:lnTo>
                      <a:lnTo>
                        <a:pt x="0" y="191"/>
                      </a:lnTo>
                      <a:lnTo>
                        <a:pt x="34" y="159"/>
                      </a:lnTo>
                      <a:lnTo>
                        <a:pt x="39" y="127"/>
                      </a:lnTo>
                      <a:lnTo>
                        <a:pt x="9" y="96"/>
                      </a:lnTo>
                      <a:lnTo>
                        <a:pt x="24" y="68"/>
                      </a:lnTo>
                      <a:lnTo>
                        <a:pt x="64" y="80"/>
                      </a:lnTo>
                      <a:lnTo>
                        <a:pt x="87" y="59"/>
                      </a:lnTo>
                      <a:lnTo>
                        <a:pt x="95" y="9"/>
                      </a:lnTo>
                      <a:lnTo>
                        <a:pt x="125" y="0"/>
                      </a:lnTo>
                      <a:lnTo>
                        <a:pt x="152" y="3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49" name="Freeform 96"/>
                <p:cNvSpPr>
                  <a:spLocks noChangeAspect="1"/>
                </p:cNvSpPr>
                <p:nvPr/>
              </p:nvSpPr>
              <p:spPr bwMode="auto">
                <a:xfrm>
                  <a:off x="8279" y="13278"/>
                  <a:ext cx="32" cy="30"/>
                </a:xfrm>
                <a:custGeom>
                  <a:avLst/>
                  <a:gdLst>
                    <a:gd name="T0" fmla="*/ 0 w 70"/>
                    <a:gd name="T1" fmla="*/ 0 h 69"/>
                    <a:gd name="T2" fmla="*/ 0 w 70"/>
                    <a:gd name="T3" fmla="*/ 0 h 69"/>
                    <a:gd name="T4" fmla="*/ 0 w 70"/>
                    <a:gd name="T5" fmla="*/ 0 h 69"/>
                    <a:gd name="T6" fmla="*/ 0 w 70"/>
                    <a:gd name="T7" fmla="*/ 0 h 69"/>
                    <a:gd name="T8" fmla="*/ 0 w 70"/>
                    <a:gd name="T9" fmla="*/ 0 h 69"/>
                    <a:gd name="T10" fmla="*/ 0 w 70"/>
                    <a:gd name="T11" fmla="*/ 0 h 69"/>
                    <a:gd name="T12" fmla="*/ 0 w 70"/>
                    <a:gd name="T13" fmla="*/ 0 h 69"/>
                    <a:gd name="T14" fmla="*/ 0 w 70"/>
                    <a:gd name="T15" fmla="*/ 0 h 69"/>
                    <a:gd name="T16" fmla="*/ 0 w 70"/>
                    <a:gd name="T17" fmla="*/ 0 h 69"/>
                    <a:gd name="T18" fmla="*/ 0 w 70"/>
                    <a:gd name="T19" fmla="*/ 0 h 69"/>
                    <a:gd name="T20" fmla="*/ 0 w 70"/>
                    <a:gd name="T21" fmla="*/ 0 h 69"/>
                    <a:gd name="T22" fmla="*/ 0 w 70"/>
                    <a:gd name="T23" fmla="*/ 0 h 69"/>
                    <a:gd name="T24" fmla="*/ 0 w 70"/>
                    <a:gd name="T25" fmla="*/ 0 h 69"/>
                    <a:gd name="T26" fmla="*/ 0 w 70"/>
                    <a:gd name="T27" fmla="*/ 0 h 69"/>
                    <a:gd name="T28" fmla="*/ 0 w 70"/>
                    <a:gd name="T29" fmla="*/ 0 h 69"/>
                    <a:gd name="T30" fmla="*/ 0 w 70"/>
                    <a:gd name="T31" fmla="*/ 0 h 69"/>
                    <a:gd name="T32" fmla="*/ 0 w 70"/>
                    <a:gd name="T33" fmla="*/ 0 h 69"/>
                    <a:gd name="T34" fmla="*/ 0 w 70"/>
                    <a:gd name="T35" fmla="*/ 0 h 69"/>
                    <a:gd name="T36" fmla="*/ 0 w 70"/>
                    <a:gd name="T37" fmla="*/ 0 h 69"/>
                    <a:gd name="T38" fmla="*/ 0 w 70"/>
                    <a:gd name="T39" fmla="*/ 0 h 69"/>
                    <a:gd name="T40" fmla="*/ 0 w 70"/>
                    <a:gd name="T41" fmla="*/ 0 h 69"/>
                    <a:gd name="T42" fmla="*/ 0 w 70"/>
                    <a:gd name="T43" fmla="*/ 0 h 69"/>
                    <a:gd name="T44" fmla="*/ 0 w 70"/>
                    <a:gd name="T45" fmla="*/ 0 h 69"/>
                    <a:gd name="T46" fmla="*/ 0 w 70"/>
                    <a:gd name="T47" fmla="*/ 0 h 69"/>
                    <a:gd name="T48" fmla="*/ 0 w 70"/>
                    <a:gd name="T49" fmla="*/ 0 h 69"/>
                    <a:gd name="T50" fmla="*/ 0 w 70"/>
                    <a:gd name="T51" fmla="*/ 0 h 69"/>
                    <a:gd name="T52" fmla="*/ 0 w 70"/>
                    <a:gd name="T53" fmla="*/ 0 h 69"/>
                    <a:gd name="T54" fmla="*/ 0 w 70"/>
                    <a:gd name="T55" fmla="*/ 0 h 69"/>
                    <a:gd name="T56" fmla="*/ 0 w 70"/>
                    <a:gd name="T57" fmla="*/ 0 h 69"/>
                    <a:gd name="T58" fmla="*/ 0 w 70"/>
                    <a:gd name="T59" fmla="*/ 0 h 69"/>
                    <a:gd name="T60" fmla="*/ 0 w 70"/>
                    <a:gd name="T61" fmla="*/ 0 h 69"/>
                    <a:gd name="T62" fmla="*/ 0 w 70"/>
                    <a:gd name="T63" fmla="*/ 0 h 69"/>
                    <a:gd name="T64" fmla="*/ 0 w 70"/>
                    <a:gd name="T65" fmla="*/ 0 h 69"/>
                    <a:gd name="T66" fmla="*/ 0 w 70"/>
                    <a:gd name="T67" fmla="*/ 0 h 69"/>
                    <a:gd name="T68" fmla="*/ 0 w 70"/>
                    <a:gd name="T69" fmla="*/ 0 h 69"/>
                    <a:gd name="T70" fmla="*/ 0 w 70"/>
                    <a:gd name="T71" fmla="*/ 0 h 69"/>
                    <a:gd name="T72" fmla="*/ 0 w 70"/>
                    <a:gd name="T73" fmla="*/ 0 h 6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70"/>
                    <a:gd name="T112" fmla="*/ 0 h 69"/>
                    <a:gd name="T113" fmla="*/ 70 w 70"/>
                    <a:gd name="T114" fmla="*/ 69 h 69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70" h="69">
                      <a:moveTo>
                        <a:pt x="18" y="3"/>
                      </a:moveTo>
                      <a:lnTo>
                        <a:pt x="18" y="3"/>
                      </a:lnTo>
                      <a:lnTo>
                        <a:pt x="25" y="1"/>
                      </a:lnTo>
                      <a:lnTo>
                        <a:pt x="32" y="0"/>
                      </a:lnTo>
                      <a:lnTo>
                        <a:pt x="38" y="0"/>
                      </a:lnTo>
                      <a:lnTo>
                        <a:pt x="44" y="1"/>
                      </a:lnTo>
                      <a:lnTo>
                        <a:pt x="50" y="3"/>
                      </a:lnTo>
                      <a:lnTo>
                        <a:pt x="56" y="7"/>
                      </a:lnTo>
                      <a:lnTo>
                        <a:pt x="62" y="11"/>
                      </a:lnTo>
                      <a:lnTo>
                        <a:pt x="65" y="17"/>
                      </a:lnTo>
                      <a:lnTo>
                        <a:pt x="68" y="24"/>
                      </a:lnTo>
                      <a:lnTo>
                        <a:pt x="70" y="31"/>
                      </a:lnTo>
                      <a:lnTo>
                        <a:pt x="70" y="38"/>
                      </a:lnTo>
                      <a:lnTo>
                        <a:pt x="69" y="44"/>
                      </a:lnTo>
                      <a:lnTo>
                        <a:pt x="65" y="51"/>
                      </a:lnTo>
                      <a:lnTo>
                        <a:pt x="62" y="56"/>
                      </a:lnTo>
                      <a:lnTo>
                        <a:pt x="57" y="61"/>
                      </a:lnTo>
                      <a:lnTo>
                        <a:pt x="51" y="66"/>
                      </a:lnTo>
                      <a:lnTo>
                        <a:pt x="44" y="68"/>
                      </a:lnTo>
                      <a:lnTo>
                        <a:pt x="38" y="69"/>
                      </a:lnTo>
                      <a:lnTo>
                        <a:pt x="31" y="69"/>
                      </a:lnTo>
                      <a:lnTo>
                        <a:pt x="25" y="68"/>
                      </a:lnTo>
                      <a:lnTo>
                        <a:pt x="18" y="64"/>
                      </a:lnTo>
                      <a:lnTo>
                        <a:pt x="12" y="61"/>
                      </a:lnTo>
                      <a:lnTo>
                        <a:pt x="8" y="56"/>
                      </a:lnTo>
                      <a:lnTo>
                        <a:pt x="4" y="51"/>
                      </a:lnTo>
                      <a:lnTo>
                        <a:pt x="2" y="44"/>
                      </a:lnTo>
                      <a:lnTo>
                        <a:pt x="0" y="37"/>
                      </a:lnTo>
                      <a:lnTo>
                        <a:pt x="0" y="31"/>
                      </a:lnTo>
                      <a:lnTo>
                        <a:pt x="1" y="24"/>
                      </a:lnTo>
                      <a:lnTo>
                        <a:pt x="4" y="18"/>
                      </a:lnTo>
                      <a:lnTo>
                        <a:pt x="8" y="13"/>
                      </a:lnTo>
                      <a:lnTo>
                        <a:pt x="12" y="7"/>
                      </a:lnTo>
                      <a:lnTo>
                        <a:pt x="18" y="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0" name="Freeform 97"/>
                <p:cNvSpPr>
                  <a:spLocks noChangeAspect="1"/>
                </p:cNvSpPr>
                <p:nvPr/>
              </p:nvSpPr>
              <p:spPr bwMode="auto">
                <a:xfrm>
                  <a:off x="8222" y="13221"/>
                  <a:ext cx="145" cy="144"/>
                </a:xfrm>
                <a:custGeom>
                  <a:avLst/>
                  <a:gdLst>
                    <a:gd name="T0" fmla="*/ 0 w 321"/>
                    <a:gd name="T1" fmla="*/ 0 h 321"/>
                    <a:gd name="T2" fmla="*/ 0 w 321"/>
                    <a:gd name="T3" fmla="*/ 0 h 321"/>
                    <a:gd name="T4" fmla="*/ 0 w 321"/>
                    <a:gd name="T5" fmla="*/ 0 h 321"/>
                    <a:gd name="T6" fmla="*/ 0 w 321"/>
                    <a:gd name="T7" fmla="*/ 0 h 321"/>
                    <a:gd name="T8" fmla="*/ 0 w 321"/>
                    <a:gd name="T9" fmla="*/ 0 h 321"/>
                    <a:gd name="T10" fmla="*/ 0 w 321"/>
                    <a:gd name="T11" fmla="*/ 0 h 321"/>
                    <a:gd name="T12" fmla="*/ 0 w 321"/>
                    <a:gd name="T13" fmla="*/ 0 h 321"/>
                    <a:gd name="T14" fmla="*/ 0 w 321"/>
                    <a:gd name="T15" fmla="*/ 0 h 321"/>
                    <a:gd name="T16" fmla="*/ 0 w 321"/>
                    <a:gd name="T17" fmla="*/ 0 h 321"/>
                    <a:gd name="T18" fmla="*/ 0 w 321"/>
                    <a:gd name="T19" fmla="*/ 0 h 321"/>
                    <a:gd name="T20" fmla="*/ 0 w 321"/>
                    <a:gd name="T21" fmla="*/ 0 h 321"/>
                    <a:gd name="T22" fmla="*/ 0 w 321"/>
                    <a:gd name="T23" fmla="*/ 0 h 321"/>
                    <a:gd name="T24" fmla="*/ 0 w 321"/>
                    <a:gd name="T25" fmla="*/ 0 h 321"/>
                    <a:gd name="T26" fmla="*/ 0 w 321"/>
                    <a:gd name="T27" fmla="*/ 0 h 321"/>
                    <a:gd name="T28" fmla="*/ 0 w 321"/>
                    <a:gd name="T29" fmla="*/ 0 h 321"/>
                    <a:gd name="T30" fmla="*/ 0 w 321"/>
                    <a:gd name="T31" fmla="*/ 0 h 321"/>
                    <a:gd name="T32" fmla="*/ 0 w 321"/>
                    <a:gd name="T33" fmla="*/ 0 h 321"/>
                    <a:gd name="T34" fmla="*/ 0 w 321"/>
                    <a:gd name="T35" fmla="*/ 0 h 321"/>
                    <a:gd name="T36" fmla="*/ 0 w 321"/>
                    <a:gd name="T37" fmla="*/ 0 h 321"/>
                    <a:gd name="T38" fmla="*/ 0 w 321"/>
                    <a:gd name="T39" fmla="*/ 0 h 321"/>
                    <a:gd name="T40" fmla="*/ 0 w 321"/>
                    <a:gd name="T41" fmla="*/ 0 h 321"/>
                    <a:gd name="T42" fmla="*/ 0 w 321"/>
                    <a:gd name="T43" fmla="*/ 0 h 321"/>
                    <a:gd name="T44" fmla="*/ 0 w 321"/>
                    <a:gd name="T45" fmla="*/ 0 h 321"/>
                    <a:gd name="T46" fmla="*/ 0 w 321"/>
                    <a:gd name="T47" fmla="*/ 0 h 321"/>
                    <a:gd name="T48" fmla="*/ 0 w 321"/>
                    <a:gd name="T49" fmla="*/ 0 h 321"/>
                    <a:gd name="T50" fmla="*/ 0 w 321"/>
                    <a:gd name="T51" fmla="*/ 0 h 321"/>
                    <a:gd name="T52" fmla="*/ 0 w 321"/>
                    <a:gd name="T53" fmla="*/ 0 h 321"/>
                    <a:gd name="T54" fmla="*/ 0 w 321"/>
                    <a:gd name="T55" fmla="*/ 0 h 321"/>
                    <a:gd name="T56" fmla="*/ 0 w 321"/>
                    <a:gd name="T57" fmla="*/ 0 h 321"/>
                    <a:gd name="T58" fmla="*/ 0 w 321"/>
                    <a:gd name="T59" fmla="*/ 0 h 321"/>
                    <a:gd name="T60" fmla="*/ 0 w 321"/>
                    <a:gd name="T61" fmla="*/ 0 h 321"/>
                    <a:gd name="T62" fmla="*/ 0 w 321"/>
                    <a:gd name="T63" fmla="*/ 0 h 321"/>
                    <a:gd name="T64" fmla="*/ 0 w 321"/>
                    <a:gd name="T65" fmla="*/ 0 h 3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21"/>
                    <a:gd name="T100" fmla="*/ 0 h 321"/>
                    <a:gd name="T101" fmla="*/ 321 w 321"/>
                    <a:gd name="T102" fmla="*/ 321 h 32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21" h="321">
                      <a:moveTo>
                        <a:pt x="96" y="53"/>
                      </a:moveTo>
                      <a:lnTo>
                        <a:pt x="126" y="41"/>
                      </a:lnTo>
                      <a:lnTo>
                        <a:pt x="145" y="0"/>
                      </a:lnTo>
                      <a:lnTo>
                        <a:pt x="176" y="0"/>
                      </a:lnTo>
                      <a:lnTo>
                        <a:pt x="189" y="41"/>
                      </a:lnTo>
                      <a:lnTo>
                        <a:pt x="218" y="53"/>
                      </a:lnTo>
                      <a:lnTo>
                        <a:pt x="261" y="34"/>
                      </a:lnTo>
                      <a:lnTo>
                        <a:pt x="285" y="56"/>
                      </a:lnTo>
                      <a:lnTo>
                        <a:pt x="268" y="98"/>
                      </a:lnTo>
                      <a:lnTo>
                        <a:pt x="281" y="129"/>
                      </a:lnTo>
                      <a:lnTo>
                        <a:pt x="321" y="144"/>
                      </a:lnTo>
                      <a:lnTo>
                        <a:pt x="321" y="175"/>
                      </a:lnTo>
                      <a:lnTo>
                        <a:pt x="279" y="192"/>
                      </a:lnTo>
                      <a:lnTo>
                        <a:pt x="266" y="219"/>
                      </a:lnTo>
                      <a:lnTo>
                        <a:pt x="287" y="261"/>
                      </a:lnTo>
                      <a:lnTo>
                        <a:pt x="264" y="284"/>
                      </a:lnTo>
                      <a:lnTo>
                        <a:pt x="222" y="268"/>
                      </a:lnTo>
                      <a:lnTo>
                        <a:pt x="192" y="279"/>
                      </a:lnTo>
                      <a:lnTo>
                        <a:pt x="176" y="321"/>
                      </a:lnTo>
                      <a:lnTo>
                        <a:pt x="145" y="321"/>
                      </a:lnTo>
                      <a:lnTo>
                        <a:pt x="121" y="274"/>
                      </a:lnTo>
                      <a:lnTo>
                        <a:pt x="92" y="262"/>
                      </a:lnTo>
                      <a:lnTo>
                        <a:pt x="61" y="285"/>
                      </a:lnTo>
                      <a:lnTo>
                        <a:pt x="37" y="263"/>
                      </a:lnTo>
                      <a:lnTo>
                        <a:pt x="53" y="218"/>
                      </a:lnTo>
                      <a:lnTo>
                        <a:pt x="40" y="189"/>
                      </a:lnTo>
                      <a:lnTo>
                        <a:pt x="0" y="175"/>
                      </a:lnTo>
                      <a:lnTo>
                        <a:pt x="0" y="143"/>
                      </a:lnTo>
                      <a:lnTo>
                        <a:pt x="40" y="134"/>
                      </a:lnTo>
                      <a:lnTo>
                        <a:pt x="51" y="105"/>
                      </a:lnTo>
                      <a:lnTo>
                        <a:pt x="35" y="59"/>
                      </a:lnTo>
                      <a:lnTo>
                        <a:pt x="56" y="37"/>
                      </a:lnTo>
                      <a:lnTo>
                        <a:pt x="96" y="5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1" name="Text Box 9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8049" y="13361"/>
                  <a:ext cx="938" cy="2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6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rPr>
                    <a:t>Electroplating</a:t>
                  </a:r>
                </a:p>
              </p:txBody>
            </p:sp>
          </p:grpSp>
        </p:grpSp>
      </p:grpSp>
      <p:grpSp>
        <p:nvGrpSpPr>
          <p:cNvPr id="39945" name="Group 99"/>
          <p:cNvGrpSpPr>
            <a:grpSpLocks noChangeAspect="1"/>
          </p:cNvGrpSpPr>
          <p:nvPr/>
        </p:nvGrpSpPr>
        <p:grpSpPr bwMode="auto">
          <a:xfrm>
            <a:off x="7121528" y="5329238"/>
            <a:ext cx="460375" cy="463550"/>
            <a:chOff x="7081" y="17489"/>
            <a:chExt cx="322" cy="325"/>
          </a:xfrm>
        </p:grpSpPr>
        <p:sp>
          <p:nvSpPr>
            <p:cNvPr id="40031" name="Freeform 100"/>
            <p:cNvSpPr>
              <a:spLocks noChangeAspect="1"/>
            </p:cNvSpPr>
            <p:nvPr/>
          </p:nvSpPr>
          <p:spPr bwMode="auto">
            <a:xfrm>
              <a:off x="7274" y="17489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Freeform 101"/>
            <p:cNvSpPr>
              <a:spLocks noChangeAspect="1"/>
            </p:cNvSpPr>
            <p:nvPr/>
          </p:nvSpPr>
          <p:spPr bwMode="auto">
            <a:xfrm>
              <a:off x="7274" y="17489"/>
              <a:ext cx="66" cy="259"/>
            </a:xfrm>
            <a:custGeom>
              <a:avLst/>
              <a:gdLst>
                <a:gd name="T0" fmla="*/ 0 w 145"/>
                <a:gd name="T1" fmla="*/ 0 h 576"/>
                <a:gd name="T2" fmla="*/ 0 w 145"/>
                <a:gd name="T3" fmla="*/ 0 h 576"/>
                <a:gd name="T4" fmla="*/ 0 w 145"/>
                <a:gd name="T5" fmla="*/ 0 h 576"/>
                <a:gd name="T6" fmla="*/ 0 w 145"/>
                <a:gd name="T7" fmla="*/ 0 h 576"/>
                <a:gd name="T8" fmla="*/ 0 w 14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576"/>
                <a:gd name="T17" fmla="*/ 145 w 145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576">
                  <a:moveTo>
                    <a:pt x="0" y="0"/>
                  </a:moveTo>
                  <a:lnTo>
                    <a:pt x="145" y="146"/>
                  </a:lnTo>
                  <a:lnTo>
                    <a:pt x="145" y="576"/>
                  </a:lnTo>
                  <a:lnTo>
                    <a:pt x="0" y="434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3" name="Freeform 102"/>
            <p:cNvSpPr>
              <a:spLocks noChangeAspect="1"/>
            </p:cNvSpPr>
            <p:nvPr/>
          </p:nvSpPr>
          <p:spPr bwMode="auto">
            <a:xfrm>
              <a:off x="7081" y="17684"/>
              <a:ext cx="322" cy="130"/>
            </a:xfrm>
            <a:custGeom>
              <a:avLst/>
              <a:gdLst>
                <a:gd name="T0" fmla="*/ 0 w 718"/>
                <a:gd name="T1" fmla="*/ 0 h 288"/>
                <a:gd name="T2" fmla="*/ 0 w 718"/>
                <a:gd name="T3" fmla="*/ 0 h 288"/>
                <a:gd name="T4" fmla="*/ 0 w 718"/>
                <a:gd name="T5" fmla="*/ 0 h 288"/>
                <a:gd name="T6" fmla="*/ 0 w 718"/>
                <a:gd name="T7" fmla="*/ 0 h 288"/>
                <a:gd name="T8" fmla="*/ 0 w 718"/>
                <a:gd name="T9" fmla="*/ 0 h 288"/>
                <a:gd name="T10" fmla="*/ 0 w 718"/>
                <a:gd name="T11" fmla="*/ 0 h 288"/>
                <a:gd name="T12" fmla="*/ 0 w 718"/>
                <a:gd name="T13" fmla="*/ 0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8"/>
                <a:gd name="T22" fmla="*/ 0 h 288"/>
                <a:gd name="T23" fmla="*/ 718 w 718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8" h="288">
                  <a:moveTo>
                    <a:pt x="575" y="0"/>
                  </a:moveTo>
                  <a:lnTo>
                    <a:pt x="718" y="142"/>
                  </a:lnTo>
                  <a:lnTo>
                    <a:pt x="430" y="288"/>
                  </a:lnTo>
                  <a:lnTo>
                    <a:pt x="142" y="142"/>
                  </a:lnTo>
                  <a:lnTo>
                    <a:pt x="0" y="0"/>
                  </a:lnTo>
                  <a:lnTo>
                    <a:pt x="287" y="142"/>
                  </a:lnTo>
                  <a:lnTo>
                    <a:pt x="57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4" name="Freeform 103"/>
            <p:cNvSpPr>
              <a:spLocks noChangeAspect="1"/>
            </p:cNvSpPr>
            <p:nvPr/>
          </p:nvSpPr>
          <p:spPr bwMode="auto">
            <a:xfrm>
              <a:off x="7081" y="17684"/>
              <a:ext cx="322" cy="130"/>
            </a:xfrm>
            <a:custGeom>
              <a:avLst/>
              <a:gdLst>
                <a:gd name="T0" fmla="*/ 0 w 718"/>
                <a:gd name="T1" fmla="*/ 0 h 288"/>
                <a:gd name="T2" fmla="*/ 0 w 718"/>
                <a:gd name="T3" fmla="*/ 0 h 288"/>
                <a:gd name="T4" fmla="*/ 0 w 718"/>
                <a:gd name="T5" fmla="*/ 0 h 288"/>
                <a:gd name="T6" fmla="*/ 0 w 718"/>
                <a:gd name="T7" fmla="*/ 0 h 288"/>
                <a:gd name="T8" fmla="*/ 0 w 718"/>
                <a:gd name="T9" fmla="*/ 0 h 288"/>
                <a:gd name="T10" fmla="*/ 0 w 718"/>
                <a:gd name="T11" fmla="*/ 0 h 288"/>
                <a:gd name="T12" fmla="*/ 0 w 718"/>
                <a:gd name="T13" fmla="*/ 0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8"/>
                <a:gd name="T22" fmla="*/ 0 h 288"/>
                <a:gd name="T23" fmla="*/ 718 w 718"/>
                <a:gd name="T24" fmla="*/ 288 h 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8" h="288">
                  <a:moveTo>
                    <a:pt x="575" y="0"/>
                  </a:moveTo>
                  <a:lnTo>
                    <a:pt x="718" y="142"/>
                  </a:lnTo>
                  <a:lnTo>
                    <a:pt x="430" y="288"/>
                  </a:lnTo>
                  <a:lnTo>
                    <a:pt x="142" y="142"/>
                  </a:lnTo>
                  <a:lnTo>
                    <a:pt x="0" y="0"/>
                  </a:lnTo>
                  <a:lnTo>
                    <a:pt x="287" y="142"/>
                  </a:lnTo>
                  <a:lnTo>
                    <a:pt x="57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5" name="Line 104"/>
            <p:cNvSpPr>
              <a:spLocks noChangeAspect="1" noChangeShapeType="1"/>
            </p:cNvSpPr>
            <p:nvPr/>
          </p:nvSpPr>
          <p:spPr bwMode="auto">
            <a:xfrm>
              <a:off x="7210" y="17748"/>
              <a:ext cx="64" cy="6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6" name="Freeform 105"/>
            <p:cNvSpPr>
              <a:spLocks noChangeAspect="1"/>
            </p:cNvSpPr>
            <p:nvPr/>
          </p:nvSpPr>
          <p:spPr bwMode="auto">
            <a:xfrm>
              <a:off x="7081" y="17489"/>
              <a:ext cx="259" cy="259"/>
            </a:xfrm>
            <a:custGeom>
              <a:avLst/>
              <a:gdLst>
                <a:gd name="T0" fmla="*/ 0 w 575"/>
                <a:gd name="T1" fmla="*/ 0 h 576"/>
                <a:gd name="T2" fmla="*/ 0 w 575"/>
                <a:gd name="T3" fmla="*/ 0 h 576"/>
                <a:gd name="T4" fmla="*/ 0 w 575"/>
                <a:gd name="T5" fmla="*/ 0 h 576"/>
                <a:gd name="T6" fmla="*/ 0 w 575"/>
                <a:gd name="T7" fmla="*/ 0 h 576"/>
                <a:gd name="T8" fmla="*/ 0 w 575"/>
                <a:gd name="T9" fmla="*/ 0 h 576"/>
                <a:gd name="T10" fmla="*/ 0 w 575"/>
                <a:gd name="T11" fmla="*/ 0 h 576"/>
                <a:gd name="T12" fmla="*/ 0 w 575"/>
                <a:gd name="T13" fmla="*/ 0 h 576"/>
                <a:gd name="T14" fmla="*/ 0 w 575"/>
                <a:gd name="T15" fmla="*/ 0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5"/>
                <a:gd name="T25" fmla="*/ 0 h 576"/>
                <a:gd name="T26" fmla="*/ 575 w 575"/>
                <a:gd name="T27" fmla="*/ 576 h 5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5" h="576">
                  <a:moveTo>
                    <a:pt x="142" y="0"/>
                  </a:moveTo>
                  <a:lnTo>
                    <a:pt x="430" y="0"/>
                  </a:lnTo>
                  <a:lnTo>
                    <a:pt x="430" y="434"/>
                  </a:lnTo>
                  <a:lnTo>
                    <a:pt x="575" y="434"/>
                  </a:lnTo>
                  <a:lnTo>
                    <a:pt x="287" y="576"/>
                  </a:lnTo>
                  <a:lnTo>
                    <a:pt x="0" y="434"/>
                  </a:lnTo>
                  <a:lnTo>
                    <a:pt x="142" y="43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7" name="Freeform 106"/>
            <p:cNvSpPr>
              <a:spLocks noChangeAspect="1"/>
            </p:cNvSpPr>
            <p:nvPr/>
          </p:nvSpPr>
          <p:spPr bwMode="auto">
            <a:xfrm>
              <a:off x="7081" y="17489"/>
              <a:ext cx="259" cy="259"/>
            </a:xfrm>
            <a:custGeom>
              <a:avLst/>
              <a:gdLst>
                <a:gd name="T0" fmla="*/ 0 w 575"/>
                <a:gd name="T1" fmla="*/ 0 h 576"/>
                <a:gd name="T2" fmla="*/ 0 w 575"/>
                <a:gd name="T3" fmla="*/ 0 h 576"/>
                <a:gd name="T4" fmla="*/ 0 w 575"/>
                <a:gd name="T5" fmla="*/ 0 h 576"/>
                <a:gd name="T6" fmla="*/ 0 w 575"/>
                <a:gd name="T7" fmla="*/ 0 h 576"/>
                <a:gd name="T8" fmla="*/ 0 w 575"/>
                <a:gd name="T9" fmla="*/ 0 h 576"/>
                <a:gd name="T10" fmla="*/ 0 w 575"/>
                <a:gd name="T11" fmla="*/ 0 h 576"/>
                <a:gd name="T12" fmla="*/ 0 w 575"/>
                <a:gd name="T13" fmla="*/ 0 h 576"/>
                <a:gd name="T14" fmla="*/ 0 w 575"/>
                <a:gd name="T15" fmla="*/ 0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5"/>
                <a:gd name="T25" fmla="*/ 0 h 576"/>
                <a:gd name="T26" fmla="*/ 575 w 575"/>
                <a:gd name="T27" fmla="*/ 576 h 5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5" h="576">
                  <a:moveTo>
                    <a:pt x="142" y="0"/>
                  </a:moveTo>
                  <a:lnTo>
                    <a:pt x="430" y="0"/>
                  </a:lnTo>
                  <a:lnTo>
                    <a:pt x="430" y="434"/>
                  </a:lnTo>
                  <a:lnTo>
                    <a:pt x="575" y="434"/>
                  </a:lnTo>
                  <a:lnTo>
                    <a:pt x="287" y="576"/>
                  </a:lnTo>
                  <a:lnTo>
                    <a:pt x="0" y="434"/>
                  </a:lnTo>
                  <a:lnTo>
                    <a:pt x="142" y="434"/>
                  </a:lnTo>
                  <a:lnTo>
                    <a:pt x="1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6" name="Group 107"/>
          <p:cNvGrpSpPr>
            <a:grpSpLocks noChangeAspect="1"/>
          </p:cNvGrpSpPr>
          <p:nvPr/>
        </p:nvGrpSpPr>
        <p:grpSpPr bwMode="auto">
          <a:xfrm>
            <a:off x="6564313" y="5946778"/>
            <a:ext cx="1573212" cy="835025"/>
            <a:chOff x="6733" y="17876"/>
            <a:chExt cx="1101" cy="584"/>
          </a:xfrm>
        </p:grpSpPr>
        <p:sp>
          <p:nvSpPr>
            <p:cNvPr id="40022" name="Freeform 108"/>
            <p:cNvSpPr>
              <a:spLocks noChangeAspect="1"/>
            </p:cNvSpPr>
            <p:nvPr/>
          </p:nvSpPr>
          <p:spPr bwMode="auto">
            <a:xfrm>
              <a:off x="6733" y="18394"/>
              <a:ext cx="1101" cy="66"/>
            </a:xfrm>
            <a:custGeom>
              <a:avLst/>
              <a:gdLst>
                <a:gd name="T0" fmla="*/ 0 w 2450"/>
                <a:gd name="T1" fmla="*/ 0 h 146"/>
                <a:gd name="T2" fmla="*/ 0 w 2450"/>
                <a:gd name="T3" fmla="*/ 0 h 146"/>
                <a:gd name="T4" fmla="*/ 0 w 2450"/>
                <a:gd name="T5" fmla="*/ 0 h 146"/>
                <a:gd name="T6" fmla="*/ 0 w 2450"/>
                <a:gd name="T7" fmla="*/ 0 h 146"/>
                <a:gd name="T8" fmla="*/ 0 w 2450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6"/>
                <a:gd name="T17" fmla="*/ 2450 w 2450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6">
                  <a:moveTo>
                    <a:pt x="2303" y="0"/>
                  </a:moveTo>
                  <a:lnTo>
                    <a:pt x="0" y="0"/>
                  </a:lnTo>
                  <a:lnTo>
                    <a:pt x="146" y="146"/>
                  </a:lnTo>
                  <a:lnTo>
                    <a:pt x="2450" y="146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3" name="Freeform 109"/>
            <p:cNvSpPr>
              <a:spLocks noChangeAspect="1"/>
            </p:cNvSpPr>
            <p:nvPr/>
          </p:nvSpPr>
          <p:spPr bwMode="auto">
            <a:xfrm>
              <a:off x="6733" y="18394"/>
              <a:ext cx="1101" cy="66"/>
            </a:xfrm>
            <a:custGeom>
              <a:avLst/>
              <a:gdLst>
                <a:gd name="T0" fmla="*/ 0 w 2450"/>
                <a:gd name="T1" fmla="*/ 0 h 146"/>
                <a:gd name="T2" fmla="*/ 0 w 2450"/>
                <a:gd name="T3" fmla="*/ 0 h 146"/>
                <a:gd name="T4" fmla="*/ 0 w 2450"/>
                <a:gd name="T5" fmla="*/ 0 h 146"/>
                <a:gd name="T6" fmla="*/ 0 w 2450"/>
                <a:gd name="T7" fmla="*/ 0 h 146"/>
                <a:gd name="T8" fmla="*/ 0 w 2450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0"/>
                <a:gd name="T16" fmla="*/ 0 h 146"/>
                <a:gd name="T17" fmla="*/ 2450 w 2450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0" h="146">
                  <a:moveTo>
                    <a:pt x="2303" y="0"/>
                  </a:moveTo>
                  <a:lnTo>
                    <a:pt x="0" y="0"/>
                  </a:lnTo>
                  <a:lnTo>
                    <a:pt x="146" y="146"/>
                  </a:lnTo>
                  <a:lnTo>
                    <a:pt x="2450" y="146"/>
                  </a:lnTo>
                  <a:lnTo>
                    <a:pt x="230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4" name="Freeform 110"/>
            <p:cNvSpPr>
              <a:spLocks noChangeAspect="1"/>
            </p:cNvSpPr>
            <p:nvPr/>
          </p:nvSpPr>
          <p:spPr bwMode="auto">
            <a:xfrm>
              <a:off x="7768" y="17876"/>
              <a:ext cx="66" cy="584"/>
            </a:xfrm>
            <a:custGeom>
              <a:avLst/>
              <a:gdLst>
                <a:gd name="T0" fmla="*/ 0 w 147"/>
                <a:gd name="T1" fmla="*/ 0 h 1298"/>
                <a:gd name="T2" fmla="*/ 0 w 147"/>
                <a:gd name="T3" fmla="*/ 0 h 1298"/>
                <a:gd name="T4" fmla="*/ 0 w 147"/>
                <a:gd name="T5" fmla="*/ 0 h 1298"/>
                <a:gd name="T6" fmla="*/ 0 w 147"/>
                <a:gd name="T7" fmla="*/ 0 h 1298"/>
                <a:gd name="T8" fmla="*/ 0 w 147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8"/>
                <a:gd name="T17" fmla="*/ 147 w 147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8">
                  <a:moveTo>
                    <a:pt x="147" y="1298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6"/>
                  </a:lnTo>
                  <a:lnTo>
                    <a:pt x="147" y="1298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5" name="Freeform 111"/>
            <p:cNvSpPr>
              <a:spLocks noChangeAspect="1"/>
            </p:cNvSpPr>
            <p:nvPr/>
          </p:nvSpPr>
          <p:spPr bwMode="auto">
            <a:xfrm>
              <a:off x="7768" y="17876"/>
              <a:ext cx="66" cy="584"/>
            </a:xfrm>
            <a:custGeom>
              <a:avLst/>
              <a:gdLst>
                <a:gd name="T0" fmla="*/ 0 w 147"/>
                <a:gd name="T1" fmla="*/ 0 h 1298"/>
                <a:gd name="T2" fmla="*/ 0 w 147"/>
                <a:gd name="T3" fmla="*/ 0 h 1298"/>
                <a:gd name="T4" fmla="*/ 0 w 147"/>
                <a:gd name="T5" fmla="*/ 0 h 1298"/>
                <a:gd name="T6" fmla="*/ 0 w 147"/>
                <a:gd name="T7" fmla="*/ 0 h 1298"/>
                <a:gd name="T8" fmla="*/ 0 w 147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"/>
                <a:gd name="T16" fmla="*/ 0 h 1298"/>
                <a:gd name="T17" fmla="*/ 147 w 147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" h="1298">
                  <a:moveTo>
                    <a:pt x="147" y="1298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47" y="146"/>
                  </a:lnTo>
                  <a:lnTo>
                    <a:pt x="147" y="129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6" name="Rectangle 112"/>
            <p:cNvSpPr>
              <a:spLocks noChangeAspect="1" noChangeArrowheads="1"/>
            </p:cNvSpPr>
            <p:nvPr/>
          </p:nvSpPr>
          <p:spPr bwMode="auto">
            <a:xfrm>
              <a:off x="6733" y="17876"/>
              <a:ext cx="1035" cy="5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27" name="Rectangle 113"/>
            <p:cNvSpPr>
              <a:spLocks noChangeAspect="1" noChangeArrowheads="1"/>
            </p:cNvSpPr>
            <p:nvPr/>
          </p:nvSpPr>
          <p:spPr bwMode="auto">
            <a:xfrm>
              <a:off x="6733" y="17876"/>
              <a:ext cx="1035" cy="518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28" name="Text Box 114"/>
            <p:cNvSpPr txBox="1">
              <a:spLocks noChangeAspect="1" noChangeArrowheads="1"/>
            </p:cNvSpPr>
            <p:nvPr/>
          </p:nvSpPr>
          <p:spPr bwMode="auto">
            <a:xfrm>
              <a:off x="6949" y="18021"/>
              <a:ext cx="7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Res Kit</a:t>
              </a:r>
              <a:endPara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40029" name="Freeform 115"/>
            <p:cNvSpPr>
              <a:spLocks noChangeAspect="1"/>
            </p:cNvSpPr>
            <p:nvPr/>
          </p:nvSpPr>
          <p:spPr bwMode="auto">
            <a:xfrm>
              <a:off x="6783" y="17906"/>
              <a:ext cx="249" cy="251"/>
            </a:xfrm>
            <a:custGeom>
              <a:avLst/>
              <a:gdLst>
                <a:gd name="T0" fmla="*/ 100 w 249"/>
                <a:gd name="T1" fmla="*/ 170 h 251"/>
                <a:gd name="T2" fmla="*/ 108 w 249"/>
                <a:gd name="T3" fmla="*/ 125 h 251"/>
                <a:gd name="T4" fmla="*/ 96 w 249"/>
                <a:gd name="T5" fmla="*/ 113 h 251"/>
                <a:gd name="T6" fmla="*/ 82 w 249"/>
                <a:gd name="T7" fmla="*/ 94 h 251"/>
                <a:gd name="T8" fmla="*/ 76 w 249"/>
                <a:gd name="T9" fmla="*/ 68 h 251"/>
                <a:gd name="T10" fmla="*/ 87 w 249"/>
                <a:gd name="T11" fmla="*/ 25 h 251"/>
                <a:gd name="T12" fmla="*/ 134 w 249"/>
                <a:gd name="T13" fmla="*/ 1 h 251"/>
                <a:gd name="T14" fmla="*/ 165 w 249"/>
                <a:gd name="T15" fmla="*/ 31 h 251"/>
                <a:gd name="T16" fmla="*/ 171 w 249"/>
                <a:gd name="T17" fmla="*/ 70 h 251"/>
                <a:gd name="T18" fmla="*/ 165 w 249"/>
                <a:gd name="T19" fmla="*/ 91 h 251"/>
                <a:gd name="T20" fmla="*/ 158 w 249"/>
                <a:gd name="T21" fmla="*/ 109 h 251"/>
                <a:gd name="T22" fmla="*/ 142 w 249"/>
                <a:gd name="T23" fmla="*/ 122 h 251"/>
                <a:gd name="T24" fmla="*/ 147 w 249"/>
                <a:gd name="T25" fmla="*/ 171 h 251"/>
                <a:gd name="T26" fmla="*/ 249 w 249"/>
                <a:gd name="T27" fmla="*/ 171 h 251"/>
                <a:gd name="T28" fmla="*/ 249 w 249"/>
                <a:gd name="T29" fmla="*/ 249 h 251"/>
                <a:gd name="T30" fmla="*/ 202 w 249"/>
                <a:gd name="T31" fmla="*/ 251 h 251"/>
                <a:gd name="T32" fmla="*/ 202 w 249"/>
                <a:gd name="T33" fmla="*/ 233 h 251"/>
                <a:gd name="T34" fmla="*/ 156 w 249"/>
                <a:gd name="T35" fmla="*/ 233 h 251"/>
                <a:gd name="T36" fmla="*/ 156 w 249"/>
                <a:gd name="T37" fmla="*/ 250 h 251"/>
                <a:gd name="T38" fmla="*/ 129 w 249"/>
                <a:gd name="T39" fmla="*/ 251 h 251"/>
                <a:gd name="T40" fmla="*/ 129 w 249"/>
                <a:gd name="T41" fmla="*/ 235 h 251"/>
                <a:gd name="T42" fmla="*/ 106 w 249"/>
                <a:gd name="T43" fmla="*/ 235 h 251"/>
                <a:gd name="T44" fmla="*/ 106 w 249"/>
                <a:gd name="T45" fmla="*/ 251 h 251"/>
                <a:gd name="T46" fmla="*/ 76 w 249"/>
                <a:gd name="T47" fmla="*/ 251 h 251"/>
                <a:gd name="T48" fmla="*/ 76 w 249"/>
                <a:gd name="T49" fmla="*/ 233 h 251"/>
                <a:gd name="T50" fmla="*/ 27 w 249"/>
                <a:gd name="T51" fmla="*/ 233 h 251"/>
                <a:gd name="T52" fmla="*/ 27 w 249"/>
                <a:gd name="T53" fmla="*/ 250 h 251"/>
                <a:gd name="T54" fmla="*/ 0 w 249"/>
                <a:gd name="T55" fmla="*/ 251 h 251"/>
                <a:gd name="T56" fmla="*/ 0 w 249"/>
                <a:gd name="T57" fmla="*/ 171 h 251"/>
                <a:gd name="T58" fmla="*/ 100 w 249"/>
                <a:gd name="T59" fmla="*/ 170 h 25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49"/>
                <a:gd name="T91" fmla="*/ 0 h 251"/>
                <a:gd name="T92" fmla="*/ 249 w 249"/>
                <a:gd name="T93" fmla="*/ 251 h 25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49" h="251">
                  <a:moveTo>
                    <a:pt x="100" y="170"/>
                  </a:moveTo>
                  <a:cubicBezTo>
                    <a:pt x="114" y="163"/>
                    <a:pt x="111" y="138"/>
                    <a:pt x="108" y="125"/>
                  </a:cubicBezTo>
                  <a:cubicBezTo>
                    <a:pt x="107" y="116"/>
                    <a:pt x="100" y="118"/>
                    <a:pt x="96" y="113"/>
                  </a:cubicBezTo>
                  <a:cubicBezTo>
                    <a:pt x="92" y="108"/>
                    <a:pt x="85" y="101"/>
                    <a:pt x="82" y="94"/>
                  </a:cubicBezTo>
                  <a:cubicBezTo>
                    <a:pt x="76" y="82"/>
                    <a:pt x="80" y="84"/>
                    <a:pt x="76" y="68"/>
                  </a:cubicBezTo>
                  <a:cubicBezTo>
                    <a:pt x="76" y="57"/>
                    <a:pt x="76" y="36"/>
                    <a:pt x="87" y="25"/>
                  </a:cubicBezTo>
                  <a:cubicBezTo>
                    <a:pt x="100" y="2"/>
                    <a:pt x="113" y="0"/>
                    <a:pt x="134" y="1"/>
                  </a:cubicBezTo>
                  <a:cubicBezTo>
                    <a:pt x="145" y="6"/>
                    <a:pt x="159" y="25"/>
                    <a:pt x="165" y="31"/>
                  </a:cubicBezTo>
                  <a:cubicBezTo>
                    <a:pt x="170" y="50"/>
                    <a:pt x="170" y="53"/>
                    <a:pt x="171" y="70"/>
                  </a:cubicBezTo>
                  <a:cubicBezTo>
                    <a:pt x="170" y="81"/>
                    <a:pt x="167" y="85"/>
                    <a:pt x="165" y="91"/>
                  </a:cubicBezTo>
                  <a:cubicBezTo>
                    <a:pt x="163" y="97"/>
                    <a:pt x="160" y="106"/>
                    <a:pt x="158" y="109"/>
                  </a:cubicBezTo>
                  <a:cubicBezTo>
                    <a:pt x="153" y="116"/>
                    <a:pt x="153" y="116"/>
                    <a:pt x="142" y="122"/>
                  </a:cubicBezTo>
                  <a:cubicBezTo>
                    <a:pt x="141" y="134"/>
                    <a:pt x="130" y="161"/>
                    <a:pt x="147" y="171"/>
                  </a:cubicBezTo>
                  <a:lnTo>
                    <a:pt x="249" y="171"/>
                  </a:lnTo>
                  <a:lnTo>
                    <a:pt x="249" y="249"/>
                  </a:lnTo>
                  <a:lnTo>
                    <a:pt x="202" y="251"/>
                  </a:lnTo>
                  <a:lnTo>
                    <a:pt x="202" y="233"/>
                  </a:lnTo>
                  <a:lnTo>
                    <a:pt x="156" y="233"/>
                  </a:lnTo>
                  <a:lnTo>
                    <a:pt x="156" y="250"/>
                  </a:lnTo>
                  <a:lnTo>
                    <a:pt x="129" y="251"/>
                  </a:lnTo>
                  <a:lnTo>
                    <a:pt x="129" y="235"/>
                  </a:lnTo>
                  <a:lnTo>
                    <a:pt x="106" y="235"/>
                  </a:lnTo>
                  <a:lnTo>
                    <a:pt x="106" y="251"/>
                  </a:lnTo>
                  <a:lnTo>
                    <a:pt x="76" y="251"/>
                  </a:lnTo>
                  <a:lnTo>
                    <a:pt x="76" y="233"/>
                  </a:lnTo>
                  <a:lnTo>
                    <a:pt x="27" y="233"/>
                  </a:lnTo>
                  <a:lnTo>
                    <a:pt x="27" y="250"/>
                  </a:lnTo>
                  <a:lnTo>
                    <a:pt x="0" y="251"/>
                  </a:lnTo>
                  <a:lnTo>
                    <a:pt x="0" y="171"/>
                  </a:lnTo>
                  <a:lnTo>
                    <a:pt x="100" y="170"/>
                  </a:lnTo>
                  <a:close/>
                </a:path>
              </a:pathLst>
            </a:custGeom>
            <a:solidFill>
              <a:srgbClr val="333300"/>
            </a:solidFill>
            <a:ln w="31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0" name="Oval 116"/>
            <p:cNvSpPr>
              <a:spLocks noChangeAspect="1" noChangeArrowheads="1"/>
            </p:cNvSpPr>
            <p:nvPr/>
          </p:nvSpPr>
          <p:spPr bwMode="auto">
            <a:xfrm>
              <a:off x="6835" y="17926"/>
              <a:ext cx="143" cy="100"/>
            </a:xfrm>
            <a:prstGeom prst="ellipse">
              <a:avLst/>
            </a:prstGeom>
            <a:solidFill>
              <a:srgbClr val="333300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9947" name="Text Box 117"/>
          <p:cNvSpPr txBox="1">
            <a:spLocks noChangeAspect="1" noChangeArrowheads="1"/>
          </p:cNvSpPr>
          <p:nvPr/>
        </p:nvSpPr>
        <p:spPr bwMode="auto">
          <a:xfrm>
            <a:off x="4459288" y="5323386"/>
            <a:ext cx="122396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ea typeface="SimSun" panose="02010600030101010101" pitchFamily="2" charset="-122"/>
              </a:rPr>
              <a:t>Strip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ea typeface="SimSun" panose="02010600030101010101" pitchFamily="2" charset="-122"/>
              </a:rPr>
              <a:t>SU-8 or PMMA</a:t>
            </a:r>
          </a:p>
        </p:txBody>
      </p:sp>
      <p:grpSp>
        <p:nvGrpSpPr>
          <p:cNvPr id="39948" name="Group 118"/>
          <p:cNvGrpSpPr>
            <a:grpSpLocks noChangeAspect="1"/>
          </p:cNvGrpSpPr>
          <p:nvPr/>
        </p:nvGrpSpPr>
        <p:grpSpPr bwMode="auto">
          <a:xfrm>
            <a:off x="4483103" y="4164013"/>
            <a:ext cx="1071563" cy="1084262"/>
            <a:chOff x="1154" y="4092"/>
            <a:chExt cx="750" cy="759"/>
          </a:xfrm>
        </p:grpSpPr>
        <p:sp>
          <p:nvSpPr>
            <p:cNvPr id="40015" name="Freeform 119"/>
            <p:cNvSpPr>
              <a:spLocks noChangeAspect="1"/>
            </p:cNvSpPr>
            <p:nvPr/>
          </p:nvSpPr>
          <p:spPr bwMode="auto">
            <a:xfrm>
              <a:off x="1156" y="4471"/>
              <a:ext cx="744" cy="291"/>
            </a:xfrm>
            <a:custGeom>
              <a:avLst/>
              <a:gdLst>
                <a:gd name="T0" fmla="*/ 0 w 1403"/>
                <a:gd name="T1" fmla="*/ 1 h 548"/>
                <a:gd name="T2" fmla="*/ 0 w 1403"/>
                <a:gd name="T3" fmla="*/ 0 h 548"/>
                <a:gd name="T4" fmla="*/ 1 w 1403"/>
                <a:gd name="T5" fmla="*/ 1 h 548"/>
                <a:gd name="T6" fmla="*/ 1 w 1403"/>
                <a:gd name="T7" fmla="*/ 1 h 5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3"/>
                <a:gd name="T13" fmla="*/ 0 h 548"/>
                <a:gd name="T14" fmla="*/ 1403 w 1403"/>
                <a:gd name="T15" fmla="*/ 548 h 5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3" h="548">
                  <a:moveTo>
                    <a:pt x="0" y="548"/>
                  </a:moveTo>
                  <a:lnTo>
                    <a:pt x="0" y="0"/>
                  </a:lnTo>
                  <a:lnTo>
                    <a:pt x="1403" y="1"/>
                  </a:lnTo>
                  <a:lnTo>
                    <a:pt x="1403" y="5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16" name="Freeform 120"/>
            <p:cNvSpPr>
              <a:spLocks noChangeAspect="1"/>
            </p:cNvSpPr>
            <p:nvPr/>
          </p:nvSpPr>
          <p:spPr bwMode="auto">
            <a:xfrm>
              <a:off x="1157" y="4679"/>
              <a:ext cx="742" cy="172"/>
            </a:xfrm>
            <a:custGeom>
              <a:avLst/>
              <a:gdLst>
                <a:gd name="T0" fmla="*/ 0 w 1401"/>
                <a:gd name="T1" fmla="*/ 1 h 326"/>
                <a:gd name="T2" fmla="*/ 1 w 1401"/>
                <a:gd name="T3" fmla="*/ 1 h 326"/>
                <a:gd name="T4" fmla="*/ 1 w 1401"/>
                <a:gd name="T5" fmla="*/ 1 h 326"/>
                <a:gd name="T6" fmla="*/ 1 w 1401"/>
                <a:gd name="T7" fmla="*/ 1 h 3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1"/>
                <a:gd name="T13" fmla="*/ 0 h 326"/>
                <a:gd name="T14" fmla="*/ 1401 w 1401"/>
                <a:gd name="T15" fmla="*/ 326 h 3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1" h="326">
                  <a:moveTo>
                    <a:pt x="0" y="153"/>
                  </a:moveTo>
                  <a:cubicBezTo>
                    <a:pt x="64" y="178"/>
                    <a:pt x="226" y="326"/>
                    <a:pt x="383" y="305"/>
                  </a:cubicBezTo>
                  <a:cubicBezTo>
                    <a:pt x="540" y="284"/>
                    <a:pt x="775" y="56"/>
                    <a:pt x="945" y="28"/>
                  </a:cubicBezTo>
                  <a:cubicBezTo>
                    <a:pt x="1115" y="0"/>
                    <a:pt x="1306" y="114"/>
                    <a:pt x="1401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17" name="Rectangle 121"/>
            <p:cNvSpPr>
              <a:spLocks noChangeAspect="1" noChangeArrowheads="1"/>
            </p:cNvSpPr>
            <p:nvPr/>
          </p:nvSpPr>
          <p:spPr bwMode="auto">
            <a:xfrm>
              <a:off x="1155" y="4284"/>
              <a:ext cx="146" cy="1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18" name="Rectangle 122"/>
            <p:cNvSpPr>
              <a:spLocks noChangeAspect="1" noChangeArrowheads="1"/>
            </p:cNvSpPr>
            <p:nvPr/>
          </p:nvSpPr>
          <p:spPr bwMode="auto">
            <a:xfrm>
              <a:off x="1458" y="4284"/>
              <a:ext cx="147" cy="1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19" name="Rectangle 123"/>
            <p:cNvSpPr>
              <a:spLocks noChangeAspect="1" noChangeArrowheads="1"/>
            </p:cNvSpPr>
            <p:nvPr/>
          </p:nvSpPr>
          <p:spPr bwMode="auto">
            <a:xfrm>
              <a:off x="1754" y="4284"/>
              <a:ext cx="146" cy="1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20" name="Rectangle 124"/>
            <p:cNvSpPr>
              <a:spLocks noChangeAspect="1" noChangeArrowheads="1"/>
            </p:cNvSpPr>
            <p:nvPr/>
          </p:nvSpPr>
          <p:spPr bwMode="auto">
            <a:xfrm>
              <a:off x="1155" y="4472"/>
              <a:ext cx="744" cy="3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21" name="Freeform 125"/>
            <p:cNvSpPr>
              <a:spLocks noChangeAspect="1"/>
            </p:cNvSpPr>
            <p:nvPr/>
          </p:nvSpPr>
          <p:spPr bwMode="auto">
            <a:xfrm>
              <a:off x="1154" y="4092"/>
              <a:ext cx="750" cy="375"/>
            </a:xfrm>
            <a:custGeom>
              <a:avLst/>
              <a:gdLst>
                <a:gd name="T0" fmla="*/ 0 w 750"/>
                <a:gd name="T1" fmla="*/ 190 h 375"/>
                <a:gd name="T2" fmla="*/ 0 w 750"/>
                <a:gd name="T3" fmla="*/ 0 h 375"/>
                <a:gd name="T4" fmla="*/ 748 w 750"/>
                <a:gd name="T5" fmla="*/ 0 h 375"/>
                <a:gd name="T6" fmla="*/ 750 w 750"/>
                <a:gd name="T7" fmla="*/ 188 h 375"/>
                <a:gd name="T8" fmla="*/ 598 w 750"/>
                <a:gd name="T9" fmla="*/ 187 h 375"/>
                <a:gd name="T10" fmla="*/ 598 w 750"/>
                <a:gd name="T11" fmla="*/ 373 h 375"/>
                <a:gd name="T12" fmla="*/ 453 w 750"/>
                <a:gd name="T13" fmla="*/ 373 h 375"/>
                <a:gd name="T14" fmla="*/ 454 w 750"/>
                <a:gd name="T15" fmla="*/ 186 h 375"/>
                <a:gd name="T16" fmla="*/ 304 w 750"/>
                <a:gd name="T17" fmla="*/ 186 h 375"/>
                <a:gd name="T18" fmla="*/ 303 w 750"/>
                <a:gd name="T19" fmla="*/ 375 h 375"/>
                <a:gd name="T20" fmla="*/ 144 w 750"/>
                <a:gd name="T21" fmla="*/ 375 h 375"/>
                <a:gd name="T22" fmla="*/ 144 w 750"/>
                <a:gd name="T23" fmla="*/ 190 h 375"/>
                <a:gd name="T24" fmla="*/ 0 w 750"/>
                <a:gd name="T25" fmla="*/ 190 h 3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50"/>
                <a:gd name="T40" fmla="*/ 0 h 375"/>
                <a:gd name="T41" fmla="*/ 750 w 750"/>
                <a:gd name="T42" fmla="*/ 375 h 3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50" h="375">
                  <a:moveTo>
                    <a:pt x="0" y="190"/>
                  </a:moveTo>
                  <a:lnTo>
                    <a:pt x="0" y="0"/>
                  </a:lnTo>
                  <a:lnTo>
                    <a:pt x="748" y="0"/>
                  </a:lnTo>
                  <a:lnTo>
                    <a:pt x="750" y="188"/>
                  </a:lnTo>
                  <a:lnTo>
                    <a:pt x="598" y="187"/>
                  </a:lnTo>
                  <a:lnTo>
                    <a:pt x="598" y="373"/>
                  </a:lnTo>
                  <a:lnTo>
                    <a:pt x="453" y="373"/>
                  </a:lnTo>
                  <a:lnTo>
                    <a:pt x="454" y="186"/>
                  </a:lnTo>
                  <a:lnTo>
                    <a:pt x="304" y="186"/>
                  </a:lnTo>
                  <a:lnTo>
                    <a:pt x="303" y="375"/>
                  </a:lnTo>
                  <a:lnTo>
                    <a:pt x="144" y="375"/>
                  </a:lnTo>
                  <a:lnTo>
                    <a:pt x="144" y="190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49" name="Freeform 126"/>
          <p:cNvSpPr>
            <a:spLocks noChangeAspect="1"/>
          </p:cNvSpPr>
          <p:nvPr/>
        </p:nvSpPr>
        <p:spPr bwMode="auto">
          <a:xfrm>
            <a:off x="4483103" y="5997575"/>
            <a:ext cx="1071563" cy="534988"/>
          </a:xfrm>
          <a:custGeom>
            <a:avLst/>
            <a:gdLst>
              <a:gd name="T0" fmla="*/ 0 w 750"/>
              <a:gd name="T1" fmla="*/ 2147483646 h 375"/>
              <a:gd name="T2" fmla="*/ 0 w 750"/>
              <a:gd name="T3" fmla="*/ 0 h 375"/>
              <a:gd name="T4" fmla="*/ 2147483646 w 750"/>
              <a:gd name="T5" fmla="*/ 0 h 375"/>
              <a:gd name="T6" fmla="*/ 2147483646 w 750"/>
              <a:gd name="T7" fmla="*/ 2147483646 h 375"/>
              <a:gd name="T8" fmla="*/ 2147483646 w 750"/>
              <a:gd name="T9" fmla="*/ 2147483646 h 375"/>
              <a:gd name="T10" fmla="*/ 2147483646 w 750"/>
              <a:gd name="T11" fmla="*/ 2147483646 h 375"/>
              <a:gd name="T12" fmla="*/ 2147483646 w 750"/>
              <a:gd name="T13" fmla="*/ 2147483646 h 375"/>
              <a:gd name="T14" fmla="*/ 2147483646 w 750"/>
              <a:gd name="T15" fmla="*/ 2147483646 h 375"/>
              <a:gd name="T16" fmla="*/ 2147483646 w 750"/>
              <a:gd name="T17" fmla="*/ 2147483646 h 375"/>
              <a:gd name="T18" fmla="*/ 2147483646 w 750"/>
              <a:gd name="T19" fmla="*/ 2147483646 h 375"/>
              <a:gd name="T20" fmla="*/ 2147483646 w 750"/>
              <a:gd name="T21" fmla="*/ 2147483646 h 375"/>
              <a:gd name="T22" fmla="*/ 2147483646 w 750"/>
              <a:gd name="T23" fmla="*/ 2147483646 h 375"/>
              <a:gd name="T24" fmla="*/ 0 w 750"/>
              <a:gd name="T25" fmla="*/ 2147483646 h 37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50"/>
              <a:gd name="T40" fmla="*/ 0 h 375"/>
              <a:gd name="T41" fmla="*/ 750 w 750"/>
              <a:gd name="T42" fmla="*/ 375 h 37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50" h="375">
                <a:moveTo>
                  <a:pt x="0" y="190"/>
                </a:moveTo>
                <a:lnTo>
                  <a:pt x="0" y="0"/>
                </a:lnTo>
                <a:lnTo>
                  <a:pt x="748" y="0"/>
                </a:lnTo>
                <a:lnTo>
                  <a:pt x="750" y="188"/>
                </a:lnTo>
                <a:lnTo>
                  <a:pt x="598" y="187"/>
                </a:lnTo>
                <a:lnTo>
                  <a:pt x="598" y="373"/>
                </a:lnTo>
                <a:lnTo>
                  <a:pt x="453" y="373"/>
                </a:lnTo>
                <a:lnTo>
                  <a:pt x="454" y="186"/>
                </a:lnTo>
                <a:lnTo>
                  <a:pt x="304" y="186"/>
                </a:lnTo>
                <a:lnTo>
                  <a:pt x="303" y="375"/>
                </a:lnTo>
                <a:lnTo>
                  <a:pt x="144" y="375"/>
                </a:lnTo>
                <a:lnTo>
                  <a:pt x="14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9950" name="Group 127"/>
          <p:cNvGrpSpPr>
            <a:grpSpLocks noChangeAspect="1"/>
          </p:cNvGrpSpPr>
          <p:nvPr/>
        </p:nvGrpSpPr>
        <p:grpSpPr bwMode="auto">
          <a:xfrm>
            <a:off x="3266866" y="2879728"/>
            <a:ext cx="2986295" cy="409575"/>
            <a:chOff x="436" y="1342"/>
            <a:chExt cx="2090" cy="286"/>
          </a:xfrm>
        </p:grpSpPr>
        <p:grpSp>
          <p:nvGrpSpPr>
            <p:cNvPr id="40000" name="Group 128"/>
            <p:cNvGrpSpPr>
              <a:grpSpLocks noChangeAspect="1"/>
            </p:cNvGrpSpPr>
            <p:nvPr/>
          </p:nvGrpSpPr>
          <p:grpSpPr bwMode="auto">
            <a:xfrm>
              <a:off x="436" y="1359"/>
              <a:ext cx="721" cy="252"/>
              <a:chOff x="725" y="1940"/>
              <a:chExt cx="721" cy="252"/>
            </a:xfrm>
          </p:grpSpPr>
          <p:sp>
            <p:nvSpPr>
              <p:cNvPr id="40005" name="AutoShape 129"/>
              <p:cNvSpPr>
                <a:spLocks noChangeAspect="1" noChangeArrowheads="1"/>
              </p:cNvSpPr>
              <p:nvPr/>
            </p:nvSpPr>
            <p:spPr bwMode="auto">
              <a:xfrm>
                <a:off x="725" y="1984"/>
                <a:ext cx="721" cy="208"/>
              </a:xfrm>
              <a:prstGeom prst="cube">
                <a:avLst>
                  <a:gd name="adj" fmla="val 65000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0006" name="Group 130"/>
              <p:cNvGrpSpPr>
                <a:grpSpLocks noChangeAspect="1"/>
              </p:cNvGrpSpPr>
              <p:nvPr/>
            </p:nvGrpSpPr>
            <p:grpSpPr bwMode="auto">
              <a:xfrm>
                <a:off x="823" y="1940"/>
                <a:ext cx="533" cy="148"/>
                <a:chOff x="823" y="1940"/>
                <a:chExt cx="533" cy="148"/>
              </a:xfrm>
            </p:grpSpPr>
            <p:sp>
              <p:nvSpPr>
                <p:cNvPr id="40007" name="AutoShape 131"/>
                <p:cNvSpPr>
                  <a:spLocks noChangeAspect="1" noChangeArrowheads="1"/>
                </p:cNvSpPr>
                <p:nvPr/>
              </p:nvSpPr>
              <p:spPr bwMode="auto">
                <a:xfrm>
                  <a:off x="886" y="1940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8" name="AutoShape 132"/>
                <p:cNvSpPr>
                  <a:spLocks noChangeAspect="1" noChangeArrowheads="1"/>
                </p:cNvSpPr>
                <p:nvPr/>
              </p:nvSpPr>
              <p:spPr bwMode="auto">
                <a:xfrm>
                  <a:off x="1011" y="1940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9" name="AutoShape 133"/>
                <p:cNvSpPr>
                  <a:spLocks noChangeAspect="1" noChangeArrowheads="1"/>
                </p:cNvSpPr>
                <p:nvPr/>
              </p:nvSpPr>
              <p:spPr bwMode="auto">
                <a:xfrm>
                  <a:off x="1136" y="1940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0" name="AutoShape 134"/>
                <p:cNvSpPr>
                  <a:spLocks noChangeAspect="1" noChangeArrowheads="1"/>
                </p:cNvSpPr>
                <p:nvPr/>
              </p:nvSpPr>
              <p:spPr bwMode="auto">
                <a:xfrm>
                  <a:off x="1262" y="1940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1" name="AutoShape 135"/>
                <p:cNvSpPr>
                  <a:spLocks noChangeAspect="1" noChangeArrowheads="1"/>
                </p:cNvSpPr>
                <p:nvPr/>
              </p:nvSpPr>
              <p:spPr bwMode="auto">
                <a:xfrm>
                  <a:off x="823" y="1999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2" name="AutoShape 136"/>
                <p:cNvSpPr>
                  <a:spLocks noChangeAspect="1" noChangeArrowheads="1"/>
                </p:cNvSpPr>
                <p:nvPr/>
              </p:nvSpPr>
              <p:spPr bwMode="auto">
                <a:xfrm>
                  <a:off x="948" y="1999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3" name="AutoShape 137"/>
                <p:cNvSpPr>
                  <a:spLocks noChangeAspect="1" noChangeArrowheads="1"/>
                </p:cNvSpPr>
                <p:nvPr/>
              </p:nvSpPr>
              <p:spPr bwMode="auto">
                <a:xfrm>
                  <a:off x="1074" y="1999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4" name="AutoShape 138"/>
                <p:cNvSpPr>
                  <a:spLocks noChangeAspect="1" noChangeArrowheads="1"/>
                </p:cNvSpPr>
                <p:nvPr/>
              </p:nvSpPr>
              <p:spPr bwMode="auto">
                <a:xfrm>
                  <a:off x="1199" y="1999"/>
                  <a:ext cx="94" cy="89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SG" altLang="en-U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0001" name="Group 139"/>
            <p:cNvGrpSpPr>
              <a:grpSpLocks noChangeAspect="1"/>
            </p:cNvGrpSpPr>
            <p:nvPr/>
          </p:nvGrpSpPr>
          <p:grpSpPr bwMode="auto">
            <a:xfrm>
              <a:off x="1805" y="1342"/>
              <a:ext cx="721" cy="286"/>
              <a:chOff x="-112" y="1916"/>
              <a:chExt cx="721" cy="286"/>
            </a:xfrm>
          </p:grpSpPr>
          <p:sp>
            <p:nvSpPr>
              <p:cNvPr id="40002" name="AutoShape 140"/>
              <p:cNvSpPr>
                <a:spLocks noChangeAspect="1" noChangeArrowheads="1"/>
              </p:cNvSpPr>
              <p:nvPr/>
            </p:nvSpPr>
            <p:spPr bwMode="auto">
              <a:xfrm>
                <a:off x="-112" y="1995"/>
                <a:ext cx="721" cy="207"/>
              </a:xfrm>
              <a:prstGeom prst="cube">
                <a:avLst>
                  <a:gd name="adj" fmla="val 65000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03" name="AutoShape 141"/>
              <p:cNvSpPr>
                <a:spLocks noChangeAspect="1" noChangeArrowheads="1"/>
              </p:cNvSpPr>
              <p:nvPr/>
            </p:nvSpPr>
            <p:spPr bwMode="auto">
              <a:xfrm>
                <a:off x="-110" y="1916"/>
                <a:ext cx="367" cy="208"/>
              </a:xfrm>
              <a:prstGeom prst="cube">
                <a:avLst>
                  <a:gd name="adj" fmla="val 6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04" name="AutoShape 142"/>
              <p:cNvSpPr>
                <a:spLocks noChangeAspect="1" noChangeArrowheads="1"/>
              </p:cNvSpPr>
              <p:nvPr/>
            </p:nvSpPr>
            <p:spPr bwMode="auto">
              <a:xfrm>
                <a:off x="217" y="1916"/>
                <a:ext cx="391" cy="208"/>
              </a:xfrm>
              <a:prstGeom prst="cube">
                <a:avLst>
                  <a:gd name="adj" fmla="val 6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9951" name="AutoShape 143"/>
          <p:cNvSpPr>
            <a:spLocks noChangeAspect="1" noChangeArrowheads="1"/>
          </p:cNvSpPr>
          <p:nvPr/>
        </p:nvSpPr>
        <p:spPr bwMode="auto">
          <a:xfrm>
            <a:off x="5222875" y="1609728"/>
            <a:ext cx="1030288" cy="295275"/>
          </a:xfrm>
          <a:prstGeom prst="cube">
            <a:avLst>
              <a:gd name="adj" fmla="val 6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SG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52" name="AutoShape 144"/>
          <p:cNvSpPr>
            <a:spLocks noChangeAspect="1" noChangeArrowheads="1"/>
          </p:cNvSpPr>
          <p:nvPr/>
        </p:nvSpPr>
        <p:spPr bwMode="auto">
          <a:xfrm>
            <a:off x="5222875" y="1498603"/>
            <a:ext cx="1030288" cy="296863"/>
          </a:xfrm>
          <a:prstGeom prst="cube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SG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53" name="Freeform 145"/>
          <p:cNvSpPr>
            <a:spLocks noChangeAspect="1"/>
          </p:cNvSpPr>
          <p:nvPr/>
        </p:nvSpPr>
        <p:spPr bwMode="auto">
          <a:xfrm>
            <a:off x="5583241" y="1497013"/>
            <a:ext cx="288925" cy="195262"/>
          </a:xfrm>
          <a:custGeom>
            <a:avLst/>
            <a:gdLst>
              <a:gd name="T0" fmla="*/ 2147483646 w 405"/>
              <a:gd name="T1" fmla="*/ 0 h 273"/>
              <a:gd name="T2" fmla="*/ 2147483646 w 405"/>
              <a:gd name="T3" fmla="*/ 0 h 273"/>
              <a:gd name="T4" fmla="*/ 2147483646 w 405"/>
              <a:gd name="T5" fmla="*/ 2147483646 h 273"/>
              <a:gd name="T6" fmla="*/ 0 w 405"/>
              <a:gd name="T7" fmla="*/ 2147483646 h 273"/>
              <a:gd name="T8" fmla="*/ 2147483646 w 405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5"/>
              <a:gd name="T16" fmla="*/ 0 h 273"/>
              <a:gd name="T17" fmla="*/ 405 w 405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5" h="273">
                <a:moveTo>
                  <a:pt x="272" y="0"/>
                </a:moveTo>
                <a:lnTo>
                  <a:pt x="405" y="0"/>
                </a:lnTo>
                <a:lnTo>
                  <a:pt x="140" y="273"/>
                </a:lnTo>
                <a:lnTo>
                  <a:pt x="0" y="273"/>
                </a:lnTo>
                <a:lnTo>
                  <a:pt x="272" y="0"/>
                </a:lnTo>
                <a:close/>
              </a:path>
            </a:pathLst>
          </a:custGeom>
          <a:solidFill>
            <a:srgbClr val="33CC33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9954" name="Rectangle 146"/>
          <p:cNvSpPr>
            <a:spLocks noChangeAspect="1" noChangeArrowheads="1"/>
          </p:cNvSpPr>
          <p:nvPr/>
        </p:nvSpPr>
        <p:spPr bwMode="auto">
          <a:xfrm>
            <a:off x="5583238" y="1692278"/>
            <a:ext cx="100012" cy="100013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SG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1859" name="Line 147"/>
          <p:cNvSpPr>
            <a:spLocks noChangeAspect="1" noChangeShapeType="1"/>
          </p:cNvSpPr>
          <p:nvPr/>
        </p:nvSpPr>
        <p:spPr bwMode="auto">
          <a:xfrm>
            <a:off x="5756275" y="1168403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56" name="Group 148"/>
          <p:cNvGrpSpPr>
            <a:grpSpLocks noChangeAspect="1"/>
          </p:cNvGrpSpPr>
          <p:nvPr/>
        </p:nvGrpSpPr>
        <p:grpSpPr bwMode="auto">
          <a:xfrm>
            <a:off x="3364357" y="1482728"/>
            <a:ext cx="1030288" cy="404813"/>
            <a:chOff x="1326" y="1509"/>
            <a:chExt cx="721" cy="284"/>
          </a:xfrm>
        </p:grpSpPr>
        <p:sp>
          <p:nvSpPr>
            <p:cNvPr id="39989" name="AutoShape 149"/>
            <p:cNvSpPr>
              <a:spLocks noChangeAspect="1" noChangeArrowheads="1"/>
            </p:cNvSpPr>
            <p:nvPr/>
          </p:nvSpPr>
          <p:spPr bwMode="auto">
            <a:xfrm>
              <a:off x="1326" y="1586"/>
              <a:ext cx="721" cy="207"/>
            </a:xfrm>
            <a:prstGeom prst="cube">
              <a:avLst>
                <a:gd name="adj" fmla="val 6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0" name="AutoShape 150"/>
            <p:cNvSpPr>
              <a:spLocks noChangeAspect="1" noChangeArrowheads="1"/>
            </p:cNvSpPr>
            <p:nvPr/>
          </p:nvSpPr>
          <p:spPr bwMode="auto">
            <a:xfrm>
              <a:off x="1326" y="1509"/>
              <a:ext cx="721" cy="207"/>
            </a:xfrm>
            <a:prstGeom prst="cube">
              <a:avLst>
                <a:gd name="adj" fmla="val 6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SG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9991" name="Group 151"/>
            <p:cNvGrpSpPr>
              <a:grpSpLocks noChangeAspect="1"/>
            </p:cNvGrpSpPr>
            <p:nvPr/>
          </p:nvGrpSpPr>
          <p:grpSpPr bwMode="auto">
            <a:xfrm>
              <a:off x="1424" y="1531"/>
              <a:ext cx="533" cy="89"/>
              <a:chOff x="1104" y="4656"/>
              <a:chExt cx="816" cy="144"/>
            </a:xfrm>
          </p:grpSpPr>
          <p:sp>
            <p:nvSpPr>
              <p:cNvPr id="39992" name="Oval 152"/>
              <p:cNvSpPr>
                <a:spLocks noChangeAspect="1" noChangeArrowheads="1"/>
              </p:cNvSpPr>
              <p:nvPr/>
            </p:nvSpPr>
            <p:spPr bwMode="auto">
              <a:xfrm>
                <a:off x="1200" y="4656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3" name="Oval 153"/>
              <p:cNvSpPr>
                <a:spLocks noChangeAspect="1" noChangeArrowheads="1"/>
              </p:cNvSpPr>
              <p:nvPr/>
            </p:nvSpPr>
            <p:spPr bwMode="auto">
              <a:xfrm>
                <a:off x="1392" y="4656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4" name="Oval 154"/>
              <p:cNvSpPr>
                <a:spLocks noChangeAspect="1" noChangeArrowheads="1"/>
              </p:cNvSpPr>
              <p:nvPr/>
            </p:nvSpPr>
            <p:spPr bwMode="auto">
              <a:xfrm>
                <a:off x="1584" y="4656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5" name="Oval 155"/>
              <p:cNvSpPr>
                <a:spLocks noChangeAspect="1" noChangeArrowheads="1"/>
              </p:cNvSpPr>
              <p:nvPr/>
            </p:nvSpPr>
            <p:spPr bwMode="auto">
              <a:xfrm>
                <a:off x="1776" y="4656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6" name="Oval 156"/>
              <p:cNvSpPr>
                <a:spLocks noChangeAspect="1" noChangeArrowheads="1"/>
              </p:cNvSpPr>
              <p:nvPr/>
            </p:nvSpPr>
            <p:spPr bwMode="auto">
              <a:xfrm>
                <a:off x="1104" y="4752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7" name="Oval 157"/>
              <p:cNvSpPr>
                <a:spLocks noChangeAspect="1" noChangeArrowheads="1"/>
              </p:cNvSpPr>
              <p:nvPr/>
            </p:nvSpPr>
            <p:spPr bwMode="auto">
              <a:xfrm>
                <a:off x="1296" y="4752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8" name="Oval 158"/>
              <p:cNvSpPr>
                <a:spLocks noChangeAspect="1" noChangeArrowheads="1"/>
              </p:cNvSpPr>
              <p:nvPr/>
            </p:nvSpPr>
            <p:spPr bwMode="auto">
              <a:xfrm>
                <a:off x="1488" y="4752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99" name="Oval 159"/>
              <p:cNvSpPr>
                <a:spLocks noChangeAspect="1" noChangeArrowheads="1"/>
              </p:cNvSpPr>
              <p:nvPr/>
            </p:nvSpPr>
            <p:spPr bwMode="auto">
              <a:xfrm>
                <a:off x="1680" y="4752"/>
                <a:ext cx="144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SG" altLang="en-U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71872" name="Line 160"/>
          <p:cNvSpPr>
            <a:spLocks noChangeAspect="1" noChangeShapeType="1"/>
          </p:cNvSpPr>
          <p:nvPr/>
        </p:nvSpPr>
        <p:spPr bwMode="auto">
          <a:xfrm>
            <a:off x="3570732" y="1208088"/>
            <a:ext cx="0" cy="411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5" name="Text Box 165"/>
          <p:cNvSpPr txBox="1">
            <a:spLocks noChangeAspect="1" noChangeArrowheads="1"/>
          </p:cNvSpPr>
          <p:nvPr/>
        </p:nvSpPr>
        <p:spPr bwMode="auto">
          <a:xfrm>
            <a:off x="8799516" y="6368468"/>
            <a:ext cx="1995487" cy="3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dirty="0"/>
              <a:t>      Ni structure</a:t>
            </a:r>
            <a:endParaRPr lang="en-US" altLang="zh-CN" sz="1600" dirty="0">
              <a:ea typeface="SimSun" panose="02010600030101010101" pitchFamily="2" charset="-122"/>
            </a:endParaRPr>
          </a:p>
        </p:txBody>
      </p:sp>
      <p:sp>
        <p:nvSpPr>
          <p:cNvPr id="371879" name="Line 167"/>
          <p:cNvSpPr>
            <a:spLocks noChangeAspect="1" noChangeShapeType="1"/>
          </p:cNvSpPr>
          <p:nvPr/>
        </p:nvSpPr>
        <p:spPr bwMode="auto">
          <a:xfrm>
            <a:off x="5661025" y="1247778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0" name="Line 168"/>
          <p:cNvSpPr>
            <a:spLocks noChangeAspect="1" noChangeShapeType="1"/>
          </p:cNvSpPr>
          <p:nvPr/>
        </p:nvSpPr>
        <p:spPr bwMode="auto">
          <a:xfrm>
            <a:off x="3658045" y="1114428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1" name="Line 169"/>
          <p:cNvSpPr>
            <a:spLocks noChangeAspect="1" noChangeShapeType="1"/>
          </p:cNvSpPr>
          <p:nvPr/>
        </p:nvSpPr>
        <p:spPr bwMode="auto">
          <a:xfrm>
            <a:off x="3751707" y="1211263"/>
            <a:ext cx="0" cy="411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2" name="Line 170"/>
          <p:cNvSpPr>
            <a:spLocks noChangeAspect="1" noChangeShapeType="1"/>
          </p:cNvSpPr>
          <p:nvPr/>
        </p:nvSpPr>
        <p:spPr bwMode="auto">
          <a:xfrm>
            <a:off x="3839020" y="1117603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3" name="Line 171"/>
          <p:cNvSpPr>
            <a:spLocks noChangeAspect="1" noChangeShapeType="1"/>
          </p:cNvSpPr>
          <p:nvPr/>
        </p:nvSpPr>
        <p:spPr bwMode="auto">
          <a:xfrm>
            <a:off x="3929507" y="1211263"/>
            <a:ext cx="0" cy="411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4" name="Line 172"/>
          <p:cNvSpPr>
            <a:spLocks noChangeAspect="1" noChangeShapeType="1"/>
          </p:cNvSpPr>
          <p:nvPr/>
        </p:nvSpPr>
        <p:spPr bwMode="auto">
          <a:xfrm>
            <a:off x="4016820" y="1117603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5" name="Line 173"/>
          <p:cNvSpPr>
            <a:spLocks noChangeAspect="1" noChangeShapeType="1"/>
          </p:cNvSpPr>
          <p:nvPr/>
        </p:nvSpPr>
        <p:spPr bwMode="auto">
          <a:xfrm>
            <a:off x="4110482" y="1208088"/>
            <a:ext cx="0" cy="411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6" name="Line 174"/>
          <p:cNvSpPr>
            <a:spLocks noChangeAspect="1" noChangeShapeType="1"/>
          </p:cNvSpPr>
          <p:nvPr/>
        </p:nvSpPr>
        <p:spPr bwMode="auto">
          <a:xfrm>
            <a:off x="4197795" y="1114428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7" name="Line 175"/>
          <p:cNvSpPr>
            <a:spLocks noChangeAspect="1" noChangeShapeType="1"/>
          </p:cNvSpPr>
          <p:nvPr/>
        </p:nvSpPr>
        <p:spPr bwMode="auto">
          <a:xfrm>
            <a:off x="5800725" y="1127128"/>
            <a:ext cx="0" cy="41116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8" name="Line 176"/>
          <p:cNvSpPr>
            <a:spLocks noChangeAspect="1" noChangeShapeType="1"/>
          </p:cNvSpPr>
          <p:nvPr/>
        </p:nvSpPr>
        <p:spPr bwMode="auto">
          <a:xfrm>
            <a:off x="5708650" y="1208088"/>
            <a:ext cx="0" cy="411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1889" name="Text Box 177"/>
          <p:cNvSpPr txBox="1">
            <a:spLocks noChangeArrowheads="1"/>
          </p:cNvSpPr>
          <p:nvPr/>
        </p:nvSpPr>
        <p:spPr bwMode="auto">
          <a:xfrm>
            <a:off x="2861123" y="1931991"/>
            <a:ext cx="1527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Crosslink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Negative resist</a:t>
            </a:r>
          </a:p>
        </p:txBody>
      </p:sp>
      <p:sp>
        <p:nvSpPr>
          <p:cNvPr id="371890" name="Text Box 178"/>
          <p:cNvSpPr txBox="1">
            <a:spLocks noChangeArrowheads="1"/>
          </p:cNvSpPr>
          <p:nvPr/>
        </p:nvSpPr>
        <p:spPr bwMode="auto">
          <a:xfrm>
            <a:off x="5019678" y="1935166"/>
            <a:ext cx="1490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Chain scission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Positive resist</a:t>
            </a:r>
          </a:p>
        </p:txBody>
      </p:sp>
      <p:sp>
        <p:nvSpPr>
          <p:cNvPr id="371891" name="Text Box 179"/>
          <p:cNvSpPr txBox="1">
            <a:spLocks noChangeArrowheads="1"/>
          </p:cNvSpPr>
          <p:nvPr/>
        </p:nvSpPr>
        <p:spPr bwMode="auto">
          <a:xfrm>
            <a:off x="3081782" y="3309941"/>
            <a:ext cx="12906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Insoluble for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developer</a:t>
            </a:r>
          </a:p>
        </p:txBody>
      </p:sp>
      <p:sp>
        <p:nvSpPr>
          <p:cNvPr id="371892" name="Text Box 180"/>
          <p:cNvSpPr txBox="1">
            <a:spLocks noChangeArrowheads="1"/>
          </p:cNvSpPr>
          <p:nvPr/>
        </p:nvSpPr>
        <p:spPr bwMode="auto">
          <a:xfrm>
            <a:off x="5021266" y="3313116"/>
            <a:ext cx="14938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Remove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exposed resist</a:t>
            </a:r>
          </a:p>
        </p:txBody>
      </p:sp>
      <p:grpSp>
        <p:nvGrpSpPr>
          <p:cNvPr id="23" name="Group 209"/>
          <p:cNvGrpSpPr>
            <a:grpSpLocks/>
          </p:cNvGrpSpPr>
          <p:nvPr/>
        </p:nvGrpSpPr>
        <p:grpSpPr bwMode="auto">
          <a:xfrm>
            <a:off x="498212" y="2340387"/>
            <a:ext cx="1788584" cy="1853544"/>
            <a:chOff x="34590" y="2513779"/>
            <a:chExt cx="2495660" cy="2587359"/>
          </a:xfrm>
        </p:grpSpPr>
        <p:pic>
          <p:nvPicPr>
            <p:cNvPr id="39981" name="Picture 26" descr="holes_small_2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38" y="2513779"/>
              <a:ext cx="2256652" cy="169772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982" name="Rectangle 204"/>
            <p:cNvSpPr>
              <a:spLocks noChangeArrowheads="1"/>
            </p:cNvSpPr>
            <p:nvPr/>
          </p:nvSpPr>
          <p:spPr bwMode="auto">
            <a:xfrm>
              <a:off x="34590" y="4188702"/>
              <a:ext cx="2495660" cy="912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800" dirty="0"/>
                <a:t>PMMA </a:t>
              </a:r>
              <a:r>
                <a:rPr lang="en-GB" altLang="en-US" sz="1800" dirty="0" err="1"/>
                <a:t>mold</a:t>
              </a:r>
              <a:r>
                <a:rPr lang="en-GB" altLang="en-US" sz="1800" dirty="0"/>
                <a:t> for plating</a:t>
              </a:r>
              <a:endParaRPr lang="en-US" altLang="zh-CN" sz="1800" dirty="0">
                <a:ea typeface="SimSun" panose="02010600030101010101" pitchFamily="2" charset="-122"/>
              </a:endParaRPr>
            </a:p>
          </p:txBody>
        </p:sp>
      </p:grpSp>
      <p:grpSp>
        <p:nvGrpSpPr>
          <p:cNvPr id="24" name="Group 208"/>
          <p:cNvGrpSpPr>
            <a:grpSpLocks/>
          </p:cNvGrpSpPr>
          <p:nvPr/>
        </p:nvGrpSpPr>
        <p:grpSpPr bwMode="auto">
          <a:xfrm>
            <a:off x="456978" y="4228981"/>
            <a:ext cx="1977072" cy="1574418"/>
            <a:chOff x="94820" y="4941075"/>
            <a:chExt cx="1977815" cy="1575283"/>
          </a:xfrm>
        </p:grpSpPr>
        <p:pic>
          <p:nvPicPr>
            <p:cNvPr id="39977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891" y="5011486"/>
              <a:ext cx="1872000" cy="15048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978" name="Rectangle 205"/>
            <p:cNvSpPr>
              <a:spLocks noChangeArrowheads="1"/>
            </p:cNvSpPr>
            <p:nvPr/>
          </p:nvSpPr>
          <p:spPr bwMode="auto">
            <a:xfrm>
              <a:off x="1020525" y="4941075"/>
              <a:ext cx="1052110" cy="369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800" dirty="0">
                  <a:solidFill>
                    <a:srgbClr val="FFFFFF"/>
                  </a:solidFill>
                </a:rPr>
                <a:t>Ni</a:t>
              </a:r>
              <a:endParaRPr lang="en-SG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79" name="Line 8"/>
            <p:cNvSpPr>
              <a:spLocks noChangeAspect="1" noChangeShapeType="1"/>
            </p:cNvSpPr>
            <p:nvPr/>
          </p:nvSpPr>
          <p:spPr bwMode="auto">
            <a:xfrm flipV="1">
              <a:off x="608013" y="5215092"/>
              <a:ext cx="0" cy="98084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80" name="Text Box 9"/>
            <p:cNvSpPr txBox="1">
              <a:spLocks noChangeAspect="1" noChangeArrowheads="1"/>
            </p:cNvSpPr>
            <p:nvPr/>
          </p:nvSpPr>
          <p:spPr bwMode="auto">
            <a:xfrm>
              <a:off x="94820" y="6143720"/>
              <a:ext cx="816555" cy="307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>
                  <a:solidFill>
                    <a:srgbClr val="FFFFFF"/>
                  </a:solidFill>
                  <a:latin typeface="Arial" panose="020B0604020202020204" pitchFamily="34" charset="0"/>
                </a:rPr>
                <a:t>H: 5 </a:t>
              </a:r>
              <a:r>
                <a:rPr lang="en-GB" altLang="en-US" sz="1400" dirty="0">
                  <a:solidFill>
                    <a:srgbClr val="FFFFFF"/>
                  </a:solidFill>
                  <a:latin typeface="Symbol" panose="05050102010706020507" pitchFamily="18" charset="2"/>
                </a:rPr>
                <a:t>m</a:t>
              </a:r>
              <a:r>
                <a:rPr lang="en-GB" altLang="en-US" sz="1400" dirty="0">
                  <a:solidFill>
                    <a:srgbClr val="FFFFFF"/>
                  </a:solidFill>
                  <a:latin typeface="Arial" panose="020B0604020202020204" pitchFamily="34" charset="0"/>
                </a:rPr>
                <a:t>m</a:t>
              </a:r>
              <a:endParaRPr lang="en-US" altLang="en-US" sz="1400" baseline="30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224372" y="5018660"/>
            <a:ext cx="2224300" cy="1793620"/>
            <a:chOff x="761076" y="5064380"/>
            <a:chExt cx="2224300" cy="1793620"/>
          </a:xfrm>
        </p:grpSpPr>
        <p:pic>
          <p:nvPicPr>
            <p:cNvPr id="193" name="Picture 5" descr="Shao_sem1_Au_pillars_2_2_50K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76" y="5130262"/>
              <a:ext cx="2160873" cy="17277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7" name="Rectangle 205"/>
            <p:cNvSpPr>
              <a:spLocks noChangeArrowheads="1"/>
            </p:cNvSpPr>
            <p:nvPr/>
          </p:nvSpPr>
          <p:spPr bwMode="auto">
            <a:xfrm>
              <a:off x="1959870" y="5064380"/>
              <a:ext cx="10255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800" dirty="0">
                  <a:solidFill>
                    <a:srgbClr val="FFFFFF"/>
                  </a:solidFill>
                </a:rPr>
                <a:t>Au</a:t>
              </a:r>
              <a:endParaRPr lang="en-SG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" name="Straight Arrow Connector 2"/>
            <p:cNvCxnSpPr/>
            <p:nvPr/>
          </p:nvCxnSpPr>
          <p:spPr bwMode="auto">
            <a:xfrm>
              <a:off x="1501412" y="6210392"/>
              <a:ext cx="2655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02" name="Straight Arrow Connector 201"/>
            <p:cNvCxnSpPr/>
            <p:nvPr/>
          </p:nvCxnSpPr>
          <p:spPr bwMode="auto">
            <a:xfrm flipH="1">
              <a:off x="1820360" y="6210392"/>
              <a:ext cx="2655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203" name="Text Box 9"/>
            <p:cNvSpPr txBox="1">
              <a:spLocks noChangeAspect="1" noChangeArrowheads="1"/>
            </p:cNvSpPr>
            <p:nvPr/>
          </p:nvSpPr>
          <p:spPr bwMode="auto">
            <a:xfrm>
              <a:off x="2023503" y="6053636"/>
              <a:ext cx="68159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>
                  <a:solidFill>
                    <a:srgbClr val="FFFFFF"/>
                  </a:solidFill>
                  <a:latin typeface="Arial" panose="020B0604020202020204" pitchFamily="34" charset="0"/>
                </a:rPr>
                <a:t>35 nm</a:t>
              </a:r>
              <a:endParaRPr lang="en-US" altLang="en-US" sz="1400" baseline="30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 rot="5400000">
              <a:off x="725553" y="5497110"/>
              <a:ext cx="609918" cy="0"/>
              <a:chOff x="1126681" y="5860731"/>
              <a:chExt cx="609918" cy="0"/>
            </a:xfrm>
          </p:grpSpPr>
          <p:cxnSp>
            <p:nvCxnSpPr>
              <p:cNvPr id="206" name="Straight Arrow Connector 205"/>
              <p:cNvCxnSpPr/>
              <p:nvPr/>
            </p:nvCxnSpPr>
            <p:spPr bwMode="auto">
              <a:xfrm>
                <a:off x="1126681" y="5860731"/>
                <a:ext cx="2655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207" name="Straight Arrow Connector 206"/>
              <p:cNvCxnSpPr/>
              <p:nvPr/>
            </p:nvCxnSpPr>
            <p:spPr bwMode="auto">
              <a:xfrm flipH="1">
                <a:off x="1471026" y="5860731"/>
                <a:ext cx="2655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</p:grpSp>
        <p:sp>
          <p:nvSpPr>
            <p:cNvPr id="209" name="Text Box 9"/>
            <p:cNvSpPr txBox="1">
              <a:spLocks noChangeAspect="1" noChangeArrowheads="1"/>
            </p:cNvSpPr>
            <p:nvPr/>
          </p:nvSpPr>
          <p:spPr bwMode="auto">
            <a:xfrm>
              <a:off x="1036107" y="5426575"/>
              <a:ext cx="78098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>
                  <a:solidFill>
                    <a:srgbClr val="FFFFFF"/>
                  </a:solidFill>
                  <a:latin typeface="Arial" panose="020B0604020202020204" pitchFamily="34" charset="0"/>
                </a:rPr>
                <a:t>700 nm</a:t>
              </a:r>
              <a:endParaRPr lang="en-US" altLang="en-US" sz="1400" baseline="300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542E66AA-190B-57E9-11CF-13894FE4BDDC}"/>
              </a:ext>
            </a:extLst>
          </p:cNvPr>
          <p:cNvSpPr txBox="1">
            <a:spLocks/>
          </p:cNvSpPr>
          <p:nvPr/>
        </p:nvSpPr>
        <p:spPr>
          <a:xfrm>
            <a:off x="1009386" y="126607"/>
            <a:ext cx="10049256" cy="560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Proton Beam Writing</a:t>
            </a:r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A9B4B9E4-06DF-8F86-B727-879C7A7802DE}"/>
              </a:ext>
            </a:extLst>
          </p:cNvPr>
          <p:cNvSpPr/>
          <p:nvPr/>
        </p:nvSpPr>
        <p:spPr>
          <a:xfrm rot="16200000">
            <a:off x="11693128" y="6354898"/>
            <a:ext cx="495300" cy="502444"/>
          </a:xfrm>
          <a:prstGeom prst="round1Rect">
            <a:avLst>
              <a:gd name="adj" fmla="val 33975"/>
            </a:avLst>
          </a:prstGeom>
          <a:solidFill>
            <a:srgbClr val="64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EE8F771-8686-BBFF-70D6-6F5DA4B05B62}"/>
              </a:ext>
            </a:extLst>
          </p:cNvPr>
          <p:cNvSpPr txBox="1">
            <a:spLocks/>
          </p:cNvSpPr>
          <p:nvPr/>
        </p:nvSpPr>
        <p:spPr>
          <a:xfrm>
            <a:off x="11768058" y="6494902"/>
            <a:ext cx="345440" cy="22243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FF70F8-3F76-4ECA-B539-A26828CC2C2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A198D03-A20D-BD78-FB5B-192C34C68850}"/>
              </a:ext>
            </a:extLst>
          </p:cNvPr>
          <p:cNvSpPr txBox="1">
            <a:spLocks/>
          </p:cNvSpPr>
          <p:nvPr/>
        </p:nvSpPr>
        <p:spPr>
          <a:xfrm>
            <a:off x="8049092" y="5752070"/>
            <a:ext cx="6019100" cy="309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SEM image of grid showing orthogonality (left) and smoothness (right) of grid bars [3]</a:t>
            </a:r>
            <a:endParaRPr lang="en-SG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48C773-D191-0202-B9E9-786D64F52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916" y="4177020"/>
            <a:ext cx="3894582" cy="149977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74B412-17F0-2D93-207F-1D66F983FC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1840"/>
          <a:stretch>
            <a:fillRect/>
          </a:stretch>
        </p:blipFill>
        <p:spPr>
          <a:xfrm>
            <a:off x="23554" y="-9144"/>
            <a:ext cx="1219410" cy="651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AFB58B-8452-A95C-AEEE-96A7B38CD71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3906" r="67667" b="29820"/>
          <a:stretch>
            <a:fillRect/>
          </a:stretch>
        </p:blipFill>
        <p:spPr>
          <a:xfrm>
            <a:off x="11467406" y="-2216"/>
            <a:ext cx="646092" cy="638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718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3718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3718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371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371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371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371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3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1000"/>
                                        <p:tgtEl>
                                          <p:spTgt spid="371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1000"/>
                                        <p:tgtEl>
                                          <p:spTgt spid="371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7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1000"/>
                                        <p:tgtEl>
                                          <p:spTgt spid="371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859" grpId="0" animBg="1"/>
      <p:bldP spid="371859" grpId="1" animBg="1"/>
      <p:bldP spid="371872" grpId="0" animBg="1"/>
      <p:bldP spid="371872" grpId="1" animBg="1"/>
      <p:bldP spid="371879" grpId="0" animBg="1"/>
      <p:bldP spid="371879" grpId="1" animBg="1"/>
      <p:bldP spid="371880" grpId="0" animBg="1"/>
      <p:bldP spid="371880" grpId="1" animBg="1"/>
      <p:bldP spid="371881" grpId="0" animBg="1"/>
      <p:bldP spid="371881" grpId="1" animBg="1"/>
      <p:bldP spid="371882" grpId="0" animBg="1"/>
      <p:bldP spid="371882" grpId="1" animBg="1"/>
      <p:bldP spid="371883" grpId="0" animBg="1"/>
      <p:bldP spid="371883" grpId="1" animBg="1"/>
      <p:bldP spid="371884" grpId="0" animBg="1"/>
      <p:bldP spid="371884" grpId="1" animBg="1"/>
      <p:bldP spid="371885" grpId="0" animBg="1"/>
      <p:bldP spid="371885" grpId="1" animBg="1"/>
      <p:bldP spid="371886" grpId="0" animBg="1"/>
      <p:bldP spid="371887" grpId="0" animBg="1"/>
      <p:bldP spid="371888" grpId="0" animBg="1"/>
      <p:bldP spid="371888" grpId="1" animBg="1"/>
      <p:bldP spid="371889" grpId="0"/>
      <p:bldP spid="371890" grpId="0"/>
      <p:bldP spid="371891" grpId="0"/>
      <p:bldP spid="37189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CB9A70ABD934AB75DB6E64DCC563E" ma:contentTypeVersion="18" ma:contentTypeDescription="Create a new document." ma:contentTypeScope="" ma:versionID="e5437afbe7484ccbb5e8824825f226e0">
  <xsd:schema xmlns:xsd="http://www.w3.org/2001/XMLSchema" xmlns:xs="http://www.w3.org/2001/XMLSchema" xmlns:p="http://schemas.microsoft.com/office/2006/metadata/properties" xmlns:ns2="d57804ca-f4b6-4d1a-bc7b-09e1480f5f77" xmlns:ns3="a67a9ec7-d99c-4343-a116-3e51ba2009d6" targetNamespace="http://schemas.microsoft.com/office/2006/metadata/properties" ma:root="true" ma:fieldsID="5ddd4a8312daf1592e350cd3a98cbee8" ns2:_="" ns3:_="">
    <xsd:import namespace="d57804ca-f4b6-4d1a-bc7b-09e1480f5f77"/>
    <xsd:import namespace="a67a9ec7-d99c-4343-a116-3e51ba200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804ca-f4b6-4d1a-bc7b-09e1480f5f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7a9ec7-d99c-4343-a116-3e51ba200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6d9742c-e832-40f1-814f-5ece4a5cce65}" ma:internalName="TaxCatchAll" ma:showField="CatchAllData" ma:web="a67a9ec7-d99c-4343-a116-3e51ba200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7a9ec7-d99c-4343-a116-3e51ba2009d6" xsi:nil="true"/>
    <lcf76f155ced4ddcb4097134ff3c332f xmlns="d57804ca-f4b6-4d1a-bc7b-09e1480f5f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E25961-CE53-459D-AA22-E0876EED4BCF}"/>
</file>

<file path=customXml/itemProps2.xml><?xml version="1.0" encoding="utf-8"?>
<ds:datastoreItem xmlns:ds="http://schemas.openxmlformats.org/officeDocument/2006/customXml" ds:itemID="{D1EF77AC-034D-4F96-8AC3-93C48AD02803}"/>
</file>

<file path=customXml/itemProps3.xml><?xml version="1.0" encoding="utf-8"?>
<ds:datastoreItem xmlns:ds="http://schemas.openxmlformats.org/officeDocument/2006/customXml" ds:itemID="{E54785B1-3397-421E-BEE2-50126188B026}"/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1309</Words>
  <Application>Microsoft Office PowerPoint</Application>
  <PresentationFormat>Widescreen</PresentationFormat>
  <Paragraphs>256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 Unicode MS</vt:lpstr>
      <vt:lpstr>SimSun</vt:lpstr>
      <vt:lpstr>Aptos</vt:lpstr>
      <vt:lpstr>Aptos Display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Office Theme</vt:lpstr>
      <vt:lpstr>Unique Resolution Standard Kit  Fabricated by Proton Beam   -Facilitates Accurate &amp; Fast Beam Size Measurements</vt:lpstr>
      <vt:lpstr>Background Inventor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Kan, Jeroen Anton</dc:creator>
  <cp:lastModifiedBy>Van Kan, Jeroen Anton</cp:lastModifiedBy>
  <cp:revision>34</cp:revision>
  <dcterms:created xsi:type="dcterms:W3CDTF">2025-10-14T22:05:39Z</dcterms:created>
  <dcterms:modified xsi:type="dcterms:W3CDTF">2025-11-25T17:48:41Z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0x010100CE0CB9A70ABD934AB75DB6E64DCC563E</vt:lpwstr>
  </property>
</Properties>
</file>