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2517D0-F3FE-492B-8E0A-02E6AF3655F7}" v="2448" dt="2025-11-21T10:19:49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hyperlink" Target="https://www.tedpella.com/calibration_html/SEM_Resolution_Test_Specimens_Tin_on_Carbon.aspx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AC24-2215-A9C9-7504-8B25EAE1B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D15EEA-2E9E-AB3C-D4C2-8132A8671EB0}"/>
              </a:ext>
            </a:extLst>
          </p:cNvPr>
          <p:cNvSpPr/>
          <p:nvPr/>
        </p:nvSpPr>
        <p:spPr>
          <a:xfrm>
            <a:off x="213098" y="946805"/>
            <a:ext cx="5618259" cy="4246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 sz="160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F336F96-927A-C8F8-E7B8-C7BC4A995CA0}"/>
              </a:ext>
            </a:extLst>
          </p:cNvPr>
          <p:cNvSpPr>
            <a:spLocks noGrp="1"/>
          </p:cNvSpPr>
          <p:nvPr/>
        </p:nvSpPr>
        <p:spPr>
          <a:xfrm>
            <a:off x="466725" y="365125"/>
            <a:ext cx="1125855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Resolution Standards</a:t>
            </a:r>
            <a:endParaRPr lang="en-US" dirty="0"/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9928754B-4795-919D-4AB4-6503E5CABEC1}"/>
              </a:ext>
            </a:extLst>
          </p:cNvPr>
          <p:cNvSpPr txBox="1"/>
          <p:nvPr/>
        </p:nvSpPr>
        <p:spPr>
          <a:xfrm>
            <a:off x="109588" y="5631101"/>
            <a:ext cx="6233854" cy="8617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 dirty="0"/>
              <a:t>[1] </a:t>
            </a:r>
            <a:r>
              <a:rPr lang="en-SG" sz="1000" dirty="0">
                <a:hlinkClick r:id="rId2"/>
              </a:rPr>
              <a:t>https://www.tedpella.com/calibration_html/SEM_Resolution_Test_Specimens_Tin_on_Carbon.aspx</a:t>
            </a:r>
            <a:endParaRPr lang="en-SG" sz="1000" dirty="0"/>
          </a:p>
          <a:p>
            <a:r>
              <a:rPr lang="en-SG" sz="1000" dirty="0"/>
              <a:t>[2] Y. Yao et al. Improved beam spot measurements in the 2nd generation proton beam writing system (2013)</a:t>
            </a:r>
          </a:p>
          <a:p>
            <a:r>
              <a:rPr lang="en-SG" sz="1000" dirty="0"/>
              <a:t>[3] J. Swindells et al. Modelling PSF of scanning electron microscopes for image restoration (1998)</a:t>
            </a:r>
          </a:p>
          <a:p>
            <a:r>
              <a:rPr lang="en-SG" sz="1000" dirty="0"/>
              <a:t>[4] V. András et al. On the Sub-</a:t>
            </a:r>
            <a:r>
              <a:rPr lang="en-SG" sz="1000" dirty="0" err="1"/>
              <a:t>Nanometer</a:t>
            </a:r>
            <a:r>
              <a:rPr lang="en-SG" sz="1000" dirty="0"/>
              <a:t> Resolution of Scanning Electron and Helium Ion Microscopes (2009)</a:t>
            </a:r>
          </a:p>
          <a:p>
            <a:r>
              <a:rPr lang="en-SG" sz="1000" dirty="0"/>
              <a:t>[5] F. Watt et al. Proton beam writing (2007)</a:t>
            </a: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44C41015-94F9-F19B-7090-4E2D2FECB427}"/>
              </a:ext>
            </a:extLst>
          </p:cNvPr>
          <p:cNvSpPr txBox="1"/>
          <p:nvPr/>
        </p:nvSpPr>
        <p:spPr>
          <a:xfrm>
            <a:off x="222765" y="973630"/>
            <a:ext cx="56182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b="1" u="sng" dirty="0"/>
              <a:t>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Used for calibrating and characterising spatial resolution and scan dimensions of imaging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Requirements for charged-particles imaging include high spatial resolution, precise beam spot size measurement with low uncertainty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Two kinds of resolution standards: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b="1" dirty="0"/>
              <a:t>Spherical</a:t>
            </a:r>
            <a:r>
              <a:rPr lang="en-SG" sz="1600" dirty="0"/>
              <a:t> with sizes ranging from a few nm to hundreds of nm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b="1" dirty="0"/>
              <a:t>Grid</a:t>
            </a:r>
            <a:r>
              <a:rPr lang="en-SG" sz="1600" dirty="0"/>
              <a:t> with periodic patterns</a:t>
            </a:r>
          </a:p>
        </p:txBody>
      </p:sp>
      <p:sp>
        <p:nvSpPr>
          <p:cNvPr id="30" name="TextBox 64">
            <a:extLst>
              <a:ext uri="{FF2B5EF4-FFF2-40B4-BE49-F238E27FC236}">
                <a16:creationId xmlns:a16="http://schemas.microsoft.com/office/drawing/2014/main" id="{8D35741C-AB76-CC90-66CE-07DBD5C92E0E}"/>
              </a:ext>
            </a:extLst>
          </p:cNvPr>
          <p:cNvSpPr txBox="1"/>
          <p:nvPr/>
        </p:nvSpPr>
        <p:spPr>
          <a:xfrm>
            <a:off x="6537883" y="2870493"/>
            <a:ext cx="50465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b="1" u="sng"/>
              <a:t>Advantages of CIBA Resolution Standards</a:t>
            </a:r>
            <a:endParaRPr lang="en-US" sz="1600"/>
          </a:p>
        </p:txBody>
      </p:sp>
      <p:sp>
        <p:nvSpPr>
          <p:cNvPr id="31" name="TextBox 65">
            <a:extLst>
              <a:ext uri="{FF2B5EF4-FFF2-40B4-BE49-F238E27FC236}">
                <a16:creationId xmlns:a16="http://schemas.microsoft.com/office/drawing/2014/main" id="{6AEF83F1-B786-1A26-8428-CEA538C2EC45}"/>
              </a:ext>
            </a:extLst>
          </p:cNvPr>
          <p:cNvSpPr txBox="1"/>
          <p:nvPr/>
        </p:nvSpPr>
        <p:spPr>
          <a:xfrm>
            <a:off x="9227131" y="3277277"/>
            <a:ext cx="2398158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/>
              <a:t>CIBA’s Proton Beam Writing (PBW) able to produce grids with straight side walls [5]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/>
              <a:t>Simulated side wall angle </a:t>
            </a:r>
            <a:r>
              <a:rPr lang="en-SG" sz="1600" b="1"/>
              <a:t>~89.9°</a:t>
            </a:r>
            <a:r>
              <a:rPr lang="en-SG" sz="1600"/>
              <a:t>, much better than industry standard of </a:t>
            </a:r>
            <a:r>
              <a:rPr lang="en-SG" sz="1600" b="1"/>
              <a:t>~89°</a:t>
            </a:r>
          </a:p>
        </p:txBody>
      </p:sp>
      <p:pic>
        <p:nvPicPr>
          <p:cNvPr id="1026" name="Picture 2" descr="tin on carbon standard">
            <a:extLst>
              <a:ext uri="{FF2B5EF4-FFF2-40B4-BE49-F238E27FC236}">
                <a16:creationId xmlns:a16="http://schemas.microsoft.com/office/drawing/2014/main" id="{93B1CC83-12C1-15FF-F641-C0B742831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23" y="3604509"/>
            <a:ext cx="1730593" cy="124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6DD2310-F758-7861-7FA0-471B104F3D11}"/>
              </a:ext>
            </a:extLst>
          </p:cNvPr>
          <p:cNvSpPr txBox="1">
            <a:spLocks/>
          </p:cNvSpPr>
          <p:nvPr/>
        </p:nvSpPr>
        <p:spPr>
          <a:xfrm>
            <a:off x="470469" y="4848194"/>
            <a:ext cx="2653302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Commercial spherical tin balls [1]</a:t>
            </a:r>
            <a:endParaRPr lang="en-SG" sz="1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895C9F6-F566-7AB7-4019-9CCDC1731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393" y="3133059"/>
            <a:ext cx="1994342" cy="1715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EF7BF4B-3913-5EF0-0B77-110FC5B1D488}"/>
              </a:ext>
            </a:extLst>
          </p:cNvPr>
          <p:cNvSpPr txBox="1">
            <a:spLocks/>
          </p:cNvSpPr>
          <p:nvPr/>
        </p:nvSpPr>
        <p:spPr>
          <a:xfrm>
            <a:off x="3150913" y="4848194"/>
            <a:ext cx="2653302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Nickel grids [2]</a:t>
            </a:r>
            <a:endParaRPr lang="en-SG" sz="1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6909663-BD30-EF41-0017-0C9A733A1B17}"/>
              </a:ext>
            </a:extLst>
          </p:cNvPr>
          <p:cNvGrpSpPr/>
          <p:nvPr/>
        </p:nvGrpSpPr>
        <p:grpSpPr>
          <a:xfrm>
            <a:off x="6457501" y="3236638"/>
            <a:ext cx="2732299" cy="1837867"/>
            <a:chOff x="3687599" y="1448770"/>
            <a:chExt cx="4816802" cy="32400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07B3343-5EAF-1062-0A13-64A56B4BFC60}"/>
                </a:ext>
              </a:extLst>
            </p:cNvPr>
            <p:cNvSpPr/>
            <p:nvPr/>
          </p:nvSpPr>
          <p:spPr>
            <a:xfrm>
              <a:off x="3687599" y="2527978"/>
              <a:ext cx="4816800" cy="2160000"/>
            </a:xfrm>
            <a:prstGeom prst="rect">
              <a:avLst/>
            </a:prstGeom>
            <a:solidFill>
              <a:schemeClr val="bg1"/>
            </a:solidFill>
            <a:ln w="3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40F744B-BA3D-9A44-0CAA-DC101F7C8040}"/>
                </a:ext>
              </a:extLst>
            </p:cNvPr>
            <p:cNvSpPr/>
            <p:nvPr/>
          </p:nvSpPr>
          <p:spPr>
            <a:xfrm>
              <a:off x="3687600" y="1448770"/>
              <a:ext cx="4816800" cy="1080000"/>
            </a:xfrm>
            <a:prstGeom prst="rect">
              <a:avLst/>
            </a:prstGeom>
            <a:solidFill>
              <a:srgbClr val="FAF8CB"/>
            </a:solidFill>
            <a:ln w="3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11A6DD-ECB7-BA48-EB66-1BDBB753A37B}"/>
                </a:ext>
              </a:extLst>
            </p:cNvPr>
            <p:cNvSpPr txBox="1"/>
            <p:nvPr/>
          </p:nvSpPr>
          <p:spPr>
            <a:xfrm>
              <a:off x="4120735" y="1564703"/>
              <a:ext cx="1080153" cy="6999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2 MeV</a:t>
              </a:r>
            </a:p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Protons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D6FC052-6DCB-7C38-DF33-68D1D7BE1F47}"/>
                </a:ext>
              </a:extLst>
            </p:cNvPr>
            <p:cNvSpPr/>
            <p:nvPr/>
          </p:nvSpPr>
          <p:spPr>
            <a:xfrm>
              <a:off x="3687601" y="1448770"/>
              <a:ext cx="4816800" cy="324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2FE5C1F-22D8-A68E-BBC6-6DDC788E0D7E}"/>
                </a:ext>
              </a:extLst>
            </p:cNvPr>
            <p:cNvSpPr txBox="1"/>
            <p:nvPr/>
          </p:nvSpPr>
          <p:spPr>
            <a:xfrm>
              <a:off x="5404504" y="1564703"/>
              <a:ext cx="1383000" cy="6999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50 keV</a:t>
              </a:r>
            </a:p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Heavy Ions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CF7BF1B-5615-0543-413E-8D8B6BF99764}"/>
                </a:ext>
              </a:extLst>
            </p:cNvPr>
            <p:cNvSpPr txBox="1"/>
            <p:nvPr/>
          </p:nvSpPr>
          <p:spPr>
            <a:xfrm>
              <a:off x="6911549" y="1564703"/>
              <a:ext cx="1245596" cy="6999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50 keV</a:t>
              </a:r>
            </a:p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Electrons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6158658-EC78-95C5-C414-1991F34DD20F}"/>
                </a:ext>
              </a:extLst>
            </p:cNvPr>
            <p:cNvSpPr/>
            <p:nvPr/>
          </p:nvSpPr>
          <p:spPr>
            <a:xfrm>
              <a:off x="5916000" y="2527979"/>
              <a:ext cx="360000" cy="180000"/>
            </a:xfrm>
            <a:prstGeom prst="rect">
              <a:avLst/>
            </a:prstGeom>
            <a:solidFill>
              <a:srgbClr val="FAF8CB"/>
            </a:solidFill>
            <a:ln w="3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F4D891A-44EF-47DB-8AA6-BD3036281C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089700"/>
              <a:ext cx="0" cy="43200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B9D4F9-AB1A-D7A7-4CC5-334510FA5207}"/>
                </a:ext>
              </a:extLst>
            </p:cNvPr>
            <p:cNvSpPr/>
            <p:nvPr/>
          </p:nvSpPr>
          <p:spPr>
            <a:xfrm>
              <a:off x="6194965" y="2176086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B638077-4EF9-FAFF-A31C-32DEB36EC1A3}"/>
                </a:ext>
              </a:extLst>
            </p:cNvPr>
            <p:cNvSpPr/>
            <p:nvPr/>
          </p:nvSpPr>
          <p:spPr>
            <a:xfrm>
              <a:off x="6262278" y="2285368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944155D-6A5E-5E23-582E-28427F696158}"/>
                </a:ext>
              </a:extLst>
            </p:cNvPr>
            <p:cNvSpPr/>
            <p:nvPr/>
          </p:nvSpPr>
          <p:spPr>
            <a:xfrm>
              <a:off x="6132000" y="2274290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3F34879-4B7D-B292-E507-C1E2E1473ED0}"/>
                </a:ext>
              </a:extLst>
            </p:cNvPr>
            <p:cNvSpPr/>
            <p:nvPr/>
          </p:nvSpPr>
          <p:spPr>
            <a:xfrm>
              <a:off x="6204000" y="2413701"/>
              <a:ext cx="72000" cy="7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00" noProof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9FAD587-C5CE-76F1-979D-21F5D8E9B2C0}"/>
                </a:ext>
              </a:extLst>
            </p:cNvPr>
            <p:cNvCxnSpPr>
              <a:cxnSpLocks/>
            </p:cNvCxnSpPr>
            <p:nvPr/>
          </p:nvCxnSpPr>
          <p:spPr>
            <a:xfrm>
              <a:off x="4655827" y="2089700"/>
              <a:ext cx="0" cy="4320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C233065-FDF9-C2FB-5547-3D3AFF2324E7}"/>
                </a:ext>
              </a:extLst>
            </p:cNvPr>
            <p:cNvCxnSpPr>
              <a:cxnSpLocks/>
            </p:cNvCxnSpPr>
            <p:nvPr/>
          </p:nvCxnSpPr>
          <p:spPr>
            <a:xfrm>
              <a:off x="7534347" y="2089700"/>
              <a:ext cx="0" cy="432000"/>
            </a:xfrm>
            <a:prstGeom prst="straightConnector1">
              <a:avLst/>
            </a:prstGeom>
            <a:ln w="28575">
              <a:solidFill>
                <a:srgbClr val="00339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5">
              <a:extLst>
                <a:ext uri="{FF2B5EF4-FFF2-40B4-BE49-F238E27FC236}">
                  <a16:creationId xmlns:a16="http://schemas.microsoft.com/office/drawing/2014/main" id="{F90B1851-B286-4D8E-0ABF-AA5AB9A45B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66" t="1249" r="6866" b="5209"/>
            <a:stretch/>
          </p:blipFill>
          <p:spPr bwMode="auto">
            <a:xfrm>
              <a:off x="4331629" y="2523401"/>
              <a:ext cx="647693" cy="2086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5">
              <a:extLst>
                <a:ext uri="{FF2B5EF4-FFF2-40B4-BE49-F238E27FC236}">
                  <a16:creationId xmlns:a16="http://schemas.microsoft.com/office/drawing/2014/main" id="{52077488-1BA7-2CC6-B515-0A45D53B26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8" r="13303"/>
            <a:stretch/>
          </p:blipFill>
          <p:spPr bwMode="auto">
            <a:xfrm>
              <a:off x="6509930" y="2532158"/>
              <a:ext cx="1918269" cy="1591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8ABE9A6-6409-24A6-CBF8-07C6877880E5}"/>
                </a:ext>
              </a:extLst>
            </p:cNvPr>
            <p:cNvCxnSpPr>
              <a:cxnSpLocks/>
            </p:cNvCxnSpPr>
            <p:nvPr/>
          </p:nvCxnSpPr>
          <p:spPr>
            <a:xfrm>
              <a:off x="5916000" y="2715026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993268A-170C-31DE-7669-7B4416CA8855}"/>
                </a:ext>
              </a:extLst>
            </p:cNvPr>
            <p:cNvCxnSpPr>
              <a:cxnSpLocks/>
            </p:cNvCxnSpPr>
            <p:nvPr/>
          </p:nvCxnSpPr>
          <p:spPr>
            <a:xfrm>
              <a:off x="3687599" y="2527978"/>
              <a:ext cx="222840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5405D85-FE23-03E4-701B-8F88786B9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6000" y="2527978"/>
              <a:ext cx="0" cy="1881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5ACDAB8C-D4B0-7B8E-61D5-3DFF2EE7DE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6000" y="2527978"/>
              <a:ext cx="0" cy="1881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FF43AD60-0BEA-95A2-C4BC-69B23EBD3178}"/>
                </a:ext>
              </a:extLst>
            </p:cNvPr>
            <p:cNvCxnSpPr>
              <a:cxnSpLocks/>
            </p:cNvCxnSpPr>
            <p:nvPr/>
          </p:nvCxnSpPr>
          <p:spPr>
            <a:xfrm>
              <a:off x="6275998" y="2527978"/>
              <a:ext cx="222840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D3E7C141-FCA7-1FC8-0BF3-5477CE5B646A}"/>
                </a:ext>
              </a:extLst>
            </p:cNvPr>
            <p:cNvCxnSpPr/>
            <p:nvPr/>
          </p:nvCxnSpPr>
          <p:spPr>
            <a:xfrm>
              <a:off x="4145281" y="2536920"/>
              <a:ext cx="0" cy="207335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1D335FC6-C7F1-F682-AA06-AEDD9F36E472}"/>
                </a:ext>
              </a:extLst>
            </p:cNvPr>
            <p:cNvSpPr txBox="1"/>
            <p:nvPr/>
          </p:nvSpPr>
          <p:spPr>
            <a:xfrm rot="16200000">
              <a:off x="3530725" y="3358238"/>
              <a:ext cx="925926" cy="430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1000" noProof="0">
                  <a:cs typeface="Times New Roman" panose="02020603050405020304" pitchFamily="18" charset="0"/>
                </a:rPr>
                <a:t>60 µm</a:t>
              </a:r>
            </a:p>
          </p:txBody>
        </p:sp>
      </p:grpSp>
      <p:sp>
        <p:nvSpPr>
          <p:cNvPr id="1032" name="Text Placeholder 7">
            <a:extLst>
              <a:ext uri="{FF2B5EF4-FFF2-40B4-BE49-F238E27FC236}">
                <a16:creationId xmlns:a16="http://schemas.microsoft.com/office/drawing/2014/main" id="{53E44DEA-093F-2953-785C-3AC9A07EE0EE}"/>
              </a:ext>
            </a:extLst>
          </p:cNvPr>
          <p:cNvSpPr txBox="1">
            <a:spLocks/>
          </p:cNvSpPr>
          <p:nvPr/>
        </p:nvSpPr>
        <p:spPr>
          <a:xfrm>
            <a:off x="6457501" y="5084078"/>
            <a:ext cx="2732297" cy="431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Different particles interacting with medium [3]</a:t>
            </a:r>
            <a:endParaRPr lang="en-SG" sz="120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61B85A5-7778-C4A7-0F76-C9E7DD7664C0}"/>
              </a:ext>
            </a:extLst>
          </p:cNvPr>
          <p:cNvSpPr/>
          <p:nvPr/>
        </p:nvSpPr>
        <p:spPr>
          <a:xfrm>
            <a:off x="6349286" y="2874684"/>
            <a:ext cx="5327400" cy="27141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 sz="1600"/>
          </a:p>
        </p:txBody>
      </p:sp>
      <p:sp>
        <p:nvSpPr>
          <p:cNvPr id="1035" name="TextBox 17">
            <a:extLst>
              <a:ext uri="{FF2B5EF4-FFF2-40B4-BE49-F238E27FC236}">
                <a16:creationId xmlns:a16="http://schemas.microsoft.com/office/drawing/2014/main" id="{7C85700F-B361-67B8-D7BA-C69073D4722F}"/>
              </a:ext>
            </a:extLst>
          </p:cNvPr>
          <p:cNvSpPr txBox="1"/>
          <p:nvPr/>
        </p:nvSpPr>
        <p:spPr>
          <a:xfrm>
            <a:off x="6022497" y="136294"/>
            <a:ext cx="537845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b="1" u="sng" dirty="0"/>
              <a:t>Resolution Determination Methods and 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b="1" dirty="0"/>
              <a:t>Edge Scanning</a:t>
            </a:r>
            <a:r>
              <a:rPr lang="en-SG" sz="1400" dirty="0"/>
              <a:t> scans edges of features, resulting line profile fitted using mathematical function to determine resolution [3]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400" dirty="0"/>
              <a:t>Spherical RS relies on curvature at the side; Grids with </a:t>
            </a:r>
            <a:r>
              <a:rPr lang="en-SG" sz="1400" b="1" dirty="0">
                <a:solidFill>
                  <a:srgbClr val="FF0000"/>
                </a:solidFill>
              </a:rPr>
              <a:t>straight side-walls</a:t>
            </a:r>
            <a:r>
              <a:rPr lang="en-SG" sz="1400" b="1" dirty="0"/>
              <a:t> </a:t>
            </a:r>
            <a:r>
              <a:rPr lang="en-SG" sz="1400" dirty="0"/>
              <a:t>may perform better, eliminating error introduced by curvature of sphere</a:t>
            </a:r>
          </a:p>
          <a:p>
            <a:pPr lvl="1"/>
            <a:endParaRPr lang="en-SG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b="1" dirty="0"/>
              <a:t>Gap Scanning </a:t>
            </a:r>
            <a:r>
              <a:rPr lang="en-SG" sz="1400" dirty="0"/>
              <a:t>scans gaps between adjacent features [4]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400" dirty="0"/>
              <a:t>No fixed gap sizes for spherical RS, best resolution depends on smallest gap available; Edge Scanning with Grids only utilises </a:t>
            </a:r>
            <a:r>
              <a:rPr lang="en-SG" sz="1400" b="1" dirty="0">
                <a:solidFill>
                  <a:srgbClr val="FF0000"/>
                </a:solidFill>
              </a:rPr>
              <a:t>side-wall straightness</a:t>
            </a:r>
            <a:r>
              <a:rPr lang="en-SG" sz="1400" dirty="0"/>
              <a:t>, eliminating physical limits of gaps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064666-AE91-3732-A7AC-D04A7B0111B1}"/>
              </a:ext>
            </a:extLst>
          </p:cNvPr>
          <p:cNvSpPr/>
          <p:nvPr/>
        </p:nvSpPr>
        <p:spPr>
          <a:xfrm rot="5400000">
            <a:off x="11412665" y="532168"/>
            <a:ext cx="473890" cy="1513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D075B1-548C-18FC-06AD-BD913B8CABEF}"/>
              </a:ext>
            </a:extLst>
          </p:cNvPr>
          <p:cNvCxnSpPr/>
          <p:nvPr/>
        </p:nvCxnSpPr>
        <p:spPr>
          <a:xfrm>
            <a:off x="11640494" y="610340"/>
            <a:ext cx="2238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241716-401E-9A97-DC34-738D5A3C6130}"/>
              </a:ext>
            </a:extLst>
          </p:cNvPr>
          <p:cNvCxnSpPr/>
          <p:nvPr/>
        </p:nvCxnSpPr>
        <p:spPr>
          <a:xfrm>
            <a:off x="11479699" y="1378690"/>
            <a:ext cx="556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E801FA-E598-13A2-E011-75184CC0912E}"/>
              </a:ext>
            </a:extLst>
          </p:cNvPr>
          <p:cNvCxnSpPr>
            <a:cxnSpLocks/>
          </p:cNvCxnSpPr>
          <p:nvPr/>
        </p:nvCxnSpPr>
        <p:spPr>
          <a:xfrm flipV="1">
            <a:off x="11479699" y="940540"/>
            <a:ext cx="0" cy="438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DED70A4-8757-F459-29DC-2011632CD0EB}"/>
              </a:ext>
            </a:extLst>
          </p:cNvPr>
          <p:cNvSpPr/>
          <p:nvPr/>
        </p:nvSpPr>
        <p:spPr>
          <a:xfrm>
            <a:off x="11479699" y="1078349"/>
            <a:ext cx="452438" cy="295578"/>
          </a:xfrm>
          <a:custGeom>
            <a:avLst/>
            <a:gdLst>
              <a:gd name="connsiteX0" fmla="*/ 0 w 452438"/>
              <a:gd name="connsiteY0" fmla="*/ 28878 h 295578"/>
              <a:gd name="connsiteX1" fmla="*/ 23813 w 452438"/>
              <a:gd name="connsiteY1" fmla="*/ 33641 h 295578"/>
              <a:gd name="connsiteX2" fmla="*/ 80963 w 452438"/>
              <a:gd name="connsiteY2" fmla="*/ 24116 h 295578"/>
              <a:gd name="connsiteX3" fmla="*/ 85725 w 452438"/>
              <a:gd name="connsiteY3" fmla="*/ 5066 h 295578"/>
              <a:gd name="connsiteX4" fmla="*/ 100013 w 452438"/>
              <a:gd name="connsiteY4" fmla="*/ 14591 h 295578"/>
              <a:gd name="connsiteX5" fmla="*/ 119063 w 452438"/>
              <a:gd name="connsiteY5" fmla="*/ 28878 h 295578"/>
              <a:gd name="connsiteX6" fmla="*/ 166688 w 452438"/>
              <a:gd name="connsiteY6" fmla="*/ 19353 h 295578"/>
              <a:gd name="connsiteX7" fmla="*/ 190500 w 452438"/>
              <a:gd name="connsiteY7" fmla="*/ 303 h 295578"/>
              <a:gd name="connsiteX8" fmla="*/ 228600 w 452438"/>
              <a:gd name="connsiteY8" fmla="*/ 9828 h 295578"/>
              <a:gd name="connsiteX9" fmla="*/ 238125 w 452438"/>
              <a:gd name="connsiteY9" fmla="*/ 166991 h 295578"/>
              <a:gd name="connsiteX10" fmla="*/ 242888 w 452438"/>
              <a:gd name="connsiteY10" fmla="*/ 286053 h 295578"/>
              <a:gd name="connsiteX11" fmla="*/ 261938 w 452438"/>
              <a:gd name="connsiteY11" fmla="*/ 290816 h 295578"/>
              <a:gd name="connsiteX12" fmla="*/ 280988 w 452438"/>
              <a:gd name="connsiteY12" fmla="*/ 286053 h 295578"/>
              <a:gd name="connsiteX13" fmla="*/ 295275 w 452438"/>
              <a:gd name="connsiteY13" fmla="*/ 281291 h 295578"/>
              <a:gd name="connsiteX14" fmla="*/ 319088 w 452438"/>
              <a:gd name="connsiteY14" fmla="*/ 290816 h 295578"/>
              <a:gd name="connsiteX15" fmla="*/ 338138 w 452438"/>
              <a:gd name="connsiteY15" fmla="*/ 295578 h 295578"/>
              <a:gd name="connsiteX16" fmla="*/ 352425 w 452438"/>
              <a:gd name="connsiteY16" fmla="*/ 281291 h 295578"/>
              <a:gd name="connsiteX17" fmla="*/ 419100 w 452438"/>
              <a:gd name="connsiteY17" fmla="*/ 281291 h 295578"/>
              <a:gd name="connsiteX18" fmla="*/ 452438 w 452438"/>
              <a:gd name="connsiteY18" fmla="*/ 290816 h 295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2438" h="295578">
                <a:moveTo>
                  <a:pt x="0" y="28878"/>
                </a:moveTo>
                <a:cubicBezTo>
                  <a:pt x="7938" y="30466"/>
                  <a:pt x="15718" y="33641"/>
                  <a:pt x="23813" y="33641"/>
                </a:cubicBezTo>
                <a:cubicBezTo>
                  <a:pt x="55710" y="33641"/>
                  <a:pt x="58609" y="31566"/>
                  <a:pt x="80963" y="24116"/>
                </a:cubicBezTo>
                <a:cubicBezTo>
                  <a:pt x="82550" y="17766"/>
                  <a:pt x="79871" y="7993"/>
                  <a:pt x="85725" y="5066"/>
                </a:cubicBezTo>
                <a:cubicBezTo>
                  <a:pt x="90845" y="2506"/>
                  <a:pt x="95355" y="11264"/>
                  <a:pt x="100013" y="14591"/>
                </a:cubicBezTo>
                <a:cubicBezTo>
                  <a:pt x="106472" y="19204"/>
                  <a:pt x="112713" y="24116"/>
                  <a:pt x="119063" y="28878"/>
                </a:cubicBezTo>
                <a:cubicBezTo>
                  <a:pt x="134938" y="25703"/>
                  <a:pt x="151657" y="25366"/>
                  <a:pt x="166688" y="19353"/>
                </a:cubicBezTo>
                <a:cubicBezTo>
                  <a:pt x="176126" y="15578"/>
                  <a:pt x="180453" y="1849"/>
                  <a:pt x="190500" y="303"/>
                </a:cubicBezTo>
                <a:cubicBezTo>
                  <a:pt x="203439" y="-1688"/>
                  <a:pt x="215900" y="6653"/>
                  <a:pt x="228600" y="9828"/>
                </a:cubicBezTo>
                <a:cubicBezTo>
                  <a:pt x="244598" y="73814"/>
                  <a:pt x="232703" y="20599"/>
                  <a:pt x="238125" y="166991"/>
                </a:cubicBezTo>
                <a:cubicBezTo>
                  <a:pt x="239595" y="206683"/>
                  <a:pt x="235387" y="247049"/>
                  <a:pt x="242888" y="286053"/>
                </a:cubicBezTo>
                <a:cubicBezTo>
                  <a:pt x="244124" y="292481"/>
                  <a:pt x="255588" y="289228"/>
                  <a:pt x="261938" y="290816"/>
                </a:cubicBezTo>
                <a:cubicBezTo>
                  <a:pt x="268288" y="289228"/>
                  <a:pt x="274694" y="287851"/>
                  <a:pt x="280988" y="286053"/>
                </a:cubicBezTo>
                <a:cubicBezTo>
                  <a:pt x="285815" y="284674"/>
                  <a:pt x="290294" y="280668"/>
                  <a:pt x="295275" y="281291"/>
                </a:cubicBezTo>
                <a:cubicBezTo>
                  <a:pt x="303758" y="282351"/>
                  <a:pt x="310978" y="288113"/>
                  <a:pt x="319088" y="290816"/>
                </a:cubicBezTo>
                <a:cubicBezTo>
                  <a:pt x="325298" y="292886"/>
                  <a:pt x="331788" y="293991"/>
                  <a:pt x="338138" y="295578"/>
                </a:cubicBezTo>
                <a:cubicBezTo>
                  <a:pt x="342900" y="290816"/>
                  <a:pt x="346577" y="284633"/>
                  <a:pt x="352425" y="281291"/>
                </a:cubicBezTo>
                <a:cubicBezTo>
                  <a:pt x="370425" y="271005"/>
                  <a:pt x="405248" y="279906"/>
                  <a:pt x="419100" y="281291"/>
                </a:cubicBezTo>
                <a:cubicBezTo>
                  <a:pt x="449181" y="291318"/>
                  <a:pt x="437635" y="290816"/>
                  <a:pt x="452438" y="29081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8D5D55-28A8-6810-D1E5-064FFEB47D8D}"/>
              </a:ext>
            </a:extLst>
          </p:cNvPr>
          <p:cNvSpPr/>
          <p:nvPr/>
        </p:nvSpPr>
        <p:spPr>
          <a:xfrm>
            <a:off x="11400947" y="1478192"/>
            <a:ext cx="387350" cy="3873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7EB7AD-6BCA-5CD9-9A22-7B76C7069833}"/>
              </a:ext>
            </a:extLst>
          </p:cNvPr>
          <p:cNvSpPr/>
          <p:nvPr/>
        </p:nvSpPr>
        <p:spPr>
          <a:xfrm>
            <a:off x="11558738" y="1880785"/>
            <a:ext cx="387350" cy="3873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3374DC-BFA0-1D41-2E47-7577BE138EB8}"/>
              </a:ext>
            </a:extLst>
          </p:cNvPr>
          <p:cNvCxnSpPr>
            <a:cxnSpLocks/>
          </p:cNvCxnSpPr>
          <p:nvPr/>
        </p:nvCxnSpPr>
        <p:spPr>
          <a:xfrm>
            <a:off x="11649610" y="1781275"/>
            <a:ext cx="72081" cy="1894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FD1A-0A65-E9C6-0A1A-C76280490C25}"/>
              </a:ext>
            </a:extLst>
          </p:cNvPr>
          <p:cNvCxnSpPr/>
          <p:nvPr/>
        </p:nvCxnSpPr>
        <p:spPr>
          <a:xfrm>
            <a:off x="11479699" y="2776293"/>
            <a:ext cx="5562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019A0C-1E64-5EDA-B824-6C24FBE35DFF}"/>
              </a:ext>
            </a:extLst>
          </p:cNvPr>
          <p:cNvCxnSpPr>
            <a:cxnSpLocks/>
          </p:cNvCxnSpPr>
          <p:nvPr/>
        </p:nvCxnSpPr>
        <p:spPr>
          <a:xfrm flipV="1">
            <a:off x="11479699" y="2338143"/>
            <a:ext cx="0" cy="438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CBFBC8E-4791-26C8-57F2-10DD884048DD}"/>
              </a:ext>
            </a:extLst>
          </p:cNvPr>
          <p:cNvSpPr/>
          <p:nvPr/>
        </p:nvSpPr>
        <p:spPr>
          <a:xfrm>
            <a:off x="11471275" y="2497559"/>
            <a:ext cx="482600" cy="273050"/>
          </a:xfrm>
          <a:custGeom>
            <a:avLst/>
            <a:gdLst>
              <a:gd name="connsiteX0" fmla="*/ 0 w 482600"/>
              <a:gd name="connsiteY0" fmla="*/ 15875 h 273050"/>
              <a:gd name="connsiteX1" fmla="*/ 28575 w 482600"/>
              <a:gd name="connsiteY1" fmla="*/ 12700 h 273050"/>
              <a:gd name="connsiteX2" fmla="*/ 38100 w 482600"/>
              <a:gd name="connsiteY2" fmla="*/ 9525 h 273050"/>
              <a:gd name="connsiteX3" fmla="*/ 57150 w 482600"/>
              <a:gd name="connsiteY3" fmla="*/ 19050 h 273050"/>
              <a:gd name="connsiteX4" fmla="*/ 76200 w 482600"/>
              <a:gd name="connsiteY4" fmla="*/ 0 h 273050"/>
              <a:gd name="connsiteX5" fmla="*/ 111125 w 482600"/>
              <a:gd name="connsiteY5" fmla="*/ 15875 h 273050"/>
              <a:gd name="connsiteX6" fmla="*/ 155575 w 482600"/>
              <a:gd name="connsiteY6" fmla="*/ 12700 h 273050"/>
              <a:gd name="connsiteX7" fmla="*/ 158750 w 482600"/>
              <a:gd name="connsiteY7" fmla="*/ 25400 h 273050"/>
              <a:gd name="connsiteX8" fmla="*/ 165100 w 482600"/>
              <a:gd name="connsiteY8" fmla="*/ 85725 h 273050"/>
              <a:gd name="connsiteX9" fmla="*/ 168275 w 482600"/>
              <a:gd name="connsiteY9" fmla="*/ 98425 h 273050"/>
              <a:gd name="connsiteX10" fmla="*/ 174625 w 482600"/>
              <a:gd name="connsiteY10" fmla="*/ 111125 h 273050"/>
              <a:gd name="connsiteX11" fmla="*/ 187325 w 482600"/>
              <a:gd name="connsiteY11" fmla="*/ 215900 h 273050"/>
              <a:gd name="connsiteX12" fmla="*/ 190500 w 482600"/>
              <a:gd name="connsiteY12" fmla="*/ 257175 h 273050"/>
              <a:gd name="connsiteX13" fmla="*/ 193675 w 482600"/>
              <a:gd name="connsiteY13" fmla="*/ 266700 h 273050"/>
              <a:gd name="connsiteX14" fmla="*/ 212725 w 482600"/>
              <a:gd name="connsiteY14" fmla="*/ 269875 h 273050"/>
              <a:gd name="connsiteX15" fmla="*/ 222250 w 482600"/>
              <a:gd name="connsiteY15" fmla="*/ 263525 h 273050"/>
              <a:gd name="connsiteX16" fmla="*/ 254000 w 482600"/>
              <a:gd name="connsiteY16" fmla="*/ 273050 h 273050"/>
              <a:gd name="connsiteX17" fmla="*/ 295275 w 482600"/>
              <a:gd name="connsiteY17" fmla="*/ 266700 h 273050"/>
              <a:gd name="connsiteX18" fmla="*/ 320675 w 482600"/>
              <a:gd name="connsiteY18" fmla="*/ 263525 h 273050"/>
              <a:gd name="connsiteX19" fmla="*/ 323850 w 482600"/>
              <a:gd name="connsiteY19" fmla="*/ 225425 h 273050"/>
              <a:gd name="connsiteX20" fmla="*/ 330200 w 482600"/>
              <a:gd name="connsiteY20" fmla="*/ 215900 h 273050"/>
              <a:gd name="connsiteX21" fmla="*/ 333375 w 482600"/>
              <a:gd name="connsiteY21" fmla="*/ 200025 h 273050"/>
              <a:gd name="connsiteX22" fmla="*/ 336550 w 482600"/>
              <a:gd name="connsiteY22" fmla="*/ 190500 h 273050"/>
              <a:gd name="connsiteX23" fmla="*/ 339725 w 482600"/>
              <a:gd name="connsiteY23" fmla="*/ 177800 h 273050"/>
              <a:gd name="connsiteX24" fmla="*/ 342900 w 482600"/>
              <a:gd name="connsiteY24" fmla="*/ 123825 h 273050"/>
              <a:gd name="connsiteX25" fmla="*/ 349250 w 482600"/>
              <a:gd name="connsiteY25" fmla="*/ 107950 h 273050"/>
              <a:gd name="connsiteX26" fmla="*/ 352425 w 482600"/>
              <a:gd name="connsiteY26" fmla="*/ 95250 h 273050"/>
              <a:gd name="connsiteX27" fmla="*/ 358775 w 482600"/>
              <a:gd name="connsiteY27" fmla="*/ 38100 h 273050"/>
              <a:gd name="connsiteX28" fmla="*/ 368300 w 482600"/>
              <a:gd name="connsiteY28" fmla="*/ 3175 h 273050"/>
              <a:gd name="connsiteX29" fmla="*/ 381000 w 482600"/>
              <a:gd name="connsiteY29" fmla="*/ 6350 h 273050"/>
              <a:gd name="connsiteX30" fmla="*/ 390525 w 482600"/>
              <a:gd name="connsiteY30" fmla="*/ 15875 h 273050"/>
              <a:gd name="connsiteX31" fmla="*/ 406400 w 482600"/>
              <a:gd name="connsiteY31" fmla="*/ 12700 h 273050"/>
              <a:gd name="connsiteX32" fmla="*/ 425450 w 482600"/>
              <a:gd name="connsiteY32" fmla="*/ 6350 h 273050"/>
              <a:gd name="connsiteX33" fmla="*/ 447675 w 482600"/>
              <a:gd name="connsiteY33" fmla="*/ 12700 h 273050"/>
              <a:gd name="connsiteX34" fmla="*/ 457200 w 482600"/>
              <a:gd name="connsiteY34" fmla="*/ 9525 h 273050"/>
              <a:gd name="connsiteX35" fmla="*/ 473075 w 482600"/>
              <a:gd name="connsiteY35" fmla="*/ 3175 h 273050"/>
              <a:gd name="connsiteX36" fmla="*/ 482600 w 482600"/>
              <a:gd name="connsiteY36" fmla="*/ 3175 h 27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82600" h="273050">
                <a:moveTo>
                  <a:pt x="0" y="15875"/>
                </a:moveTo>
                <a:cubicBezTo>
                  <a:pt x="9525" y="14817"/>
                  <a:pt x="19122" y="14276"/>
                  <a:pt x="28575" y="12700"/>
                </a:cubicBezTo>
                <a:cubicBezTo>
                  <a:pt x="31876" y="12150"/>
                  <a:pt x="34833" y="8799"/>
                  <a:pt x="38100" y="9525"/>
                </a:cubicBezTo>
                <a:cubicBezTo>
                  <a:pt x="45030" y="11065"/>
                  <a:pt x="50800" y="15875"/>
                  <a:pt x="57150" y="19050"/>
                </a:cubicBezTo>
                <a:cubicBezTo>
                  <a:pt x="59307" y="16174"/>
                  <a:pt x="69236" y="0"/>
                  <a:pt x="76200" y="0"/>
                </a:cubicBezTo>
                <a:cubicBezTo>
                  <a:pt x="87269" y="0"/>
                  <a:pt x="102266" y="10560"/>
                  <a:pt x="111125" y="15875"/>
                </a:cubicBezTo>
                <a:cubicBezTo>
                  <a:pt x="125942" y="14817"/>
                  <a:pt x="141009" y="9787"/>
                  <a:pt x="155575" y="12700"/>
                </a:cubicBezTo>
                <a:cubicBezTo>
                  <a:pt x="159854" y="13556"/>
                  <a:pt x="158268" y="21063"/>
                  <a:pt x="158750" y="25400"/>
                </a:cubicBezTo>
                <a:cubicBezTo>
                  <a:pt x="164402" y="76272"/>
                  <a:pt x="158251" y="54907"/>
                  <a:pt x="165100" y="85725"/>
                </a:cubicBezTo>
                <a:cubicBezTo>
                  <a:pt x="166047" y="89985"/>
                  <a:pt x="166743" y="94339"/>
                  <a:pt x="168275" y="98425"/>
                </a:cubicBezTo>
                <a:cubicBezTo>
                  <a:pt x="169937" y="102857"/>
                  <a:pt x="172508" y="106892"/>
                  <a:pt x="174625" y="111125"/>
                </a:cubicBezTo>
                <a:cubicBezTo>
                  <a:pt x="184725" y="205391"/>
                  <a:pt x="178305" y="170801"/>
                  <a:pt x="187325" y="215900"/>
                </a:cubicBezTo>
                <a:cubicBezTo>
                  <a:pt x="188383" y="229658"/>
                  <a:pt x="188788" y="243483"/>
                  <a:pt x="190500" y="257175"/>
                </a:cubicBezTo>
                <a:cubicBezTo>
                  <a:pt x="190915" y="260496"/>
                  <a:pt x="190769" y="265040"/>
                  <a:pt x="193675" y="266700"/>
                </a:cubicBezTo>
                <a:cubicBezTo>
                  <a:pt x="199264" y="269894"/>
                  <a:pt x="206375" y="268817"/>
                  <a:pt x="212725" y="269875"/>
                </a:cubicBezTo>
                <a:cubicBezTo>
                  <a:pt x="215900" y="267758"/>
                  <a:pt x="218453" y="263905"/>
                  <a:pt x="222250" y="263525"/>
                </a:cubicBezTo>
                <a:cubicBezTo>
                  <a:pt x="240016" y="261748"/>
                  <a:pt x="242448" y="265349"/>
                  <a:pt x="254000" y="273050"/>
                </a:cubicBezTo>
                <a:cubicBezTo>
                  <a:pt x="272575" y="254475"/>
                  <a:pt x="255435" y="266700"/>
                  <a:pt x="295275" y="266700"/>
                </a:cubicBezTo>
                <a:cubicBezTo>
                  <a:pt x="303808" y="266700"/>
                  <a:pt x="312208" y="264583"/>
                  <a:pt x="320675" y="263525"/>
                </a:cubicBezTo>
                <a:cubicBezTo>
                  <a:pt x="321733" y="250825"/>
                  <a:pt x="321351" y="237922"/>
                  <a:pt x="323850" y="225425"/>
                </a:cubicBezTo>
                <a:cubicBezTo>
                  <a:pt x="324598" y="221683"/>
                  <a:pt x="328860" y="219473"/>
                  <a:pt x="330200" y="215900"/>
                </a:cubicBezTo>
                <a:cubicBezTo>
                  <a:pt x="332095" y="210847"/>
                  <a:pt x="332066" y="205260"/>
                  <a:pt x="333375" y="200025"/>
                </a:cubicBezTo>
                <a:cubicBezTo>
                  <a:pt x="334187" y="196778"/>
                  <a:pt x="335631" y="193718"/>
                  <a:pt x="336550" y="190500"/>
                </a:cubicBezTo>
                <a:cubicBezTo>
                  <a:pt x="337749" y="186304"/>
                  <a:pt x="338667" y="182033"/>
                  <a:pt x="339725" y="177800"/>
                </a:cubicBezTo>
                <a:cubicBezTo>
                  <a:pt x="340783" y="159808"/>
                  <a:pt x="340465" y="141683"/>
                  <a:pt x="342900" y="123825"/>
                </a:cubicBezTo>
                <a:cubicBezTo>
                  <a:pt x="343670" y="118178"/>
                  <a:pt x="347448" y="113357"/>
                  <a:pt x="349250" y="107950"/>
                </a:cubicBezTo>
                <a:cubicBezTo>
                  <a:pt x="350630" y="103810"/>
                  <a:pt x="351367" y="99483"/>
                  <a:pt x="352425" y="95250"/>
                </a:cubicBezTo>
                <a:cubicBezTo>
                  <a:pt x="354542" y="76200"/>
                  <a:pt x="355860" y="57044"/>
                  <a:pt x="358775" y="38100"/>
                </a:cubicBezTo>
                <a:cubicBezTo>
                  <a:pt x="360821" y="24800"/>
                  <a:pt x="364327" y="15094"/>
                  <a:pt x="368300" y="3175"/>
                </a:cubicBezTo>
                <a:cubicBezTo>
                  <a:pt x="372533" y="4233"/>
                  <a:pt x="377211" y="4185"/>
                  <a:pt x="381000" y="6350"/>
                </a:cubicBezTo>
                <a:cubicBezTo>
                  <a:pt x="384899" y="8578"/>
                  <a:pt x="386169" y="14786"/>
                  <a:pt x="390525" y="15875"/>
                </a:cubicBezTo>
                <a:cubicBezTo>
                  <a:pt x="395760" y="17184"/>
                  <a:pt x="401194" y="14120"/>
                  <a:pt x="406400" y="12700"/>
                </a:cubicBezTo>
                <a:cubicBezTo>
                  <a:pt x="412858" y="10939"/>
                  <a:pt x="425450" y="6350"/>
                  <a:pt x="425450" y="6350"/>
                </a:cubicBezTo>
                <a:cubicBezTo>
                  <a:pt x="429942" y="7847"/>
                  <a:pt x="443688" y="12700"/>
                  <a:pt x="447675" y="12700"/>
                </a:cubicBezTo>
                <a:cubicBezTo>
                  <a:pt x="451022" y="12700"/>
                  <a:pt x="454066" y="10700"/>
                  <a:pt x="457200" y="9525"/>
                </a:cubicBezTo>
                <a:cubicBezTo>
                  <a:pt x="462536" y="7524"/>
                  <a:pt x="467546" y="4557"/>
                  <a:pt x="473075" y="3175"/>
                </a:cubicBezTo>
                <a:cubicBezTo>
                  <a:pt x="476155" y="2405"/>
                  <a:pt x="479425" y="3175"/>
                  <a:pt x="482600" y="31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723666C-4293-184A-2C08-614276092B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997" t="6538" r="12830" b="4468"/>
          <a:stretch>
            <a:fillRect/>
          </a:stretch>
        </p:blipFill>
        <p:spPr>
          <a:xfrm rot="900000">
            <a:off x="6629048" y="5723961"/>
            <a:ext cx="1075406" cy="873460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3146346-FF6D-56E9-712C-6A0EEA20BA41}"/>
              </a:ext>
            </a:extLst>
          </p:cNvPr>
          <p:cNvSpPr/>
          <p:nvPr/>
        </p:nvSpPr>
        <p:spPr>
          <a:xfrm rot="16200000">
            <a:off x="6738568" y="5909686"/>
            <a:ext cx="672565" cy="607315"/>
          </a:xfrm>
          <a:custGeom>
            <a:avLst/>
            <a:gdLst>
              <a:gd name="connsiteX0" fmla="*/ 672565 w 672565"/>
              <a:gd name="connsiteY0" fmla="*/ 0 h 607315"/>
              <a:gd name="connsiteX1" fmla="*/ 520736 w 672565"/>
              <a:gd name="connsiteY1" fmla="*/ 607315 h 607315"/>
              <a:gd name="connsiteX2" fmla="*/ 0 w 672565"/>
              <a:gd name="connsiteY2" fmla="*/ 607315 h 607315"/>
              <a:gd name="connsiteX3" fmla="*/ 52728 w 672565"/>
              <a:gd name="connsiteY3" fmla="*/ 396405 h 607315"/>
              <a:gd name="connsiteX4" fmla="*/ 208281 w 672565"/>
              <a:gd name="connsiteY4" fmla="*/ 396405 h 607315"/>
              <a:gd name="connsiteX5" fmla="*/ 208281 w 672565"/>
              <a:gd name="connsiteY5" fmla="*/ 65411 h 607315"/>
              <a:gd name="connsiteX6" fmla="*/ 135476 w 672565"/>
              <a:gd name="connsiteY6" fmla="*/ 65411 h 607315"/>
              <a:gd name="connsiteX7" fmla="*/ 151829 w 672565"/>
              <a:gd name="connsiteY7" fmla="*/ 0 h 607315"/>
              <a:gd name="connsiteX0" fmla="*/ 672565 w 672565"/>
              <a:gd name="connsiteY0" fmla="*/ 0 h 607315"/>
              <a:gd name="connsiteX1" fmla="*/ 520736 w 672565"/>
              <a:gd name="connsiteY1" fmla="*/ 607315 h 607315"/>
              <a:gd name="connsiteX2" fmla="*/ 0 w 672565"/>
              <a:gd name="connsiteY2" fmla="*/ 607315 h 607315"/>
              <a:gd name="connsiteX3" fmla="*/ 52728 w 672565"/>
              <a:gd name="connsiteY3" fmla="*/ 396405 h 607315"/>
              <a:gd name="connsiteX4" fmla="*/ 208281 w 672565"/>
              <a:gd name="connsiteY4" fmla="*/ 65411 h 607315"/>
              <a:gd name="connsiteX5" fmla="*/ 135476 w 672565"/>
              <a:gd name="connsiteY5" fmla="*/ 65411 h 607315"/>
              <a:gd name="connsiteX6" fmla="*/ 151829 w 672565"/>
              <a:gd name="connsiteY6" fmla="*/ 0 h 607315"/>
              <a:gd name="connsiteX7" fmla="*/ 672565 w 672565"/>
              <a:gd name="connsiteY7" fmla="*/ 0 h 607315"/>
              <a:gd name="connsiteX0" fmla="*/ 208281 w 672565"/>
              <a:gd name="connsiteY0" fmla="*/ 65411 h 607315"/>
              <a:gd name="connsiteX1" fmla="*/ 135476 w 672565"/>
              <a:gd name="connsiteY1" fmla="*/ 65411 h 607315"/>
              <a:gd name="connsiteX2" fmla="*/ 151829 w 672565"/>
              <a:gd name="connsiteY2" fmla="*/ 0 h 607315"/>
              <a:gd name="connsiteX3" fmla="*/ 672565 w 672565"/>
              <a:gd name="connsiteY3" fmla="*/ 0 h 607315"/>
              <a:gd name="connsiteX4" fmla="*/ 520736 w 672565"/>
              <a:gd name="connsiteY4" fmla="*/ 607315 h 607315"/>
              <a:gd name="connsiteX5" fmla="*/ 0 w 672565"/>
              <a:gd name="connsiteY5" fmla="*/ 607315 h 607315"/>
              <a:gd name="connsiteX6" fmla="*/ 52728 w 672565"/>
              <a:gd name="connsiteY6" fmla="*/ 396405 h 607315"/>
              <a:gd name="connsiteX7" fmla="*/ 299721 w 672565"/>
              <a:gd name="connsiteY7" fmla="*/ 156851 h 607315"/>
              <a:gd name="connsiteX0" fmla="*/ 208281 w 672565"/>
              <a:gd name="connsiteY0" fmla="*/ 65411 h 607315"/>
              <a:gd name="connsiteX1" fmla="*/ 135476 w 672565"/>
              <a:gd name="connsiteY1" fmla="*/ 65411 h 607315"/>
              <a:gd name="connsiteX2" fmla="*/ 151829 w 672565"/>
              <a:gd name="connsiteY2" fmla="*/ 0 h 607315"/>
              <a:gd name="connsiteX3" fmla="*/ 672565 w 672565"/>
              <a:gd name="connsiteY3" fmla="*/ 0 h 607315"/>
              <a:gd name="connsiteX4" fmla="*/ 520736 w 672565"/>
              <a:gd name="connsiteY4" fmla="*/ 607315 h 607315"/>
              <a:gd name="connsiteX5" fmla="*/ 0 w 672565"/>
              <a:gd name="connsiteY5" fmla="*/ 607315 h 607315"/>
              <a:gd name="connsiteX6" fmla="*/ 52728 w 672565"/>
              <a:gd name="connsiteY6" fmla="*/ 396405 h 607315"/>
              <a:gd name="connsiteX0" fmla="*/ 135476 w 672565"/>
              <a:gd name="connsiteY0" fmla="*/ 65411 h 607315"/>
              <a:gd name="connsiteX1" fmla="*/ 151829 w 672565"/>
              <a:gd name="connsiteY1" fmla="*/ 0 h 607315"/>
              <a:gd name="connsiteX2" fmla="*/ 672565 w 672565"/>
              <a:gd name="connsiteY2" fmla="*/ 0 h 607315"/>
              <a:gd name="connsiteX3" fmla="*/ 520736 w 672565"/>
              <a:gd name="connsiteY3" fmla="*/ 607315 h 607315"/>
              <a:gd name="connsiteX4" fmla="*/ 0 w 672565"/>
              <a:gd name="connsiteY4" fmla="*/ 607315 h 607315"/>
              <a:gd name="connsiteX5" fmla="*/ 52728 w 672565"/>
              <a:gd name="connsiteY5" fmla="*/ 396405 h 60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565" h="607315">
                <a:moveTo>
                  <a:pt x="135476" y="65411"/>
                </a:moveTo>
                <a:lnTo>
                  <a:pt x="151829" y="0"/>
                </a:lnTo>
                <a:lnTo>
                  <a:pt x="672565" y="0"/>
                </a:lnTo>
                <a:lnTo>
                  <a:pt x="520736" y="607315"/>
                </a:lnTo>
                <a:lnTo>
                  <a:pt x="0" y="607315"/>
                </a:lnTo>
                <a:lnTo>
                  <a:pt x="52728" y="396405"/>
                </a:ln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C67581-0B96-F2F6-982D-107DB4D062A2}"/>
              </a:ext>
            </a:extLst>
          </p:cNvPr>
          <p:cNvCxnSpPr>
            <a:cxnSpLocks/>
          </p:cNvCxnSpPr>
          <p:nvPr/>
        </p:nvCxnSpPr>
        <p:spPr>
          <a:xfrm>
            <a:off x="7378508" y="6284194"/>
            <a:ext cx="101638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5047207-0F37-57EF-7239-E06BCBF6125E}"/>
              </a:ext>
            </a:extLst>
          </p:cNvPr>
          <p:cNvSpPr/>
          <p:nvPr/>
        </p:nvSpPr>
        <p:spPr>
          <a:xfrm>
            <a:off x="8394890" y="5730054"/>
            <a:ext cx="1068233" cy="917891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Trapezoid 34">
            <a:extLst>
              <a:ext uri="{FF2B5EF4-FFF2-40B4-BE49-F238E27FC236}">
                <a16:creationId xmlns:a16="http://schemas.microsoft.com/office/drawing/2014/main" id="{0F00F556-3D38-142D-3762-D540BDACA1E7}"/>
              </a:ext>
            </a:extLst>
          </p:cNvPr>
          <p:cNvSpPr/>
          <p:nvPr/>
        </p:nvSpPr>
        <p:spPr>
          <a:xfrm>
            <a:off x="8728981" y="6074645"/>
            <a:ext cx="400050" cy="344487"/>
          </a:xfrm>
          <a:prstGeom prst="trapezoid">
            <a:avLst>
              <a:gd name="adj" fmla="val 12558"/>
            </a:avLst>
          </a:prstGeom>
          <a:solidFill>
            <a:srgbClr val="626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53F54DF-11F6-DF13-010C-538051D28F6F}"/>
              </a:ext>
            </a:extLst>
          </p:cNvPr>
          <p:cNvSpPr/>
          <p:nvPr/>
        </p:nvSpPr>
        <p:spPr>
          <a:xfrm>
            <a:off x="9061165" y="6346436"/>
            <a:ext cx="67867" cy="72697"/>
          </a:xfrm>
          <a:custGeom>
            <a:avLst/>
            <a:gdLst>
              <a:gd name="connsiteX0" fmla="*/ 58738 w 67867"/>
              <a:gd name="connsiteY0" fmla="*/ 0 h 72697"/>
              <a:gd name="connsiteX1" fmla="*/ 67867 w 67867"/>
              <a:gd name="connsiteY1" fmla="*/ 72697 h 72697"/>
              <a:gd name="connsiteX2" fmla="*/ 1923 w 67867"/>
              <a:gd name="connsiteY2" fmla="*/ 72697 h 72697"/>
              <a:gd name="connsiteX3" fmla="*/ 0 w 67867"/>
              <a:gd name="connsiteY3" fmla="*/ 63172 h 72697"/>
              <a:gd name="connsiteX4" fmla="*/ 39268 w 67867"/>
              <a:gd name="connsiteY4" fmla="*/ 3931 h 7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67" h="72697">
                <a:moveTo>
                  <a:pt x="58738" y="0"/>
                </a:moveTo>
                <a:lnTo>
                  <a:pt x="67867" y="72697"/>
                </a:lnTo>
                <a:lnTo>
                  <a:pt x="1923" y="72697"/>
                </a:lnTo>
                <a:lnTo>
                  <a:pt x="0" y="63172"/>
                </a:lnTo>
                <a:cubicBezTo>
                  <a:pt x="0" y="36541"/>
                  <a:pt x="16192" y="13691"/>
                  <a:pt x="39268" y="393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C0D8666-2627-764F-DDAF-7950E5FBA373}"/>
              </a:ext>
            </a:extLst>
          </p:cNvPr>
          <p:cNvSpPr/>
          <p:nvPr/>
        </p:nvSpPr>
        <p:spPr>
          <a:xfrm>
            <a:off x="8929005" y="6236570"/>
            <a:ext cx="200025" cy="182562"/>
          </a:xfrm>
          <a:custGeom>
            <a:avLst/>
            <a:gdLst>
              <a:gd name="connsiteX0" fmla="*/ 177099 w 400050"/>
              <a:gd name="connsiteY0" fmla="*/ 0 h 290512"/>
              <a:gd name="connsiteX1" fmla="*/ 400050 w 400050"/>
              <a:gd name="connsiteY1" fmla="*/ 0 h 290512"/>
              <a:gd name="connsiteX2" fmla="*/ 400050 w 400050"/>
              <a:gd name="connsiteY2" fmla="*/ 290512 h 290512"/>
              <a:gd name="connsiteX3" fmla="*/ 0 w 400050"/>
              <a:gd name="connsiteY3" fmla="*/ 290512 h 290512"/>
              <a:gd name="connsiteX4" fmla="*/ 0 w 400050"/>
              <a:gd name="connsiteY4" fmla="*/ 182562 h 290512"/>
              <a:gd name="connsiteX5" fmla="*/ 200025 w 400050"/>
              <a:gd name="connsiteY5" fmla="*/ 182562 h 290512"/>
              <a:gd name="connsiteX0" fmla="*/ 400050 w 491490"/>
              <a:gd name="connsiteY0" fmla="*/ 0 h 290512"/>
              <a:gd name="connsiteX1" fmla="*/ 400050 w 491490"/>
              <a:gd name="connsiteY1" fmla="*/ 290512 h 290512"/>
              <a:gd name="connsiteX2" fmla="*/ 0 w 491490"/>
              <a:gd name="connsiteY2" fmla="*/ 290512 h 290512"/>
              <a:gd name="connsiteX3" fmla="*/ 0 w 491490"/>
              <a:gd name="connsiteY3" fmla="*/ 182562 h 290512"/>
              <a:gd name="connsiteX4" fmla="*/ 200025 w 491490"/>
              <a:gd name="connsiteY4" fmla="*/ 182562 h 290512"/>
              <a:gd name="connsiteX5" fmla="*/ 177099 w 491490"/>
              <a:gd name="connsiteY5" fmla="*/ 0 h 290512"/>
              <a:gd name="connsiteX6" fmla="*/ 491490 w 491490"/>
              <a:gd name="connsiteY6" fmla="*/ 91440 h 290512"/>
              <a:gd name="connsiteX0" fmla="*/ 400050 w 400050"/>
              <a:gd name="connsiteY0" fmla="*/ 0 h 290512"/>
              <a:gd name="connsiteX1" fmla="*/ 400050 w 400050"/>
              <a:gd name="connsiteY1" fmla="*/ 290512 h 290512"/>
              <a:gd name="connsiteX2" fmla="*/ 0 w 400050"/>
              <a:gd name="connsiteY2" fmla="*/ 290512 h 290512"/>
              <a:gd name="connsiteX3" fmla="*/ 0 w 400050"/>
              <a:gd name="connsiteY3" fmla="*/ 182562 h 290512"/>
              <a:gd name="connsiteX4" fmla="*/ 200025 w 400050"/>
              <a:gd name="connsiteY4" fmla="*/ 182562 h 290512"/>
              <a:gd name="connsiteX5" fmla="*/ 177099 w 400050"/>
              <a:gd name="connsiteY5" fmla="*/ 0 h 290512"/>
              <a:gd name="connsiteX0" fmla="*/ 400050 w 400050"/>
              <a:gd name="connsiteY0" fmla="*/ 0 h 290512"/>
              <a:gd name="connsiteX1" fmla="*/ 0 w 400050"/>
              <a:gd name="connsiteY1" fmla="*/ 290512 h 290512"/>
              <a:gd name="connsiteX2" fmla="*/ 0 w 400050"/>
              <a:gd name="connsiteY2" fmla="*/ 182562 h 290512"/>
              <a:gd name="connsiteX3" fmla="*/ 200025 w 400050"/>
              <a:gd name="connsiteY3" fmla="*/ 182562 h 290512"/>
              <a:gd name="connsiteX4" fmla="*/ 177099 w 400050"/>
              <a:gd name="connsiteY4" fmla="*/ 0 h 290512"/>
              <a:gd name="connsiteX0" fmla="*/ 400050 w 400050"/>
              <a:gd name="connsiteY0" fmla="*/ 0 h 182562"/>
              <a:gd name="connsiteX1" fmla="*/ 0 w 400050"/>
              <a:gd name="connsiteY1" fmla="*/ 182562 h 182562"/>
              <a:gd name="connsiteX2" fmla="*/ 200025 w 400050"/>
              <a:gd name="connsiteY2" fmla="*/ 182562 h 182562"/>
              <a:gd name="connsiteX3" fmla="*/ 177099 w 400050"/>
              <a:gd name="connsiteY3" fmla="*/ 0 h 182562"/>
              <a:gd name="connsiteX0" fmla="*/ 0 w 200025"/>
              <a:gd name="connsiteY0" fmla="*/ 182562 h 182562"/>
              <a:gd name="connsiteX1" fmla="*/ 200025 w 200025"/>
              <a:gd name="connsiteY1" fmla="*/ 182562 h 182562"/>
              <a:gd name="connsiteX2" fmla="*/ 177099 w 200025"/>
              <a:gd name="connsiteY2" fmla="*/ 0 h 1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025" h="182562">
                <a:moveTo>
                  <a:pt x="0" y="182562"/>
                </a:moveTo>
                <a:lnTo>
                  <a:pt x="200025" y="182562"/>
                </a:lnTo>
                <a:lnTo>
                  <a:pt x="177099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E8C8988B-E20E-7C4F-5698-C69319B27BC2}"/>
              </a:ext>
            </a:extLst>
          </p:cNvPr>
          <p:cNvCxnSpPr>
            <a:cxnSpLocks/>
            <a:endCxn id="1036" idx="1"/>
          </p:cNvCxnSpPr>
          <p:nvPr/>
        </p:nvCxnSpPr>
        <p:spPr>
          <a:xfrm flipV="1">
            <a:off x="9129030" y="6258505"/>
            <a:ext cx="1102662" cy="81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Text Placeholder 7">
            <a:extLst>
              <a:ext uri="{FF2B5EF4-FFF2-40B4-BE49-F238E27FC236}">
                <a16:creationId xmlns:a16="http://schemas.microsoft.com/office/drawing/2014/main" id="{4C922C7D-6F43-86D6-5847-5D8CB64A2D11}"/>
              </a:ext>
            </a:extLst>
          </p:cNvPr>
          <p:cNvSpPr txBox="1">
            <a:spLocks/>
          </p:cNvSpPr>
          <p:nvPr/>
        </p:nvSpPr>
        <p:spPr>
          <a:xfrm>
            <a:off x="10231692" y="6039430"/>
            <a:ext cx="1513848" cy="438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/>
              <a:t>Sidewall angle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545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F7EB4E-B6A4-D97D-2419-521ADD2461A9}"/>
              </a:ext>
            </a:extLst>
          </p:cNvPr>
          <p:cNvSpPr>
            <a:spLocks noGrp="1"/>
          </p:cNvSpPr>
          <p:nvPr/>
        </p:nvSpPr>
        <p:spPr>
          <a:xfrm>
            <a:off x="466725" y="365125"/>
            <a:ext cx="1125855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Resolution Standards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BB9B12-F683-7F6E-DD73-58B205E86388}"/>
              </a:ext>
            </a:extLst>
          </p:cNvPr>
          <p:cNvSpPr/>
          <p:nvPr/>
        </p:nvSpPr>
        <p:spPr>
          <a:xfrm>
            <a:off x="5230773" y="277397"/>
            <a:ext cx="6494502" cy="52898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 sz="1600"/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CBC4A774-20F3-C158-A895-D2A667F16FF5}"/>
              </a:ext>
            </a:extLst>
          </p:cNvPr>
          <p:cNvSpPr txBox="1"/>
          <p:nvPr/>
        </p:nvSpPr>
        <p:spPr>
          <a:xfrm>
            <a:off x="5240440" y="304223"/>
            <a:ext cx="649450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b="1" u="sng" dirty="0"/>
              <a:t>Published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Free-standing grid fabricated for use as resolution standard in proton beam writing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Free-standing Ni resolution standard for sub-30 nm dimensions in 2005 [1]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Orthogonal Ni grid with 500 nm thickness achieved in 2013 [2]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Au grid with 190 nm thickness used to achieve 23 nm spot size in 2019 [3]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Achieved 6 × 10 nm lateral resolution in 2023 using the above grids for focusing [4]</a:t>
            </a:r>
          </a:p>
          <a:p>
            <a:pPr lvl="1"/>
            <a:endParaRPr lang="en-SG" sz="1600" dirty="0"/>
          </a:p>
          <a:p>
            <a:pPr marL="0" lvl="1" algn="ctr"/>
            <a:r>
              <a:rPr lang="en-SG" sz="1600" b="1" u="sng" dirty="0"/>
              <a:t>Current 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Same grid used for more than 5 years without degrading performance in CIBA PBW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For production of nanofluidic chip master stamps, imaging,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SG" sz="1600" dirty="0"/>
          </a:p>
          <a:p>
            <a:pPr marL="0" lvl="1" algn="ctr"/>
            <a:r>
              <a:rPr lang="en-SG" sz="1600" b="1" u="sng" dirty="0"/>
              <a:t>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Consistent production of grids with proven high resolution capability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Tried-and-tested SOP for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Proven track record of consistent small beam spot sizes with heavy usage over a decade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2F58CD-5A74-150B-CF39-20942CEB1AA5}"/>
              </a:ext>
            </a:extLst>
          </p:cNvPr>
          <p:cNvSpPr/>
          <p:nvPr/>
        </p:nvSpPr>
        <p:spPr>
          <a:xfrm>
            <a:off x="282702" y="1083677"/>
            <a:ext cx="4666588" cy="38083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SG" sz="1600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43D3F824-37C8-676D-BBAB-6071D5F62B32}"/>
              </a:ext>
            </a:extLst>
          </p:cNvPr>
          <p:cNvSpPr txBox="1"/>
          <p:nvPr/>
        </p:nvSpPr>
        <p:spPr>
          <a:xfrm>
            <a:off x="282702" y="1110502"/>
            <a:ext cx="4666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b="1" u="sng" dirty="0"/>
              <a:t>Summarised Grid Production Process</a:t>
            </a:r>
            <a:endParaRPr lang="en-SG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885435-1AAD-B443-69F1-461436AF4C4D}"/>
              </a:ext>
            </a:extLst>
          </p:cNvPr>
          <p:cNvSpPr/>
          <p:nvPr/>
        </p:nvSpPr>
        <p:spPr>
          <a:xfrm>
            <a:off x="542177" y="1674919"/>
            <a:ext cx="1682496" cy="16814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392ED2-8D19-BB56-1E63-A5CC0591FC97}"/>
              </a:ext>
            </a:extLst>
          </p:cNvPr>
          <p:cNvSpPr/>
          <p:nvPr/>
        </p:nvSpPr>
        <p:spPr>
          <a:xfrm>
            <a:off x="542177" y="1618333"/>
            <a:ext cx="1682496" cy="565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ED260B-99C2-AE71-2F09-1CAC635077AE}"/>
              </a:ext>
            </a:extLst>
          </p:cNvPr>
          <p:cNvSpPr/>
          <p:nvPr/>
        </p:nvSpPr>
        <p:spPr>
          <a:xfrm>
            <a:off x="542177" y="1561747"/>
            <a:ext cx="1682496" cy="565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0D586A1-A144-F00F-02EE-FA127B071DDE}"/>
              </a:ext>
            </a:extLst>
          </p:cNvPr>
          <p:cNvSpPr txBox="1">
            <a:spLocks/>
          </p:cNvSpPr>
          <p:nvPr/>
        </p:nvSpPr>
        <p:spPr>
          <a:xfrm>
            <a:off x="2403572" y="1758993"/>
            <a:ext cx="946851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/>
              <a:t>Substrate</a:t>
            </a:r>
            <a:endParaRPr lang="en-SG" sz="1200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5846856-3732-516A-BC61-D4B87789868F}"/>
              </a:ext>
            </a:extLst>
          </p:cNvPr>
          <p:cNvSpPr txBox="1">
            <a:spLocks/>
          </p:cNvSpPr>
          <p:nvPr/>
        </p:nvSpPr>
        <p:spPr>
          <a:xfrm>
            <a:off x="2403572" y="1585202"/>
            <a:ext cx="1682496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/>
              <a:t>Cr, Au, Cu seed layers</a:t>
            </a:r>
            <a:endParaRPr lang="en-SG" sz="1200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CC7AC1FF-86CC-1CBC-0831-29ED93889F2A}"/>
              </a:ext>
            </a:extLst>
          </p:cNvPr>
          <p:cNvSpPr txBox="1">
            <a:spLocks/>
          </p:cNvSpPr>
          <p:nvPr/>
        </p:nvSpPr>
        <p:spPr>
          <a:xfrm>
            <a:off x="2403572" y="1411411"/>
            <a:ext cx="1682496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/>
              <a:t>PMMA</a:t>
            </a:r>
            <a:endParaRPr lang="en-SG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BDD685-AA6A-D15C-B16A-83C4E6413D4F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2224673" y="1758993"/>
            <a:ext cx="231645" cy="104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045DCF-0AB3-4E6F-9420-66E45E5ABE0F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2224673" y="1646626"/>
            <a:ext cx="235949" cy="63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2E7ABC-9BAA-7AB6-81F7-42807AA32309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2224673" y="1512965"/>
            <a:ext cx="235949" cy="77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85A3252-4A09-34F6-DF89-927946EE61BD}"/>
              </a:ext>
            </a:extLst>
          </p:cNvPr>
          <p:cNvSpPr/>
          <p:nvPr/>
        </p:nvSpPr>
        <p:spPr>
          <a:xfrm>
            <a:off x="542177" y="2440106"/>
            <a:ext cx="1682496" cy="16814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5304CB-A5FB-4EDF-3E28-FA27FAB6C2C8}"/>
              </a:ext>
            </a:extLst>
          </p:cNvPr>
          <p:cNvSpPr/>
          <p:nvPr/>
        </p:nvSpPr>
        <p:spPr>
          <a:xfrm>
            <a:off x="542177" y="2383520"/>
            <a:ext cx="1682496" cy="565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BC7A9B8-363E-F2D9-7447-69B93417079B}"/>
              </a:ext>
            </a:extLst>
          </p:cNvPr>
          <p:cNvSpPr/>
          <p:nvPr/>
        </p:nvSpPr>
        <p:spPr>
          <a:xfrm>
            <a:off x="542177" y="2326934"/>
            <a:ext cx="1682496" cy="56586"/>
          </a:xfrm>
          <a:custGeom>
            <a:avLst/>
            <a:gdLst>
              <a:gd name="connsiteX0" fmla="*/ 1149090 w 1682496"/>
              <a:gd name="connsiteY0" fmla="*/ 0 h 56586"/>
              <a:gd name="connsiteX1" fmla="*/ 1682496 w 1682496"/>
              <a:gd name="connsiteY1" fmla="*/ 0 h 56586"/>
              <a:gd name="connsiteX2" fmla="*/ 1682496 w 1682496"/>
              <a:gd name="connsiteY2" fmla="*/ 56586 h 56586"/>
              <a:gd name="connsiteX3" fmla="*/ 1149090 w 1682496"/>
              <a:gd name="connsiteY3" fmla="*/ 56586 h 56586"/>
              <a:gd name="connsiteX4" fmla="*/ 892265 w 1682496"/>
              <a:gd name="connsiteY4" fmla="*/ 0 h 56586"/>
              <a:gd name="connsiteX5" fmla="*/ 1047058 w 1682496"/>
              <a:gd name="connsiteY5" fmla="*/ 0 h 56586"/>
              <a:gd name="connsiteX6" fmla="*/ 1047058 w 1682496"/>
              <a:gd name="connsiteY6" fmla="*/ 56586 h 56586"/>
              <a:gd name="connsiteX7" fmla="*/ 892265 w 1682496"/>
              <a:gd name="connsiteY7" fmla="*/ 56586 h 56586"/>
              <a:gd name="connsiteX8" fmla="*/ 635439 w 1682496"/>
              <a:gd name="connsiteY8" fmla="*/ 0 h 56586"/>
              <a:gd name="connsiteX9" fmla="*/ 790233 w 1682496"/>
              <a:gd name="connsiteY9" fmla="*/ 0 h 56586"/>
              <a:gd name="connsiteX10" fmla="*/ 790233 w 1682496"/>
              <a:gd name="connsiteY10" fmla="*/ 56586 h 56586"/>
              <a:gd name="connsiteX11" fmla="*/ 635439 w 1682496"/>
              <a:gd name="connsiteY11" fmla="*/ 56586 h 56586"/>
              <a:gd name="connsiteX12" fmla="*/ 0 w 1682496"/>
              <a:gd name="connsiteY12" fmla="*/ 0 h 56586"/>
              <a:gd name="connsiteX13" fmla="*/ 533407 w 1682496"/>
              <a:gd name="connsiteY13" fmla="*/ 0 h 56586"/>
              <a:gd name="connsiteX14" fmla="*/ 533407 w 1682496"/>
              <a:gd name="connsiteY14" fmla="*/ 56586 h 56586"/>
              <a:gd name="connsiteX15" fmla="*/ 0 w 1682496"/>
              <a:gd name="connsiteY15" fmla="*/ 56586 h 56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82496" h="56586">
                <a:moveTo>
                  <a:pt x="1149090" y="0"/>
                </a:moveTo>
                <a:lnTo>
                  <a:pt x="1682496" y="0"/>
                </a:lnTo>
                <a:lnTo>
                  <a:pt x="1682496" y="56586"/>
                </a:lnTo>
                <a:lnTo>
                  <a:pt x="1149090" y="56586"/>
                </a:lnTo>
                <a:close/>
                <a:moveTo>
                  <a:pt x="892265" y="0"/>
                </a:moveTo>
                <a:lnTo>
                  <a:pt x="1047058" y="0"/>
                </a:lnTo>
                <a:lnTo>
                  <a:pt x="1047058" y="56586"/>
                </a:lnTo>
                <a:lnTo>
                  <a:pt x="892265" y="56586"/>
                </a:lnTo>
                <a:close/>
                <a:moveTo>
                  <a:pt x="635439" y="0"/>
                </a:moveTo>
                <a:lnTo>
                  <a:pt x="790233" y="0"/>
                </a:lnTo>
                <a:lnTo>
                  <a:pt x="790233" y="56586"/>
                </a:lnTo>
                <a:lnTo>
                  <a:pt x="635439" y="56586"/>
                </a:lnTo>
                <a:close/>
                <a:moveTo>
                  <a:pt x="0" y="0"/>
                </a:moveTo>
                <a:lnTo>
                  <a:pt x="533407" y="0"/>
                </a:lnTo>
                <a:lnTo>
                  <a:pt x="533407" y="56586"/>
                </a:lnTo>
                <a:lnTo>
                  <a:pt x="0" y="5658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C414B5EB-7ACC-D619-80F3-442B41D54535}"/>
              </a:ext>
            </a:extLst>
          </p:cNvPr>
          <p:cNvSpPr/>
          <p:nvPr/>
        </p:nvSpPr>
        <p:spPr>
          <a:xfrm>
            <a:off x="1284365" y="1972952"/>
            <a:ext cx="198120" cy="22409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C32CBFF5-DB02-1C95-CEF7-9241B871EF77}"/>
              </a:ext>
            </a:extLst>
          </p:cNvPr>
          <p:cNvSpPr txBox="1">
            <a:spLocks/>
          </p:cNvSpPr>
          <p:nvPr/>
        </p:nvSpPr>
        <p:spPr>
          <a:xfrm>
            <a:off x="2403572" y="2361088"/>
            <a:ext cx="2250662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/>
              <a:t>PBW and PMMA development</a:t>
            </a:r>
            <a:endParaRPr lang="en-SG" sz="1200" dirty="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15415060-6A62-4854-BB7C-6B56C5E1282C}"/>
              </a:ext>
            </a:extLst>
          </p:cNvPr>
          <p:cNvSpPr/>
          <p:nvPr/>
        </p:nvSpPr>
        <p:spPr>
          <a:xfrm>
            <a:off x="1284365" y="2743557"/>
            <a:ext cx="198120" cy="22409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D7CD8BB-EAC7-D1CD-0706-120315A4B3B9}"/>
              </a:ext>
            </a:extLst>
          </p:cNvPr>
          <p:cNvSpPr/>
          <p:nvPr/>
        </p:nvSpPr>
        <p:spPr>
          <a:xfrm>
            <a:off x="542177" y="3207544"/>
            <a:ext cx="1682496" cy="16814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8501BC-0804-6B10-74B6-E6D9560F6572}"/>
              </a:ext>
            </a:extLst>
          </p:cNvPr>
          <p:cNvSpPr/>
          <p:nvPr/>
        </p:nvSpPr>
        <p:spPr>
          <a:xfrm>
            <a:off x="542177" y="3150958"/>
            <a:ext cx="1682496" cy="565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F201244-DE6F-2092-F2AB-A2C7170683EB}"/>
              </a:ext>
            </a:extLst>
          </p:cNvPr>
          <p:cNvSpPr/>
          <p:nvPr/>
        </p:nvSpPr>
        <p:spPr>
          <a:xfrm>
            <a:off x="542177" y="3094372"/>
            <a:ext cx="1682496" cy="56586"/>
          </a:xfrm>
          <a:custGeom>
            <a:avLst/>
            <a:gdLst>
              <a:gd name="connsiteX0" fmla="*/ 1149090 w 1682496"/>
              <a:gd name="connsiteY0" fmla="*/ 0 h 56586"/>
              <a:gd name="connsiteX1" fmla="*/ 1682496 w 1682496"/>
              <a:gd name="connsiteY1" fmla="*/ 0 h 56586"/>
              <a:gd name="connsiteX2" fmla="*/ 1682496 w 1682496"/>
              <a:gd name="connsiteY2" fmla="*/ 56586 h 56586"/>
              <a:gd name="connsiteX3" fmla="*/ 1149090 w 1682496"/>
              <a:gd name="connsiteY3" fmla="*/ 56586 h 56586"/>
              <a:gd name="connsiteX4" fmla="*/ 892265 w 1682496"/>
              <a:gd name="connsiteY4" fmla="*/ 0 h 56586"/>
              <a:gd name="connsiteX5" fmla="*/ 1047058 w 1682496"/>
              <a:gd name="connsiteY5" fmla="*/ 0 h 56586"/>
              <a:gd name="connsiteX6" fmla="*/ 1047058 w 1682496"/>
              <a:gd name="connsiteY6" fmla="*/ 56586 h 56586"/>
              <a:gd name="connsiteX7" fmla="*/ 892265 w 1682496"/>
              <a:gd name="connsiteY7" fmla="*/ 56586 h 56586"/>
              <a:gd name="connsiteX8" fmla="*/ 635439 w 1682496"/>
              <a:gd name="connsiteY8" fmla="*/ 0 h 56586"/>
              <a:gd name="connsiteX9" fmla="*/ 790233 w 1682496"/>
              <a:gd name="connsiteY9" fmla="*/ 0 h 56586"/>
              <a:gd name="connsiteX10" fmla="*/ 790233 w 1682496"/>
              <a:gd name="connsiteY10" fmla="*/ 56586 h 56586"/>
              <a:gd name="connsiteX11" fmla="*/ 635439 w 1682496"/>
              <a:gd name="connsiteY11" fmla="*/ 56586 h 56586"/>
              <a:gd name="connsiteX12" fmla="*/ 0 w 1682496"/>
              <a:gd name="connsiteY12" fmla="*/ 0 h 56586"/>
              <a:gd name="connsiteX13" fmla="*/ 533407 w 1682496"/>
              <a:gd name="connsiteY13" fmla="*/ 0 h 56586"/>
              <a:gd name="connsiteX14" fmla="*/ 533407 w 1682496"/>
              <a:gd name="connsiteY14" fmla="*/ 56586 h 56586"/>
              <a:gd name="connsiteX15" fmla="*/ 0 w 1682496"/>
              <a:gd name="connsiteY15" fmla="*/ 56586 h 56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82496" h="56586">
                <a:moveTo>
                  <a:pt x="1149090" y="0"/>
                </a:moveTo>
                <a:lnTo>
                  <a:pt x="1682496" y="0"/>
                </a:lnTo>
                <a:lnTo>
                  <a:pt x="1682496" y="56586"/>
                </a:lnTo>
                <a:lnTo>
                  <a:pt x="1149090" y="56586"/>
                </a:lnTo>
                <a:close/>
                <a:moveTo>
                  <a:pt x="892265" y="0"/>
                </a:moveTo>
                <a:lnTo>
                  <a:pt x="1047058" y="0"/>
                </a:lnTo>
                <a:lnTo>
                  <a:pt x="1047058" y="56586"/>
                </a:lnTo>
                <a:lnTo>
                  <a:pt x="892265" y="56586"/>
                </a:lnTo>
                <a:close/>
                <a:moveTo>
                  <a:pt x="635439" y="0"/>
                </a:moveTo>
                <a:lnTo>
                  <a:pt x="790233" y="0"/>
                </a:lnTo>
                <a:lnTo>
                  <a:pt x="790233" y="56586"/>
                </a:lnTo>
                <a:lnTo>
                  <a:pt x="635439" y="56586"/>
                </a:lnTo>
                <a:close/>
                <a:moveTo>
                  <a:pt x="0" y="0"/>
                </a:moveTo>
                <a:lnTo>
                  <a:pt x="533407" y="0"/>
                </a:lnTo>
                <a:lnTo>
                  <a:pt x="533407" y="56586"/>
                </a:lnTo>
                <a:lnTo>
                  <a:pt x="0" y="5658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7F5A4806-B1C5-D7DD-8075-528500340979}"/>
              </a:ext>
            </a:extLst>
          </p:cNvPr>
          <p:cNvSpPr txBox="1">
            <a:spLocks/>
          </p:cNvSpPr>
          <p:nvPr/>
        </p:nvSpPr>
        <p:spPr>
          <a:xfrm>
            <a:off x="2403572" y="3121865"/>
            <a:ext cx="2250662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/>
              <a:t>Metal plating</a:t>
            </a:r>
            <a:endParaRPr lang="en-SG" sz="1200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4E67324-1CEC-1560-A962-E8C898E4B34D}"/>
              </a:ext>
            </a:extLst>
          </p:cNvPr>
          <p:cNvSpPr/>
          <p:nvPr/>
        </p:nvSpPr>
        <p:spPr>
          <a:xfrm>
            <a:off x="1075583" y="3105239"/>
            <a:ext cx="615683" cy="45719"/>
          </a:xfrm>
          <a:custGeom>
            <a:avLst/>
            <a:gdLst>
              <a:gd name="connsiteX0" fmla="*/ 513651 w 615683"/>
              <a:gd name="connsiteY0" fmla="*/ 0 h 45719"/>
              <a:gd name="connsiteX1" fmla="*/ 615683 w 615683"/>
              <a:gd name="connsiteY1" fmla="*/ 0 h 45719"/>
              <a:gd name="connsiteX2" fmla="*/ 615683 w 615683"/>
              <a:gd name="connsiteY2" fmla="*/ 45719 h 45719"/>
              <a:gd name="connsiteX3" fmla="*/ 513651 w 615683"/>
              <a:gd name="connsiteY3" fmla="*/ 45719 h 45719"/>
              <a:gd name="connsiteX4" fmla="*/ 256826 w 615683"/>
              <a:gd name="connsiteY4" fmla="*/ 0 h 45719"/>
              <a:gd name="connsiteX5" fmla="*/ 358858 w 615683"/>
              <a:gd name="connsiteY5" fmla="*/ 0 h 45719"/>
              <a:gd name="connsiteX6" fmla="*/ 358858 w 615683"/>
              <a:gd name="connsiteY6" fmla="*/ 45719 h 45719"/>
              <a:gd name="connsiteX7" fmla="*/ 256826 w 615683"/>
              <a:gd name="connsiteY7" fmla="*/ 45719 h 45719"/>
              <a:gd name="connsiteX8" fmla="*/ 0 w 615683"/>
              <a:gd name="connsiteY8" fmla="*/ 0 h 45719"/>
              <a:gd name="connsiteX9" fmla="*/ 102032 w 615683"/>
              <a:gd name="connsiteY9" fmla="*/ 0 h 45719"/>
              <a:gd name="connsiteX10" fmla="*/ 102032 w 615683"/>
              <a:gd name="connsiteY10" fmla="*/ 45719 h 45719"/>
              <a:gd name="connsiteX11" fmla="*/ 0 w 615683"/>
              <a:gd name="connsiteY11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15683" h="45719">
                <a:moveTo>
                  <a:pt x="513651" y="0"/>
                </a:moveTo>
                <a:lnTo>
                  <a:pt x="615683" y="0"/>
                </a:lnTo>
                <a:lnTo>
                  <a:pt x="615683" y="45719"/>
                </a:lnTo>
                <a:lnTo>
                  <a:pt x="513651" y="45719"/>
                </a:lnTo>
                <a:close/>
                <a:moveTo>
                  <a:pt x="256826" y="0"/>
                </a:moveTo>
                <a:lnTo>
                  <a:pt x="358858" y="0"/>
                </a:lnTo>
                <a:lnTo>
                  <a:pt x="358858" y="45719"/>
                </a:lnTo>
                <a:lnTo>
                  <a:pt x="256826" y="45719"/>
                </a:lnTo>
                <a:close/>
                <a:moveTo>
                  <a:pt x="0" y="0"/>
                </a:moveTo>
                <a:lnTo>
                  <a:pt x="102032" y="0"/>
                </a:lnTo>
                <a:lnTo>
                  <a:pt x="102032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168561F0-E5FB-59CB-7C46-0F02C185451E}"/>
              </a:ext>
            </a:extLst>
          </p:cNvPr>
          <p:cNvSpPr/>
          <p:nvPr/>
        </p:nvSpPr>
        <p:spPr>
          <a:xfrm>
            <a:off x="1284365" y="3507826"/>
            <a:ext cx="198120" cy="22409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1653E40-004C-7F07-47F2-153F42D3236B}"/>
              </a:ext>
            </a:extLst>
          </p:cNvPr>
          <p:cNvSpPr/>
          <p:nvPr/>
        </p:nvSpPr>
        <p:spPr>
          <a:xfrm>
            <a:off x="542177" y="3971813"/>
            <a:ext cx="1682496" cy="16814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8EA1245-9F70-E837-54B5-00E2E230AA5B}"/>
              </a:ext>
            </a:extLst>
          </p:cNvPr>
          <p:cNvSpPr/>
          <p:nvPr/>
        </p:nvSpPr>
        <p:spPr>
          <a:xfrm>
            <a:off x="542177" y="3915227"/>
            <a:ext cx="1682496" cy="565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53A58485-A87B-D7FB-FDC9-CE10A94748F3}"/>
              </a:ext>
            </a:extLst>
          </p:cNvPr>
          <p:cNvSpPr txBox="1">
            <a:spLocks/>
          </p:cNvSpPr>
          <p:nvPr/>
        </p:nvSpPr>
        <p:spPr>
          <a:xfrm>
            <a:off x="2403572" y="3886134"/>
            <a:ext cx="2250662" cy="2500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/>
              <a:t>PMMA removal</a:t>
            </a:r>
            <a:endParaRPr lang="en-SG" sz="1200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88C21E8-31F9-BECD-3881-1D2274C040FE}"/>
              </a:ext>
            </a:extLst>
          </p:cNvPr>
          <p:cNvSpPr/>
          <p:nvPr/>
        </p:nvSpPr>
        <p:spPr>
          <a:xfrm>
            <a:off x="1075583" y="3869508"/>
            <a:ext cx="615683" cy="45719"/>
          </a:xfrm>
          <a:custGeom>
            <a:avLst/>
            <a:gdLst>
              <a:gd name="connsiteX0" fmla="*/ 513651 w 615683"/>
              <a:gd name="connsiteY0" fmla="*/ 0 h 45719"/>
              <a:gd name="connsiteX1" fmla="*/ 615683 w 615683"/>
              <a:gd name="connsiteY1" fmla="*/ 0 h 45719"/>
              <a:gd name="connsiteX2" fmla="*/ 615683 w 615683"/>
              <a:gd name="connsiteY2" fmla="*/ 45719 h 45719"/>
              <a:gd name="connsiteX3" fmla="*/ 513651 w 615683"/>
              <a:gd name="connsiteY3" fmla="*/ 45719 h 45719"/>
              <a:gd name="connsiteX4" fmla="*/ 256826 w 615683"/>
              <a:gd name="connsiteY4" fmla="*/ 0 h 45719"/>
              <a:gd name="connsiteX5" fmla="*/ 358858 w 615683"/>
              <a:gd name="connsiteY5" fmla="*/ 0 h 45719"/>
              <a:gd name="connsiteX6" fmla="*/ 358858 w 615683"/>
              <a:gd name="connsiteY6" fmla="*/ 45719 h 45719"/>
              <a:gd name="connsiteX7" fmla="*/ 256826 w 615683"/>
              <a:gd name="connsiteY7" fmla="*/ 45719 h 45719"/>
              <a:gd name="connsiteX8" fmla="*/ 0 w 615683"/>
              <a:gd name="connsiteY8" fmla="*/ 0 h 45719"/>
              <a:gd name="connsiteX9" fmla="*/ 102032 w 615683"/>
              <a:gd name="connsiteY9" fmla="*/ 0 h 45719"/>
              <a:gd name="connsiteX10" fmla="*/ 102032 w 615683"/>
              <a:gd name="connsiteY10" fmla="*/ 45719 h 45719"/>
              <a:gd name="connsiteX11" fmla="*/ 0 w 615683"/>
              <a:gd name="connsiteY11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15683" h="45719">
                <a:moveTo>
                  <a:pt x="513651" y="0"/>
                </a:moveTo>
                <a:lnTo>
                  <a:pt x="615683" y="0"/>
                </a:lnTo>
                <a:lnTo>
                  <a:pt x="615683" y="45719"/>
                </a:lnTo>
                <a:lnTo>
                  <a:pt x="513651" y="45719"/>
                </a:lnTo>
                <a:close/>
                <a:moveTo>
                  <a:pt x="256826" y="0"/>
                </a:moveTo>
                <a:lnTo>
                  <a:pt x="358858" y="0"/>
                </a:lnTo>
                <a:lnTo>
                  <a:pt x="358858" y="45719"/>
                </a:lnTo>
                <a:lnTo>
                  <a:pt x="256826" y="45719"/>
                </a:lnTo>
                <a:close/>
                <a:moveTo>
                  <a:pt x="0" y="0"/>
                </a:moveTo>
                <a:lnTo>
                  <a:pt x="102032" y="0"/>
                </a:lnTo>
                <a:lnTo>
                  <a:pt x="102032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B54D6F6E-3B62-7FDD-0DD1-D4B238D11362}"/>
              </a:ext>
            </a:extLst>
          </p:cNvPr>
          <p:cNvSpPr/>
          <p:nvPr/>
        </p:nvSpPr>
        <p:spPr>
          <a:xfrm>
            <a:off x="1284365" y="4282523"/>
            <a:ext cx="198120" cy="22409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4D1CD61-6738-3F02-ED34-7A46B6D1C8F1}"/>
              </a:ext>
            </a:extLst>
          </p:cNvPr>
          <p:cNvSpPr/>
          <p:nvPr/>
        </p:nvSpPr>
        <p:spPr>
          <a:xfrm>
            <a:off x="1075583" y="4644205"/>
            <a:ext cx="615683" cy="45719"/>
          </a:xfrm>
          <a:custGeom>
            <a:avLst/>
            <a:gdLst>
              <a:gd name="connsiteX0" fmla="*/ 513651 w 615683"/>
              <a:gd name="connsiteY0" fmla="*/ 0 h 45719"/>
              <a:gd name="connsiteX1" fmla="*/ 615683 w 615683"/>
              <a:gd name="connsiteY1" fmla="*/ 0 h 45719"/>
              <a:gd name="connsiteX2" fmla="*/ 615683 w 615683"/>
              <a:gd name="connsiteY2" fmla="*/ 45719 h 45719"/>
              <a:gd name="connsiteX3" fmla="*/ 513651 w 615683"/>
              <a:gd name="connsiteY3" fmla="*/ 45719 h 45719"/>
              <a:gd name="connsiteX4" fmla="*/ 256826 w 615683"/>
              <a:gd name="connsiteY4" fmla="*/ 0 h 45719"/>
              <a:gd name="connsiteX5" fmla="*/ 358858 w 615683"/>
              <a:gd name="connsiteY5" fmla="*/ 0 h 45719"/>
              <a:gd name="connsiteX6" fmla="*/ 358858 w 615683"/>
              <a:gd name="connsiteY6" fmla="*/ 45719 h 45719"/>
              <a:gd name="connsiteX7" fmla="*/ 256826 w 615683"/>
              <a:gd name="connsiteY7" fmla="*/ 45719 h 45719"/>
              <a:gd name="connsiteX8" fmla="*/ 0 w 615683"/>
              <a:gd name="connsiteY8" fmla="*/ 0 h 45719"/>
              <a:gd name="connsiteX9" fmla="*/ 102032 w 615683"/>
              <a:gd name="connsiteY9" fmla="*/ 0 h 45719"/>
              <a:gd name="connsiteX10" fmla="*/ 102032 w 615683"/>
              <a:gd name="connsiteY10" fmla="*/ 45719 h 45719"/>
              <a:gd name="connsiteX11" fmla="*/ 0 w 615683"/>
              <a:gd name="connsiteY11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15683" h="45719">
                <a:moveTo>
                  <a:pt x="513651" y="0"/>
                </a:moveTo>
                <a:lnTo>
                  <a:pt x="615683" y="0"/>
                </a:lnTo>
                <a:lnTo>
                  <a:pt x="615683" y="45719"/>
                </a:lnTo>
                <a:lnTo>
                  <a:pt x="513651" y="45719"/>
                </a:lnTo>
                <a:close/>
                <a:moveTo>
                  <a:pt x="256826" y="0"/>
                </a:moveTo>
                <a:lnTo>
                  <a:pt x="358858" y="0"/>
                </a:lnTo>
                <a:lnTo>
                  <a:pt x="358858" y="45719"/>
                </a:lnTo>
                <a:lnTo>
                  <a:pt x="256826" y="45719"/>
                </a:lnTo>
                <a:close/>
                <a:moveTo>
                  <a:pt x="0" y="0"/>
                </a:moveTo>
                <a:lnTo>
                  <a:pt x="102032" y="0"/>
                </a:lnTo>
                <a:lnTo>
                  <a:pt x="102032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SG"/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7D206F2A-A85C-F16A-534A-569B97904926}"/>
              </a:ext>
            </a:extLst>
          </p:cNvPr>
          <p:cNvSpPr txBox="1">
            <a:spLocks/>
          </p:cNvSpPr>
          <p:nvPr/>
        </p:nvSpPr>
        <p:spPr>
          <a:xfrm>
            <a:off x="2403572" y="4542055"/>
            <a:ext cx="2418402" cy="2500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dirty="0"/>
              <a:t>Cu removal, free-standing metal grid</a:t>
            </a:r>
            <a:endParaRPr lang="en-SG" sz="1200" dirty="0"/>
          </a:p>
        </p:txBody>
      </p:sp>
      <p:sp>
        <p:nvSpPr>
          <p:cNvPr id="74" name="TextBox 16">
            <a:extLst>
              <a:ext uri="{FF2B5EF4-FFF2-40B4-BE49-F238E27FC236}">
                <a16:creationId xmlns:a16="http://schemas.microsoft.com/office/drawing/2014/main" id="{DCA6093C-724B-6E63-57D2-B7C9F3118529}"/>
              </a:ext>
            </a:extLst>
          </p:cNvPr>
          <p:cNvSpPr txBox="1"/>
          <p:nvPr/>
        </p:nvSpPr>
        <p:spPr>
          <a:xfrm>
            <a:off x="6096000" y="5628104"/>
            <a:ext cx="590435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000" dirty="0"/>
              <a:t>[1] J. A. van Kan et al. Fabrication of a free standing resolution standard for focusing MeV ion beams to sub 30 nm dimensions (2005)</a:t>
            </a:r>
          </a:p>
          <a:p>
            <a:r>
              <a:rPr lang="en-SG" sz="1000" dirty="0"/>
              <a:t>[2] Y. Yao et al. Improved beam spot measurements in the 2nd generation proton beam writing system (2013)</a:t>
            </a:r>
          </a:p>
          <a:p>
            <a:r>
              <a:rPr lang="en-SG" sz="1000" dirty="0"/>
              <a:t>[3] S. Qureshi et al. Automated alignment and focusing system for nuclear microprobes (2019)</a:t>
            </a:r>
          </a:p>
          <a:p>
            <a:r>
              <a:rPr lang="en-SG" sz="1000" dirty="0"/>
              <a:t>[4] Y. X. Dou et al. Breaking the 10nm barrier using molecular ions in nuclear microprobes (2023)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9E59B850-FA91-B5B1-6A71-43AB957668FF}"/>
              </a:ext>
            </a:extLst>
          </p:cNvPr>
          <p:cNvSpPr txBox="1">
            <a:spLocks/>
          </p:cNvSpPr>
          <p:nvPr/>
        </p:nvSpPr>
        <p:spPr>
          <a:xfrm>
            <a:off x="0" y="6531086"/>
            <a:ext cx="6019100" cy="309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SEM image of Au grid showing orthogonality (left) and smoothness (right) of grid bars [3]</a:t>
            </a:r>
            <a:endParaRPr lang="en-SG" sz="12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1FECF400-D420-1F14-6DAF-AE2DB5857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2" y="5018758"/>
            <a:ext cx="3894582" cy="149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79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0CB9A70ABD934AB75DB6E64DCC563E" ma:contentTypeVersion="18" ma:contentTypeDescription="Create a new document." ma:contentTypeScope="" ma:versionID="e5437afbe7484ccbb5e8824825f226e0">
  <xsd:schema xmlns:xsd="http://www.w3.org/2001/XMLSchema" xmlns:xs="http://www.w3.org/2001/XMLSchema" xmlns:p="http://schemas.microsoft.com/office/2006/metadata/properties" xmlns:ns2="d57804ca-f4b6-4d1a-bc7b-09e1480f5f77" xmlns:ns3="a67a9ec7-d99c-4343-a116-3e51ba2009d6" targetNamespace="http://schemas.microsoft.com/office/2006/metadata/properties" ma:root="true" ma:fieldsID="5ddd4a8312daf1592e350cd3a98cbee8" ns2:_="" ns3:_="">
    <xsd:import namespace="d57804ca-f4b6-4d1a-bc7b-09e1480f5f77"/>
    <xsd:import namespace="a67a9ec7-d99c-4343-a116-3e51ba200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7804ca-f4b6-4d1a-bc7b-09e1480f5f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7a9ec7-d99c-4343-a116-3e51ba2009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6d9742c-e832-40f1-814f-5ece4a5cce65}" ma:internalName="TaxCatchAll" ma:showField="CatchAllData" ma:web="a67a9ec7-d99c-4343-a116-3e51ba200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7a9ec7-d99c-4343-a116-3e51ba2009d6" xsi:nil="true"/>
    <lcf76f155ced4ddcb4097134ff3c332f xmlns="d57804ca-f4b6-4d1a-bc7b-09e1480f5f7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9CE55D-3C1F-4FE1-AC0D-9BC74E80E877}">
  <ds:schemaRefs>
    <ds:schemaRef ds:uri="a67a9ec7-d99c-4343-a116-3e51ba2009d6"/>
    <ds:schemaRef ds:uri="d57804ca-f4b6-4d1a-bc7b-09e1480f5f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6F9B3B-D6DD-462F-97AE-4595804D6E2C}">
  <ds:schemaRefs>
    <ds:schemaRef ds:uri="a67a9ec7-d99c-4343-a116-3e51ba2009d6"/>
    <ds:schemaRef ds:uri="d57804ca-f4b6-4d1a-bc7b-09e1480f5f7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841449B-7925-4A1C-824C-6B880C4530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615</Words>
  <Application>Microsoft Office PowerPoint</Application>
  <PresentationFormat>Widescreen</PresentationFormat>
  <Paragraphs>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Chuan Jie</dc:creator>
  <cp:lastModifiedBy>Tan Chuan Jie</cp:lastModifiedBy>
  <cp:revision>2</cp:revision>
  <dcterms:created xsi:type="dcterms:W3CDTF">2025-11-17T07:55:45Z</dcterms:created>
  <dcterms:modified xsi:type="dcterms:W3CDTF">2025-11-21T10:19:49Z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0x010100CE0CB9A70ABD934AB75DB6E64DCC563E</vt:lpwstr>
  </property>
  <property fmtid="{D5CDD505-2E9C-101B-9397-08002B2CF9AE}" pid="3" name="MediaServiceImageTags">
    <vt:lpwstr/>
  </property>
</Properties>
</file>