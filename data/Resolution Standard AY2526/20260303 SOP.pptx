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63" r:id="rId8"/>
    <p:sldId id="260" r:id="rId9"/>
    <p:sldId id="264" r:id="rId10"/>
    <p:sldId id="259" r:id="rId11"/>
    <p:sldId id="26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5EF50BE-BD54-4891-B85A-B426EBF7459F}">
          <p14:sldIdLst>
            <p14:sldId id="256"/>
            <p14:sldId id="257"/>
          </p14:sldIdLst>
        </p14:section>
        <p14:section name="Substrate Preparation" id="{B6042899-F745-4F9F-A279-DAAC9042D500}">
          <p14:sldIdLst>
            <p14:sldId id="258"/>
            <p14:sldId id="263"/>
          </p14:sldIdLst>
        </p14:section>
        <p14:section name="PBW + Development" id="{F74ECE8A-76FD-47D9-A054-87E467BEA7AF}">
          <p14:sldIdLst>
            <p14:sldId id="260"/>
          </p14:sldIdLst>
        </p14:section>
        <p14:section name="Pd Plating + Lift-off" id="{E42DC4B7-65C0-429C-9BE3-097101328EF8}">
          <p14:sldIdLst>
            <p14:sldId id="264"/>
          </p14:sldIdLst>
        </p14:section>
        <p14:section name="Preparation + Metal Deposition" id="{671EA043-C872-49DA-AA9D-AFE954CFAFF4}">
          <p14:sldIdLst>
            <p14:sldId id="259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DE5A85-632C-45DD-A491-5247231A9C53}" v="3" dt="2026-03-03T02:32:54.6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162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 Chuan Jie" userId="91b82e99-74c9-4fe3-8d59-fb7ad6983460" providerId="ADAL" clId="{72E0A4A0-E94B-4F64-96BA-AAF9E2A0A5D7}"/>
    <pc:docChg chg="custSel addSld delSld modSld addSection modSection">
      <pc:chgData name="Tan Chuan Jie" userId="91b82e99-74c9-4fe3-8d59-fb7ad6983460" providerId="ADAL" clId="{72E0A4A0-E94B-4F64-96BA-AAF9E2A0A5D7}" dt="2026-03-03T02:41:49.728" v="1255" actId="20577"/>
      <pc:docMkLst>
        <pc:docMk/>
      </pc:docMkLst>
      <pc:sldChg chg="mod modShow">
        <pc:chgData name="Tan Chuan Jie" userId="91b82e99-74c9-4fe3-8d59-fb7ad6983460" providerId="ADAL" clId="{72E0A4A0-E94B-4F64-96BA-AAF9E2A0A5D7}" dt="2026-03-03T02:31:17.030" v="400" actId="729"/>
        <pc:sldMkLst>
          <pc:docMk/>
          <pc:sldMk cId="556558282" sldId="258"/>
        </pc:sldMkLst>
      </pc:sldChg>
      <pc:sldChg chg="mod modShow">
        <pc:chgData name="Tan Chuan Jie" userId="91b82e99-74c9-4fe3-8d59-fb7ad6983460" providerId="ADAL" clId="{72E0A4A0-E94B-4F64-96BA-AAF9E2A0A5D7}" dt="2026-03-03T02:30:34.595" v="393" actId="729"/>
        <pc:sldMkLst>
          <pc:docMk/>
          <pc:sldMk cId="2942210676" sldId="259"/>
        </pc:sldMkLst>
      </pc:sldChg>
      <pc:sldChg chg="modSp mod">
        <pc:chgData name="Tan Chuan Jie" userId="91b82e99-74c9-4fe3-8d59-fb7ad6983460" providerId="ADAL" clId="{72E0A4A0-E94B-4F64-96BA-AAF9E2A0A5D7}" dt="2026-03-03T02:31:06.994" v="399" actId="20577"/>
        <pc:sldMkLst>
          <pc:docMk/>
          <pc:sldMk cId="4280693866" sldId="260"/>
        </pc:sldMkLst>
        <pc:spChg chg="mod">
          <ac:chgData name="Tan Chuan Jie" userId="91b82e99-74c9-4fe3-8d59-fb7ad6983460" providerId="ADAL" clId="{72E0A4A0-E94B-4F64-96BA-AAF9E2A0A5D7}" dt="2026-03-03T02:31:06.994" v="399" actId="20577"/>
          <ac:spMkLst>
            <pc:docMk/>
            <pc:sldMk cId="4280693866" sldId="260"/>
            <ac:spMk id="3" creationId="{608247D3-F66E-AE71-1BFD-A0FC52E8240B}"/>
          </ac:spMkLst>
        </pc:spChg>
      </pc:sldChg>
      <pc:sldChg chg="mod modShow">
        <pc:chgData name="Tan Chuan Jie" userId="91b82e99-74c9-4fe3-8d59-fb7ad6983460" providerId="ADAL" clId="{72E0A4A0-E94B-4F64-96BA-AAF9E2A0A5D7}" dt="2026-03-03T02:30:39.638" v="394" actId="729"/>
        <pc:sldMkLst>
          <pc:docMk/>
          <pc:sldMk cId="2492144848" sldId="261"/>
        </pc:sldMkLst>
      </pc:sldChg>
      <pc:sldChg chg="add del">
        <pc:chgData name="Tan Chuan Jie" userId="91b82e99-74c9-4fe3-8d59-fb7ad6983460" providerId="ADAL" clId="{72E0A4A0-E94B-4F64-96BA-AAF9E2A0A5D7}" dt="2026-03-03T02:35:48.699" v="717" actId="47"/>
        <pc:sldMkLst>
          <pc:docMk/>
          <pc:sldMk cId="3689738202" sldId="262"/>
        </pc:sldMkLst>
      </pc:sldChg>
      <pc:sldChg chg="modSp new mod">
        <pc:chgData name="Tan Chuan Jie" userId="91b82e99-74c9-4fe3-8d59-fb7ad6983460" providerId="ADAL" clId="{72E0A4A0-E94B-4F64-96BA-AAF9E2A0A5D7}" dt="2026-03-03T02:33:06.610" v="716" actId="20577"/>
        <pc:sldMkLst>
          <pc:docMk/>
          <pc:sldMk cId="3275622783" sldId="263"/>
        </pc:sldMkLst>
        <pc:spChg chg="mod">
          <ac:chgData name="Tan Chuan Jie" userId="91b82e99-74c9-4fe3-8d59-fb7ad6983460" providerId="ADAL" clId="{72E0A4A0-E94B-4F64-96BA-AAF9E2A0A5D7}" dt="2026-03-03T02:31:24.536" v="422" actId="20577"/>
          <ac:spMkLst>
            <pc:docMk/>
            <pc:sldMk cId="3275622783" sldId="263"/>
            <ac:spMk id="2" creationId="{BE2B2230-197C-DCB9-BB23-159593BA231C}"/>
          </ac:spMkLst>
        </pc:spChg>
        <pc:spChg chg="mod">
          <ac:chgData name="Tan Chuan Jie" userId="91b82e99-74c9-4fe3-8d59-fb7ad6983460" providerId="ADAL" clId="{72E0A4A0-E94B-4F64-96BA-AAF9E2A0A5D7}" dt="2026-03-03T02:33:06.610" v="716" actId="20577"/>
          <ac:spMkLst>
            <pc:docMk/>
            <pc:sldMk cId="3275622783" sldId="263"/>
            <ac:spMk id="3" creationId="{195A5D88-4223-51B6-E39C-D8956A1DB269}"/>
          </ac:spMkLst>
        </pc:spChg>
      </pc:sldChg>
      <pc:sldChg chg="modSp new mod">
        <pc:chgData name="Tan Chuan Jie" userId="91b82e99-74c9-4fe3-8d59-fb7ad6983460" providerId="ADAL" clId="{72E0A4A0-E94B-4F64-96BA-AAF9E2A0A5D7}" dt="2026-03-03T02:41:49.728" v="1255" actId="20577"/>
        <pc:sldMkLst>
          <pc:docMk/>
          <pc:sldMk cId="1187067882" sldId="264"/>
        </pc:sldMkLst>
        <pc:spChg chg="mod">
          <ac:chgData name="Tan Chuan Jie" userId="91b82e99-74c9-4fe3-8d59-fb7ad6983460" providerId="ADAL" clId="{72E0A4A0-E94B-4F64-96BA-AAF9E2A0A5D7}" dt="2026-03-03T02:36:57.168" v="750" actId="20577"/>
          <ac:spMkLst>
            <pc:docMk/>
            <pc:sldMk cId="1187067882" sldId="264"/>
            <ac:spMk id="2" creationId="{2D8B54F4-839A-DE01-82B9-D9871C914482}"/>
          </ac:spMkLst>
        </pc:spChg>
        <pc:spChg chg="mod">
          <ac:chgData name="Tan Chuan Jie" userId="91b82e99-74c9-4fe3-8d59-fb7ad6983460" providerId="ADAL" clId="{72E0A4A0-E94B-4F64-96BA-AAF9E2A0A5D7}" dt="2026-03-03T02:41:49.728" v="1255" actId="20577"/>
          <ac:spMkLst>
            <pc:docMk/>
            <pc:sldMk cId="1187067882" sldId="264"/>
            <ac:spMk id="3" creationId="{3A20BCA0-C897-EFB3-DE01-070A30DC8F5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SOP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Details for scaling up production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E8D94-C29A-C254-6840-5CB1448B4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30AD0-97A7-CACA-C7CC-26651088F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>
                <a:highlight>
                  <a:srgbClr val="FFFF00"/>
                </a:highlight>
              </a:rPr>
              <a:t>(Insert overview illustration here)</a:t>
            </a:r>
          </a:p>
        </p:txBody>
      </p:sp>
    </p:spTree>
    <p:extLst>
      <p:ext uri="{BB962C8B-B14F-4D97-AF65-F5344CB8AC3E}">
        <p14:creationId xmlns:p14="http://schemas.microsoft.com/office/powerpoint/2010/main" val="1671301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0C680-B997-880E-7CBC-147D3DE53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Metal Deposition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F4461-B39E-F2B8-931B-0FE52B52B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Si clean substrate, sputter Cr – Au – Cu</a:t>
            </a:r>
          </a:p>
          <a:p>
            <a:pPr lvl="1"/>
            <a:r>
              <a:rPr lang="en-SG" dirty="0"/>
              <a:t>Cr ~ 10 nm (0.8 nm/s)</a:t>
            </a:r>
          </a:p>
          <a:p>
            <a:pPr lvl="1"/>
            <a:r>
              <a:rPr lang="en-SG" dirty="0"/>
              <a:t>Au ~ 10 nm (1.5 nm/s)</a:t>
            </a:r>
          </a:p>
          <a:p>
            <a:pPr lvl="1"/>
            <a:r>
              <a:rPr lang="en-SG" dirty="0">
                <a:highlight>
                  <a:srgbClr val="FFFF00"/>
                </a:highlight>
              </a:rPr>
              <a:t>Cu ~ 10 nm?? (?? nm/s)</a:t>
            </a:r>
          </a:p>
          <a:p>
            <a:endParaRPr lang="en-SG" dirty="0">
              <a:highlight>
                <a:srgbClr val="FFFF00"/>
              </a:highlight>
            </a:endParaRPr>
          </a:p>
          <a:p>
            <a:r>
              <a:rPr lang="en-SG" dirty="0"/>
              <a:t>Spin-coat PMMA (thickness ~1-2 µm)</a:t>
            </a:r>
          </a:p>
          <a:p>
            <a:pPr lvl="1"/>
            <a:r>
              <a:rPr lang="en-SG" dirty="0"/>
              <a:t>Static spin-coating PMMA 950 A11 4000 rpm (spin curve 2 µm)</a:t>
            </a:r>
          </a:p>
          <a:p>
            <a:pPr lvl="1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556558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B2230-197C-DCB9-BB23-159593BA2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Substrate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A5D88-4223-51B6-E39C-D8956A1DB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Use silicon wafer directly from packaging</a:t>
            </a:r>
          </a:p>
          <a:p>
            <a:pPr lvl="1"/>
            <a:r>
              <a:rPr lang="en-SG" dirty="0"/>
              <a:t>Do no wash or blow with N</a:t>
            </a:r>
            <a:r>
              <a:rPr lang="en-SG" i="0" baseline="-25000" dirty="0">
                <a:latin typeface="+mj-lt"/>
              </a:rPr>
              <a:t>2</a:t>
            </a:r>
            <a:r>
              <a:rPr lang="en-SG" dirty="0"/>
              <a:t> gun as they are already clean enough</a:t>
            </a:r>
          </a:p>
          <a:p>
            <a:r>
              <a:rPr lang="en-SG" dirty="0"/>
              <a:t>Bake Si at </a:t>
            </a:r>
            <a:r>
              <a:rPr lang="en-SG" dirty="0">
                <a:highlight>
                  <a:srgbClr val="FFFF00"/>
                </a:highlight>
              </a:rPr>
              <a:t>120 °C for 120 s</a:t>
            </a:r>
          </a:p>
          <a:p>
            <a:r>
              <a:rPr lang="en-SG" dirty="0"/>
              <a:t>Spin coat PMMA 950 A10 at 4000 rpm for 1 min</a:t>
            </a:r>
          </a:p>
          <a:p>
            <a:r>
              <a:rPr lang="en-SG" dirty="0"/>
              <a:t>Soft bake at </a:t>
            </a:r>
            <a:r>
              <a:rPr lang="en-SG" dirty="0">
                <a:highlight>
                  <a:srgbClr val="FFFF00"/>
                </a:highlight>
              </a:rPr>
              <a:t>120 °C for 120 s</a:t>
            </a:r>
          </a:p>
        </p:txBody>
      </p:sp>
    </p:spTree>
    <p:extLst>
      <p:ext uri="{BB962C8B-B14F-4D97-AF65-F5344CB8AC3E}">
        <p14:creationId xmlns:p14="http://schemas.microsoft.com/office/powerpoint/2010/main" val="3275622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62FF0-6C0C-A1A3-9300-C6AFAE594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Proton Beam Writing +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247D3-F66E-AE71-1BFD-A0FC52E82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Dosage 100 – 150 </a:t>
            </a:r>
            <a:r>
              <a:rPr lang="en-SG" dirty="0" err="1"/>
              <a:t>nC</a:t>
            </a:r>
            <a:r>
              <a:rPr lang="en-SG" dirty="0"/>
              <a:t>/mm</a:t>
            </a:r>
            <a:r>
              <a:rPr lang="en-SG" baseline="30000" dirty="0"/>
              <a:t>2</a:t>
            </a:r>
          </a:p>
          <a:p>
            <a:pPr lvl="1"/>
            <a:r>
              <a:rPr lang="en-SG" dirty="0"/>
              <a:t>Scan 2 x 50 – 75 </a:t>
            </a:r>
            <a:r>
              <a:rPr lang="en-SG" dirty="0" err="1"/>
              <a:t>nC</a:t>
            </a:r>
            <a:r>
              <a:rPr lang="en-SG" dirty="0"/>
              <a:t>/mm</a:t>
            </a:r>
            <a:r>
              <a:rPr lang="en-SG" baseline="30000" dirty="0"/>
              <a:t>2</a:t>
            </a:r>
            <a:r>
              <a:rPr lang="en-SG" dirty="0"/>
              <a:t> to even out any possible beam fluctuations</a:t>
            </a:r>
          </a:p>
          <a:p>
            <a:pPr lvl="1"/>
            <a:r>
              <a:rPr lang="en-SG" dirty="0"/>
              <a:t>Enable slits at accelerator side only after beam is more stable (~6 h)</a:t>
            </a:r>
          </a:p>
          <a:p>
            <a:r>
              <a:rPr lang="en-SG" dirty="0"/>
              <a:t>Writing strategy: Stage scanning</a:t>
            </a:r>
          </a:p>
          <a:p>
            <a:pPr lvl="1"/>
            <a:r>
              <a:rPr lang="en-SG" dirty="0"/>
              <a:t>Beam scanning causes skewing, not perpendicular grid lines</a:t>
            </a:r>
          </a:p>
          <a:p>
            <a:r>
              <a:rPr lang="en-SG" dirty="0"/>
              <a:t>Develop in IPA : DI = 7 : 3 until exposed areas are washed away</a:t>
            </a:r>
          </a:p>
          <a:p>
            <a:pPr lvl="1"/>
            <a:r>
              <a:rPr lang="en-SG" dirty="0"/>
              <a:t>Cannot be washed for too long; may overdevelop and cause rough sides</a:t>
            </a:r>
          </a:p>
          <a:p>
            <a:pPr lvl="1"/>
            <a:r>
              <a:rPr lang="en-SG" dirty="0"/>
              <a:t>Develop in intervals of 30 s – 1 min</a:t>
            </a:r>
          </a:p>
        </p:txBody>
      </p:sp>
    </p:spTree>
    <p:extLst>
      <p:ext uri="{BB962C8B-B14F-4D97-AF65-F5344CB8AC3E}">
        <p14:creationId xmlns:p14="http://schemas.microsoft.com/office/powerpoint/2010/main" val="4280693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B54F4-839A-DE01-82B9-D9871C914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Pd Plating + Lift-off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0BCA0-C897-EFB3-DE01-070A30DC8F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Plate Pd at E6 </a:t>
            </a:r>
            <a:r>
              <a:rPr lang="en-SG" dirty="0" err="1"/>
              <a:t>Nanofab</a:t>
            </a:r>
            <a:r>
              <a:rPr lang="en-SG" dirty="0"/>
              <a:t> Lab clean room (~100 nm)</a:t>
            </a:r>
          </a:p>
          <a:p>
            <a:r>
              <a:rPr lang="en-SG" dirty="0"/>
              <a:t>Soak sample into acetone</a:t>
            </a:r>
          </a:p>
          <a:p>
            <a:pPr lvl="1"/>
            <a:r>
              <a:rPr lang="en-SG" dirty="0"/>
              <a:t>Recent samples needed at least 30 min of acetone swirl (no pre-wash, used directly from pack, PMMA adhesion on Si good)</a:t>
            </a:r>
          </a:p>
          <a:p>
            <a:pPr lvl="1"/>
            <a:r>
              <a:rPr lang="en-SG" dirty="0"/>
              <a:t>One sample needed collectively 1 h of acetone swirl + 5 min ultrasonicate as a last resort (pre-washed, PMMA </a:t>
            </a:r>
            <a:r>
              <a:rPr lang="en-SG"/>
              <a:t>adhesion on Si not </a:t>
            </a:r>
            <a:r>
              <a:rPr lang="en-SG" dirty="0"/>
              <a:t>good)</a:t>
            </a:r>
          </a:p>
          <a:p>
            <a:pPr lvl="1"/>
            <a:r>
              <a:rPr lang="en-SG" dirty="0"/>
              <a:t>Check periodically</a:t>
            </a:r>
          </a:p>
        </p:txBody>
      </p:sp>
    </p:spTree>
    <p:extLst>
      <p:ext uri="{BB962C8B-B14F-4D97-AF65-F5344CB8AC3E}">
        <p14:creationId xmlns:p14="http://schemas.microsoft.com/office/powerpoint/2010/main" val="1187067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3B380-E722-5AFD-B586-F1210D5D5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Mask Preparation Steps for Micro Structures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ED5F3-372E-4166-FBB5-49B2E813B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SG" b="1" u="sng" dirty="0"/>
              <a:t>Background</a:t>
            </a:r>
          </a:p>
          <a:p>
            <a:r>
              <a:rPr lang="en-SG" dirty="0"/>
              <a:t>Quartz glass, 25 nm Cr layer enough to block UV (220 – 250 nm) [1]</a:t>
            </a:r>
          </a:p>
          <a:p>
            <a:endParaRPr lang="en-SG" dirty="0"/>
          </a:p>
          <a:p>
            <a:pPr marL="0" indent="0">
              <a:buNone/>
            </a:pPr>
            <a:r>
              <a:rPr lang="en-SG" b="1" u="sng" dirty="0"/>
              <a:t>Steps</a:t>
            </a:r>
          </a:p>
          <a:p>
            <a:r>
              <a:rPr lang="en-SG" dirty="0"/>
              <a:t>Spin-coat AZ1518 on quartz glass (2000 rpm, 1 min static)</a:t>
            </a:r>
          </a:p>
          <a:p>
            <a:r>
              <a:rPr lang="en-SG" dirty="0"/>
              <a:t>Draw pattern using laser writer</a:t>
            </a:r>
          </a:p>
          <a:p>
            <a:r>
              <a:rPr lang="en-SG" dirty="0"/>
              <a:t>Develop using AZ400K : DI = 1 : 4</a:t>
            </a:r>
          </a:p>
          <a:p>
            <a:r>
              <a:rPr lang="en-SG" dirty="0"/>
              <a:t>Sputter 25 nm Cr (~32 s, 0.8 nm/s)</a:t>
            </a:r>
          </a:p>
          <a:p>
            <a:r>
              <a:rPr lang="en-SG" dirty="0"/>
              <a:t>Wash away remaining AZ1518 with acetone + </a:t>
            </a:r>
            <a:r>
              <a:rPr lang="en-SG" dirty="0" err="1"/>
              <a:t>ultrasonicator</a:t>
            </a:r>
            <a:endParaRPr lang="en-S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AE4281-861F-6BF4-CE3A-C3D815F894BD}"/>
              </a:ext>
            </a:extLst>
          </p:cNvPr>
          <p:cNvSpPr txBox="1"/>
          <p:nvPr/>
        </p:nvSpPr>
        <p:spPr>
          <a:xfrm>
            <a:off x="838200" y="6427004"/>
            <a:ext cx="10515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200" dirty="0"/>
              <a:t>[1] F. Zhang et al. Fabrication of free standing resolution standards using proton beam writing (2007)</a:t>
            </a:r>
          </a:p>
        </p:txBody>
      </p:sp>
    </p:spTree>
    <p:extLst>
      <p:ext uri="{BB962C8B-B14F-4D97-AF65-F5344CB8AC3E}">
        <p14:creationId xmlns:p14="http://schemas.microsoft.com/office/powerpoint/2010/main" val="2942210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6B9ED-6C49-E8CA-2546-44F46B1E2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Micro Structures Lithography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80464-C0A1-5E11-E0B2-514BE7421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921448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E0CB9A70ABD934AB75DB6E64DCC563E" ma:contentTypeVersion="18" ma:contentTypeDescription="Create a new document." ma:contentTypeScope="" ma:versionID="d1d91ea53b9b7bf9fd6a6b6ea9594d35">
  <xsd:schema xmlns:xsd="http://www.w3.org/2001/XMLSchema" xmlns:xs="http://www.w3.org/2001/XMLSchema" xmlns:p="http://schemas.microsoft.com/office/2006/metadata/properties" xmlns:ns2="d57804ca-f4b6-4d1a-bc7b-09e1480f5f77" xmlns:ns3="a67a9ec7-d99c-4343-a116-3e51ba2009d6" targetNamespace="http://schemas.microsoft.com/office/2006/metadata/properties" ma:root="true" ma:fieldsID="f5627cd3b8217e15a0749f2218d22b14" ns2:_="" ns3:_="">
    <xsd:import namespace="d57804ca-f4b6-4d1a-bc7b-09e1480f5f77"/>
    <xsd:import namespace="a67a9ec7-d99c-4343-a116-3e51ba2009d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7804ca-f4b6-4d1a-bc7b-09e1480f5f7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0cca7581-5256-458a-b218-643d9525617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7a9ec7-d99c-4343-a116-3e51ba2009d6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e6d9742c-e832-40f1-814f-5ece4a5cce65}" ma:internalName="TaxCatchAll" ma:showField="CatchAllData" ma:web="a67a9ec7-d99c-4343-a116-3e51ba2009d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67a9ec7-d99c-4343-a116-3e51ba2009d6" xsi:nil="true"/>
    <lcf76f155ced4ddcb4097134ff3c332f xmlns="d57804ca-f4b6-4d1a-bc7b-09e1480f5f7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F0F0C44-460A-42C0-938F-27A65735ABA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8361008-AD10-412A-B1E2-B75A087DDE2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57804ca-f4b6-4d1a-bc7b-09e1480f5f77"/>
    <ds:schemaRef ds:uri="a67a9ec7-d99c-4343-a116-3e51ba2009d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F14787-C820-4362-8901-B495068F246C}">
  <ds:schemaRefs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terms/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a67a9ec7-d99c-4343-a116-3e51ba2009d6"/>
    <ds:schemaRef ds:uri="d57804ca-f4b6-4d1a-bc7b-09e1480f5f77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21987</TotalTime>
  <Words>396</Words>
  <Application>Microsoft Office PowerPoint</Application>
  <PresentationFormat>Widescreen</PresentationFormat>
  <Paragraphs>45</Paragraphs>
  <Slides>8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SOP</vt:lpstr>
      <vt:lpstr>Overview</vt:lpstr>
      <vt:lpstr>Metal Deposition</vt:lpstr>
      <vt:lpstr>Substrate Preparation</vt:lpstr>
      <vt:lpstr>Proton Beam Writing + Development</vt:lpstr>
      <vt:lpstr>Pd Plating + Lift-off</vt:lpstr>
      <vt:lpstr>Mask Preparation Steps for Micro Structures</vt:lpstr>
      <vt:lpstr>Micro Structures Lithography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Tan Chuan Jie</cp:lastModifiedBy>
  <cp:revision>2</cp:revision>
  <dcterms:created xsi:type="dcterms:W3CDTF">2025-12-19T08:14:23Z</dcterms:created>
  <dcterms:modified xsi:type="dcterms:W3CDTF">2026-03-03T02:41:50Z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0x010100CE0CB9A70ABD934AB75DB6E64DCC563E</vt:lpwstr>
  </property>
  <property fmtid="{D5CDD505-2E9C-101B-9397-08002B2CF9AE}" pid="3" name="MediaServiceImageTags">
    <vt:lpwstr/>
  </property>
</Properties>
</file>