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F1B5A4-6D73-4618-8583-5B1E8C0FC69A}" v="17" dt="2026-03-25T05:11:57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 Chuan Jie" userId="91b82e99-74c9-4fe3-8d59-fb7ad6983460" providerId="ADAL" clId="{72E0A4A0-E94B-4F64-96BA-AAF9E2A0A5D7}"/>
    <pc:docChg chg="undo custSel addSld delSld modSld">
      <pc:chgData name="Tan Chuan Jie" userId="91b82e99-74c9-4fe3-8d59-fb7ad6983460" providerId="ADAL" clId="{72E0A4A0-E94B-4F64-96BA-AAF9E2A0A5D7}" dt="2026-03-25T05:12:33.127" v="298" actId="18131"/>
      <pc:docMkLst>
        <pc:docMk/>
      </pc:docMkLst>
      <pc:sldChg chg="addSp delSp modSp mod">
        <pc:chgData name="Tan Chuan Jie" userId="91b82e99-74c9-4fe3-8d59-fb7ad6983460" providerId="ADAL" clId="{72E0A4A0-E94B-4F64-96BA-AAF9E2A0A5D7}" dt="2026-03-25T05:02:45.520" v="171" actId="478"/>
        <pc:sldMkLst>
          <pc:docMk/>
          <pc:sldMk cId="2640542224" sldId="256"/>
        </pc:sldMkLst>
        <pc:spChg chg="add del">
          <ac:chgData name="Tan Chuan Jie" userId="91b82e99-74c9-4fe3-8d59-fb7ad6983460" providerId="ADAL" clId="{72E0A4A0-E94B-4F64-96BA-AAF9E2A0A5D7}" dt="2026-03-25T05:01:17.259" v="157" actId="22"/>
          <ac:spMkLst>
            <pc:docMk/>
            <pc:sldMk cId="2640542224" sldId="256"/>
            <ac:spMk id="3" creationId="{4BEE45B8-CDFF-0DF2-237B-335B334AB405}"/>
          </ac:spMkLst>
        </pc:spChg>
        <pc:spChg chg="mod topLvl">
          <ac:chgData name="Tan Chuan Jie" userId="91b82e99-74c9-4fe3-8d59-fb7ad6983460" providerId="ADAL" clId="{72E0A4A0-E94B-4F64-96BA-AAF9E2A0A5D7}" dt="2026-03-05T09:57:32.951" v="101" actId="165"/>
          <ac:spMkLst>
            <pc:docMk/>
            <pc:sldMk cId="2640542224" sldId="256"/>
            <ac:spMk id="4" creationId="{5124BA0B-A019-9AE0-5047-0FB45A63C81E}"/>
          </ac:spMkLst>
        </pc:spChg>
        <pc:spChg chg="mod topLvl">
          <ac:chgData name="Tan Chuan Jie" userId="91b82e99-74c9-4fe3-8d59-fb7ad6983460" providerId="ADAL" clId="{72E0A4A0-E94B-4F64-96BA-AAF9E2A0A5D7}" dt="2026-03-05T09:59:59.615" v="155" actId="113"/>
          <ac:spMkLst>
            <pc:docMk/>
            <pc:sldMk cId="2640542224" sldId="256"/>
            <ac:spMk id="6" creationId="{9682FED1-19AD-8D51-D815-223288BE9CCB}"/>
          </ac:spMkLst>
        </pc:spChg>
        <pc:spChg chg="add del">
          <ac:chgData name="Tan Chuan Jie" userId="91b82e99-74c9-4fe3-8d59-fb7ad6983460" providerId="ADAL" clId="{72E0A4A0-E94B-4F64-96BA-AAF9E2A0A5D7}" dt="2026-03-25T05:01:22.533" v="159" actId="22"/>
          <ac:spMkLst>
            <pc:docMk/>
            <pc:sldMk cId="2640542224" sldId="256"/>
            <ac:spMk id="7" creationId="{23B92837-50ED-7D26-4B73-CA770151A570}"/>
          </ac:spMkLst>
        </pc:spChg>
        <pc:spChg chg="mod topLvl">
          <ac:chgData name="Tan Chuan Jie" userId="91b82e99-74c9-4fe3-8d59-fb7ad6983460" providerId="ADAL" clId="{72E0A4A0-E94B-4F64-96BA-AAF9E2A0A5D7}" dt="2026-03-05T09:57:32.951" v="101" actId="165"/>
          <ac:spMkLst>
            <pc:docMk/>
            <pc:sldMk cId="2640542224" sldId="256"/>
            <ac:spMk id="8" creationId="{E7ADC7C8-66D4-96F0-3B5C-330556F9D3F4}"/>
          </ac:spMkLst>
        </pc:spChg>
        <pc:spChg chg="mod">
          <ac:chgData name="Tan Chuan Jie" userId="91b82e99-74c9-4fe3-8d59-fb7ad6983460" providerId="ADAL" clId="{72E0A4A0-E94B-4F64-96BA-AAF9E2A0A5D7}" dt="2026-03-05T09:59:32.732" v="145" actId="20577"/>
          <ac:spMkLst>
            <pc:docMk/>
            <pc:sldMk cId="2640542224" sldId="256"/>
            <ac:spMk id="18" creationId="{0B98ABE1-4C6A-1561-5CB0-C9E9999E1616}"/>
          </ac:spMkLst>
        </pc:spChg>
        <pc:picChg chg="add del mod modCrop">
          <ac:chgData name="Tan Chuan Jie" userId="91b82e99-74c9-4fe3-8d59-fb7ad6983460" providerId="ADAL" clId="{72E0A4A0-E94B-4F64-96BA-AAF9E2A0A5D7}" dt="2026-03-25T05:02:45.520" v="171" actId="478"/>
          <ac:picMkLst>
            <pc:docMk/>
            <pc:sldMk cId="2640542224" sldId="256"/>
            <ac:picMk id="10" creationId="{D483862C-48EC-5089-78E5-CAC1E920B4D8}"/>
          </ac:picMkLst>
        </pc:picChg>
        <pc:cxnChg chg="mod topLvl">
          <ac:chgData name="Tan Chuan Jie" userId="91b82e99-74c9-4fe3-8d59-fb7ad6983460" providerId="ADAL" clId="{72E0A4A0-E94B-4F64-96BA-AAF9E2A0A5D7}" dt="2026-03-05T09:57:32.951" v="101" actId="165"/>
          <ac:cxnSpMkLst>
            <pc:docMk/>
            <pc:sldMk cId="2640542224" sldId="256"/>
            <ac:cxnSpMk id="12" creationId="{7727D639-21BC-C669-84BF-987705D32953}"/>
          </ac:cxnSpMkLst>
        </pc:cxnChg>
        <pc:cxnChg chg="mod topLvl">
          <ac:chgData name="Tan Chuan Jie" userId="91b82e99-74c9-4fe3-8d59-fb7ad6983460" providerId="ADAL" clId="{72E0A4A0-E94B-4F64-96BA-AAF9E2A0A5D7}" dt="2026-03-05T09:59:06.616" v="144" actId="12789"/>
          <ac:cxnSpMkLst>
            <pc:docMk/>
            <pc:sldMk cId="2640542224" sldId="256"/>
            <ac:cxnSpMk id="22" creationId="{91524494-F54F-8255-F2A4-DE6DC1CF582C}"/>
          </ac:cxnSpMkLst>
        </pc:cxnChg>
      </pc:sldChg>
      <pc:sldChg chg="new del">
        <pc:chgData name="Tan Chuan Jie" userId="91b82e99-74c9-4fe3-8d59-fb7ad6983460" providerId="ADAL" clId="{72E0A4A0-E94B-4F64-96BA-AAF9E2A0A5D7}" dt="2026-03-25T05:02:41.371" v="169" actId="680"/>
        <pc:sldMkLst>
          <pc:docMk/>
          <pc:sldMk cId="2372119181" sldId="257"/>
        </pc:sldMkLst>
      </pc:sldChg>
      <pc:sldChg chg="addSp modSp add mod">
        <pc:chgData name="Tan Chuan Jie" userId="91b82e99-74c9-4fe3-8d59-fb7ad6983460" providerId="ADAL" clId="{72E0A4A0-E94B-4F64-96BA-AAF9E2A0A5D7}" dt="2026-03-25T05:12:33.127" v="298" actId="18131"/>
        <pc:sldMkLst>
          <pc:docMk/>
          <pc:sldMk cId="4075818380" sldId="257"/>
        </pc:sldMkLst>
        <pc:spChg chg="add mod">
          <ac:chgData name="Tan Chuan Jie" userId="91b82e99-74c9-4fe3-8d59-fb7ad6983460" providerId="ADAL" clId="{72E0A4A0-E94B-4F64-96BA-AAF9E2A0A5D7}" dt="2026-03-25T05:10:58.383" v="252" actId="20577"/>
          <ac:spMkLst>
            <pc:docMk/>
            <pc:sldMk cId="4075818380" sldId="257"/>
            <ac:spMk id="2" creationId="{442446AD-41EC-C508-7846-13D7DE98CBB1}"/>
          </ac:spMkLst>
        </pc:spChg>
        <pc:spChg chg="add mod">
          <ac:chgData name="Tan Chuan Jie" userId="91b82e99-74c9-4fe3-8d59-fb7ad6983460" providerId="ADAL" clId="{72E0A4A0-E94B-4F64-96BA-AAF9E2A0A5D7}" dt="2026-03-25T05:11:07.074" v="255" actId="14100"/>
          <ac:spMkLst>
            <pc:docMk/>
            <pc:sldMk cId="4075818380" sldId="257"/>
            <ac:spMk id="3" creationId="{9C82C748-82EE-D056-4CD5-F974C461146A}"/>
          </ac:spMkLst>
        </pc:spChg>
        <pc:spChg chg="add mod">
          <ac:chgData name="Tan Chuan Jie" userId="91b82e99-74c9-4fe3-8d59-fb7ad6983460" providerId="ADAL" clId="{72E0A4A0-E94B-4F64-96BA-AAF9E2A0A5D7}" dt="2026-03-25T05:12:15.374" v="287" actId="1035"/>
          <ac:spMkLst>
            <pc:docMk/>
            <pc:sldMk cId="4075818380" sldId="257"/>
            <ac:spMk id="5" creationId="{7C43D998-C4C0-4D3B-9EBD-C672D02DDD9B}"/>
          </ac:spMkLst>
        </pc:spChg>
        <pc:spChg chg="add mod">
          <ac:chgData name="Tan Chuan Jie" userId="91b82e99-74c9-4fe3-8d59-fb7ad6983460" providerId="ADAL" clId="{72E0A4A0-E94B-4F64-96BA-AAF9E2A0A5D7}" dt="2026-03-25T05:12:15.374" v="287" actId="1035"/>
          <ac:spMkLst>
            <pc:docMk/>
            <pc:sldMk cId="4075818380" sldId="257"/>
            <ac:spMk id="7" creationId="{CBE4ADAD-4547-543F-A76A-88FA0B7E92DC}"/>
          </ac:spMkLst>
        </pc:spChg>
        <pc:spChg chg="mod">
          <ac:chgData name="Tan Chuan Jie" userId="91b82e99-74c9-4fe3-8d59-fb7ad6983460" providerId="ADAL" clId="{72E0A4A0-E94B-4F64-96BA-AAF9E2A0A5D7}" dt="2026-03-25T05:11:12.038" v="256" actId="1076"/>
          <ac:spMkLst>
            <pc:docMk/>
            <pc:sldMk cId="4075818380" sldId="257"/>
            <ac:spMk id="18" creationId="{C11E05A3-30CC-CCA5-010E-1C50A9CE844A}"/>
          </ac:spMkLst>
        </pc:spChg>
        <pc:picChg chg="mod modCrop">
          <ac:chgData name="Tan Chuan Jie" userId="91b82e99-74c9-4fe3-8d59-fb7ad6983460" providerId="ADAL" clId="{72E0A4A0-E94B-4F64-96BA-AAF9E2A0A5D7}" dt="2026-03-25T05:12:33.127" v="298" actId="18131"/>
          <ac:picMkLst>
            <pc:docMk/>
            <pc:sldMk cId="4075818380" sldId="257"/>
            <ac:picMk id="10" creationId="{7F69B0E6-6B12-FF8E-9519-DE94405222B2}"/>
          </ac:picMkLst>
        </pc:picChg>
      </pc:sldChg>
    </pc:docChg>
  </pc:docChgLst>
  <pc:docChgLst>
    <pc:chgData name="Van Kan, Jeroen Anton" userId="a1d8212a-36e3-44f9-8c40-59fbd389a369" providerId="ADAL" clId="{CCB23DA7-3464-460D-8695-87B602845007}"/>
    <pc:docChg chg="modSld">
      <pc:chgData name="Van Kan, Jeroen Anton" userId="a1d8212a-36e3-44f9-8c40-59fbd389a369" providerId="ADAL" clId="{CCB23DA7-3464-460D-8695-87B602845007}" dt="2026-03-05T11:32:30.179" v="5" actId="20577"/>
      <pc:docMkLst>
        <pc:docMk/>
      </pc:docMkLst>
      <pc:sldChg chg="modSp mod">
        <pc:chgData name="Van Kan, Jeroen Anton" userId="a1d8212a-36e3-44f9-8c40-59fbd389a369" providerId="ADAL" clId="{CCB23DA7-3464-460D-8695-87B602845007}" dt="2026-03-05T11:32:30.179" v="5" actId="20577"/>
        <pc:sldMkLst>
          <pc:docMk/>
          <pc:sldMk cId="2640542224" sldId="256"/>
        </pc:sldMkLst>
        <pc:spChg chg="mod">
          <ac:chgData name="Van Kan, Jeroen Anton" userId="a1d8212a-36e3-44f9-8c40-59fbd389a369" providerId="ADAL" clId="{CCB23DA7-3464-460D-8695-87B602845007}" dt="2026-03-05T11:32:19.019" v="1" actId="20577"/>
          <ac:spMkLst>
            <pc:docMk/>
            <pc:sldMk cId="2640542224" sldId="256"/>
            <ac:spMk id="6" creationId="{9682FED1-19AD-8D51-D815-223288BE9CCB}"/>
          </ac:spMkLst>
        </pc:spChg>
        <pc:spChg chg="mod">
          <ac:chgData name="Van Kan, Jeroen Anton" userId="a1d8212a-36e3-44f9-8c40-59fbd389a369" providerId="ADAL" clId="{CCB23DA7-3464-460D-8695-87B602845007}" dt="2026-03-05T11:32:30.179" v="5" actId="20577"/>
          <ac:spMkLst>
            <pc:docMk/>
            <pc:sldMk cId="2640542224" sldId="256"/>
            <ac:spMk id="18" creationId="{0B98ABE1-4C6A-1561-5CB0-C9E9999E16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49FBE-45AB-44C8-8CF1-02EF7D56ECBF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19242-5282-4978-B9E4-96C5EC84F47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7618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19242-5282-4978-B9E4-96C5EC84F477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1562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4CA86-06E2-33AA-BA63-9C682DA45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61979-17D1-71A1-2B9B-5F682046B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7248B-D7D7-3C5A-B854-FFAEC467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F8CE5-78BB-F6B2-77A8-24CC6237F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19242-5282-4978-B9E4-96C5EC84F477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023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1CCD-87FA-016C-06F4-0135ED949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83F7A-DE93-3F40-FA23-1B000D1E4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7288C-D0B7-0728-6A3C-044B7329A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5E27-183E-49F9-A865-B66AF0C96C28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F144B-CE8A-1B4B-A181-2D9DBBB7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298F-4787-3098-CDFA-36A4C0622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3B37-8472-48C0-8592-56D8A8DA1B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4002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5BA7E-0A5D-347C-20A3-36A847B5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2E878-585A-43C0-CF1D-FCACFCD94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2D777-4C24-6EF2-75DA-F1CCF68C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5E27-183E-49F9-A865-B66AF0C96C28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9AC91-29B5-FFB1-7C99-FF0001ECE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3FF5-A91E-936F-FF5B-5EFFF217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3B37-8472-48C0-8592-56D8A8DA1B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6122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50B7D-5F69-CA22-602B-E30B073BE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5D68C-4163-68BF-1B3C-82FFD191A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6B02D-637E-5C3C-0DE4-023514200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5E27-183E-49F9-A865-B66AF0C96C28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16C93-6B66-1D0D-3448-5A2FEFD3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D53D9-4294-3ABA-979B-DC0BA701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3B37-8472-48C0-8592-56D8A8DA1B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3651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3C381-C106-8EE1-87C1-C450D9ED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5E5D-8ACE-BF81-5546-282246CB0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9F0CB-221B-4817-BAF1-882E647A1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3CCF9-D40F-D27E-8998-D3DDD3C1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5E27-183E-49F9-A865-B66AF0C96C28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57B3F-EDCB-A485-B6A9-AC6339A22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57073-08DF-9368-5BCD-783AAD63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3B37-8472-48C0-8592-56D8A8DA1B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4496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DBA0-6F66-0387-FD72-CD72794A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BA593-895E-E7AD-1A8E-47F6CAC47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4B369-9FD6-FE0B-CF53-F08917EA7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5CCC5C-7B90-8C14-336D-2DEFFFA63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AE00E-427C-C9AF-D578-2A4E44FC3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AE20B6-38C3-B398-DB63-807E1E23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5E27-183E-49F9-A865-B66AF0C96C28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5BE7DC-36BA-F77F-A32F-7F5A5A12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BC61A-C449-1ADF-65B5-C97EB95D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3B37-8472-48C0-8592-56D8A8DA1B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463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068B9-4216-78E1-AF6C-2D2906A1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EFFBC-9F85-3803-7955-9649098EC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5E27-183E-49F9-A865-B66AF0C96C28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B04E1-1F0F-2650-B83C-4CC616B6F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DF71D7-F600-449B-20FC-9F2357D5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3B37-8472-48C0-8592-56D8A8DA1B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59536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23DCE-86F2-7D22-D1B0-A6EC79F5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5E27-183E-49F9-A865-B66AF0C96C28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10AF4C-F82D-F420-95B5-3F0FE8E04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12087-8C36-898C-7BB0-D46D1FA1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3B37-8472-48C0-8592-56D8A8DA1B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75849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B8D2F-A6C8-4DFC-FF70-EF763C2DC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E1D01-28E6-451B-609A-BE7C14965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1CF9E-E4AC-ECB4-7CF5-EAE15C6D5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3823C-61F2-BB3D-F02F-36994E87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5E27-183E-49F9-A865-B66AF0C96C28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510F0-73F8-41A3-13F5-01BCA007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A6E80-4A7D-D092-3F9E-01CC815B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3B37-8472-48C0-8592-56D8A8DA1B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353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3FA4-17C1-C248-A31F-2AC31C468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914E4-1B3F-2115-3597-ACBBD98714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DFF9F8-3354-3FB7-8C9D-531A43D70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DEA40-B1BE-A08E-1A5F-61D849D1F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5E27-183E-49F9-A865-B66AF0C96C28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2857F-ADBE-7CEA-4B73-6A6AF8281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7E997-48CC-FA0D-EE09-0B007F7A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3B37-8472-48C0-8592-56D8A8DA1B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706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A575-5541-AAF9-5728-A58F8C72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8F971-298C-8D44-48E9-60654DC8A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0F761-9DA8-63FC-D48A-BBE5DC430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5E27-183E-49F9-A865-B66AF0C96C28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65325-582F-BAC8-35DB-0A066E5F4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B58D8-CC35-AFD9-638F-15366A8AC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3B37-8472-48C0-8592-56D8A8DA1B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527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B35D3B-F575-ACC3-01A4-7150E4514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6947D-FCE9-CFB5-C8D6-B6FDF5AEA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A251E-968F-A0F3-AEFE-798C67ED2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5E27-183E-49F9-A865-B66AF0C96C28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26814-C2C8-7C4F-3396-CB9981C7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6FD59-A258-91DF-2FA5-F9D9A818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3B37-8472-48C0-8592-56D8A8DA1B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816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8CA509-B1AC-D0C4-9653-BF83FC9A0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CB711-63B4-D13A-CBA1-C373D8338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9FDA2-BF39-D8AD-FA09-5BCD6CFA0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95E27-183E-49F9-A865-B66AF0C96C28}" type="datetimeFigureOut">
              <a:rPr lang="en-SG" smtClean="0"/>
              <a:t>25/3/2026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2C57E-4BAB-3293-FB73-C0F80DAB3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C19F4-D706-6DFF-FC03-B703CE570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B3B37-8472-48C0-8592-56D8A8DA1B5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5361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B98ABE1-4C6A-1561-5CB0-C9E9999E1616}"/>
              </a:ext>
            </a:extLst>
          </p:cNvPr>
          <p:cNvSpPr txBox="1"/>
          <p:nvPr/>
        </p:nvSpPr>
        <p:spPr>
          <a:xfrm>
            <a:off x="6407819" y="489734"/>
            <a:ext cx="5411202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b="1" dirty="0">
                <a:effectLst/>
              </a:rPr>
              <a:t>Key Benefits</a:t>
            </a:r>
          </a:p>
          <a:p>
            <a:pPr algn="just"/>
            <a:r>
              <a:rPr kumimoji="0" lang="en-SG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Near-vertical sidewalls exceeding 89.5° 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surpassing typical industrial standards for etched or conventional grids, ensuring exceptional geometric fidelity and minimal profile distortion</a:t>
            </a:r>
          </a:p>
          <a:p>
            <a:pPr algn="just"/>
            <a:endParaRPr kumimoji="0" lang="en-SG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/>
            <a:r>
              <a:rPr kumimoji="0" lang="en-SG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Outstanding line straightness and orthogonality 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enabled by the straight trajectories and low scattering inherent to proton beam writing</a:t>
            </a:r>
          </a:p>
          <a:p>
            <a:pPr algn="just"/>
            <a:endParaRPr kumimoji="0" lang="en-SG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/>
            <a:r>
              <a:rPr kumimoji="0" lang="en-SG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Sharp, well-defined edges with low line-edge roughness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delivering cleaner features for precise calibration measurements</a:t>
            </a:r>
          </a:p>
          <a:p>
            <a:pPr algn="just"/>
            <a:endParaRPr kumimoji="0" lang="en-SG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/>
            <a:r>
              <a:rPr kumimoji="0" lang="en-SG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Durable, corrosion-resistant Pd surface 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optimised for reliable, repeated SEM imaging, including low-kV modes, with high secondary electron contrast</a:t>
            </a:r>
          </a:p>
          <a:p>
            <a:pPr algn="just"/>
            <a:endParaRPr kumimoji="0" lang="en-SG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/>
            <a:r>
              <a:rPr kumimoji="0" lang="en-SG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User-friendly hierarchical design 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coarse 2 </a:t>
            </a:r>
            <a:r>
              <a:rPr kumimoji="0" lang="en-SG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μm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fiducials spanning 1-2 mm allow rapid navigation from low to high magnification</a:t>
            </a:r>
          </a:p>
          <a:p>
            <a:pPr algn="just"/>
            <a:endParaRPr lang="en-SG" altLang="en-US" sz="1200" dirty="0"/>
          </a:p>
          <a:p>
            <a:pPr algn="just"/>
            <a:r>
              <a:rPr kumimoji="0" lang="en-SG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Broad compatibility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seamless use with SEM, AFM, optical metrology systems, and standard holders/stubs</a:t>
            </a:r>
          </a:p>
          <a:p>
            <a:pPr algn="just"/>
            <a:endParaRPr lang="en-SG" altLang="en-US" sz="1200" dirty="0"/>
          </a:p>
          <a:p>
            <a:pPr algn="just"/>
            <a:r>
              <a:rPr kumimoji="0" lang="en-SG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</a:t>
            </a:r>
            <a:r>
              <a:rPr kumimoji="0" lang="en-SG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GridCal</a:t>
            </a:r>
            <a:r>
              <a:rPr kumimoji="0" lang="en-SG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Stands Out</a:t>
            </a:r>
          </a:p>
          <a:p>
            <a:pPr algn="just"/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Proton beam writing delivers benchmark geometric fidelity </a:t>
            </a:r>
            <a:r>
              <a:rPr lang="en-SG" altLang="en-US" sz="1200" dirty="0"/>
              <a:t>–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straighter lines and cleaner edges than many conventional electron-beam or etched calibration grids – ensuring superior performance when precise pattern geometry is essential.</a:t>
            </a:r>
          </a:p>
          <a:p>
            <a:pPr algn="just"/>
            <a:endParaRPr lang="en-SG" altLang="en-US" sz="1200" dirty="0"/>
          </a:p>
          <a:p>
            <a:pPr algn="just"/>
            <a:r>
              <a:rPr kumimoji="0" lang="en-SG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Looking to Purchase?</a:t>
            </a:r>
          </a:p>
          <a:p>
            <a:pPr algn="just"/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Ready to upgrade your calibration precision? Contact us today for quotes, samples, or SEM-verified data on the Anoton </a:t>
            </a:r>
            <a:r>
              <a:rPr kumimoji="0" lang="en-SG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GridCal</a:t>
            </a:r>
            <a:r>
              <a:rPr lang="en-SG" altLang="en-US" sz="1200" dirty="0"/>
              <a:t> –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premium grid with near-vertical sidewalls exceeding </a:t>
            </a:r>
            <a:r>
              <a:rPr kumimoji="0" lang="en-SG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89.5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24BA0B-A019-9AE0-5047-0FB45A63C81E}"/>
              </a:ext>
            </a:extLst>
          </p:cNvPr>
          <p:cNvSpPr txBox="1"/>
          <p:nvPr/>
        </p:nvSpPr>
        <p:spPr>
          <a:xfrm>
            <a:off x="372979" y="1306185"/>
            <a:ext cx="54112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Premium Orthogonal Grid Resolution Standard</a:t>
            </a:r>
          </a:p>
          <a:p>
            <a:r>
              <a:rPr lang="en-SG" sz="1200" dirty="0">
                <a:effectLst/>
              </a:rPr>
              <a:t>Proton Beam Written for Exceptional Straightness, Edge Quality, and Metrology Precision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2FED1-19AD-8D51-D815-223288BE9CCB}"/>
              </a:ext>
            </a:extLst>
          </p:cNvPr>
          <p:cNvSpPr txBox="1"/>
          <p:nvPr/>
        </p:nvSpPr>
        <p:spPr>
          <a:xfrm>
            <a:off x="372979" y="2044849"/>
            <a:ext cx="54112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1200" dirty="0">
                <a:effectLst/>
              </a:rPr>
              <a:t>The </a:t>
            </a:r>
            <a:r>
              <a:rPr lang="en-SG" sz="1200" dirty="0" err="1">
                <a:effectLst/>
              </a:rPr>
              <a:t>Anoton</a:t>
            </a:r>
            <a:r>
              <a:rPr lang="en-SG" sz="1200" dirty="0">
                <a:effectLst/>
              </a:rPr>
              <a:t> </a:t>
            </a:r>
            <a:r>
              <a:rPr lang="en-SG" sz="1200" dirty="0" err="1">
                <a:effectLst/>
              </a:rPr>
              <a:t>GridCal</a:t>
            </a:r>
            <a:r>
              <a:rPr lang="en-SG" sz="1200" dirty="0"/>
              <a:t> </a:t>
            </a:r>
            <a:r>
              <a:rPr lang="en-SG" sz="1200" dirty="0">
                <a:effectLst/>
              </a:rPr>
              <a:t>is a high-contrast resolution standard fabricated using proton beam writing (PBW) on a silicon substrate, with a deposited 2 nm titanium adhesion layer and 100 nm palladium top layer.</a:t>
            </a:r>
          </a:p>
          <a:p>
            <a:pPr algn="just"/>
            <a:endParaRPr lang="en-SG" sz="1200" dirty="0">
              <a:effectLst/>
            </a:endParaRPr>
          </a:p>
          <a:p>
            <a:pPr algn="just"/>
            <a:r>
              <a:rPr lang="en-SG" sz="1200" dirty="0">
                <a:effectLst/>
              </a:rPr>
              <a:t>This method produces straight lines with near-vertical side walls exceeding 89.5° 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</a:t>
            </a:r>
            <a:r>
              <a:rPr lang="en-SG" sz="1200" dirty="0">
                <a:effectLst/>
              </a:rPr>
              <a:t>surpassing typical industrial standards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lang="en-SG" sz="1200" dirty="0">
                <a:effectLst/>
              </a:rPr>
              <a:t>along with minimal edge roughness, making it ideal for the most precise microscopy and metrology applications.</a:t>
            </a:r>
          </a:p>
          <a:p>
            <a:pPr algn="just"/>
            <a:endParaRPr lang="en-SG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Central orthogonal grid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horizontal + vertical lines forming a precise cross array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Nominal line width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2-5 </a:t>
            </a:r>
            <a:r>
              <a:rPr kumimoji="0" lang="el-G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m, provided for each sample and consistent within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Nominal pitch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25 </a:t>
            </a:r>
            <a:r>
              <a:rPr kumimoji="0" lang="el-G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Active central area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Ranging from 100 </a:t>
            </a:r>
            <a:r>
              <a:rPr kumimoji="0" lang="el-G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 to 200 </a:t>
            </a:r>
            <a:r>
              <a:rPr kumimoji="0" lang="el-G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Guiding markers</a:t>
            </a:r>
            <a:r>
              <a:rPr lang="en-US" altLang="en-US" sz="1200" dirty="0"/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1-2 </a:t>
            </a:r>
            <a:r>
              <a:rPr kumimoji="0" lang="el-G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 wide lines extending to 1 mm in both X and Y directions for fast location at low magnification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Material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Roughly 2 nm Ti + 100 nm Pd on Si substrate, providing </a:t>
            </a:r>
            <a:r>
              <a:rPr lang="en-US" altLang="en-US" sz="1200" dirty="0"/>
              <a:t>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igh secondary electron contrast and electrical conductivity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Typical applications</a:t>
            </a:r>
            <a:r>
              <a:rPr lang="en-US" altLang="en-US" sz="1200" dirty="0"/>
              <a:t> Magnification, distortion, orthogonality, resolution testing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ADC7C8-66D4-96F0-3B5C-330556F9D3F4}"/>
              </a:ext>
            </a:extLst>
          </p:cNvPr>
          <p:cNvSpPr txBox="1"/>
          <p:nvPr/>
        </p:nvSpPr>
        <p:spPr>
          <a:xfrm>
            <a:off x="372979" y="473501"/>
            <a:ext cx="54112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6000" dirty="0" err="1">
                <a:effectLst/>
              </a:rPr>
              <a:t>Anoton</a:t>
            </a:r>
            <a:r>
              <a:rPr lang="en-SG" sz="6000" dirty="0">
                <a:effectLst/>
              </a:rPr>
              <a:t> </a:t>
            </a:r>
            <a:r>
              <a:rPr lang="en-SG" sz="6000" dirty="0" err="1">
                <a:effectLst/>
              </a:rPr>
              <a:t>GridCal</a:t>
            </a:r>
            <a:r>
              <a:rPr lang="en-SG" sz="6000" dirty="0">
                <a:effectLst/>
              </a:rPr>
              <a:t> </a:t>
            </a:r>
            <a:endParaRPr lang="en-SG" sz="6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27D639-21BC-C669-84BF-987705D32953}"/>
              </a:ext>
            </a:extLst>
          </p:cNvPr>
          <p:cNvCxnSpPr>
            <a:cxnSpLocks/>
          </p:cNvCxnSpPr>
          <p:nvPr/>
        </p:nvCxnSpPr>
        <p:spPr>
          <a:xfrm>
            <a:off x="372979" y="2053233"/>
            <a:ext cx="54112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524494-F54F-8255-F2A4-DE6DC1CF582C}"/>
              </a:ext>
            </a:extLst>
          </p:cNvPr>
          <p:cNvCxnSpPr>
            <a:cxnSpLocks/>
          </p:cNvCxnSpPr>
          <p:nvPr/>
        </p:nvCxnSpPr>
        <p:spPr>
          <a:xfrm flipV="1">
            <a:off x="6096000" y="479889"/>
            <a:ext cx="0" cy="58982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542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BF9D6-33F9-1994-FDCF-E86B4F6F4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11E05A3-30CC-CCA5-010E-1C50A9CE844A}"/>
              </a:ext>
            </a:extLst>
          </p:cNvPr>
          <p:cNvSpPr txBox="1"/>
          <p:nvPr/>
        </p:nvSpPr>
        <p:spPr>
          <a:xfrm>
            <a:off x="6407819" y="4179185"/>
            <a:ext cx="541120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en-SG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</a:t>
            </a:r>
            <a:r>
              <a:rPr kumimoji="0" lang="en-SG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GridCal</a:t>
            </a:r>
            <a:r>
              <a:rPr kumimoji="0" lang="en-SG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Stands Out</a:t>
            </a:r>
          </a:p>
          <a:p>
            <a:pPr algn="just"/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Proton beam writing delivers benchmark geometric fidelity </a:t>
            </a:r>
            <a:r>
              <a:rPr lang="en-SG" altLang="en-US" sz="1200" dirty="0"/>
              <a:t>–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straighter lines and cleaner edges than many conventional electron-beam or etched calibration grids – ensuring superior performance when precise pattern geometry is essential.</a:t>
            </a:r>
          </a:p>
          <a:p>
            <a:pPr algn="just"/>
            <a:endParaRPr lang="en-SG" altLang="en-US" sz="1200" dirty="0"/>
          </a:p>
          <a:p>
            <a:pPr algn="just"/>
            <a:r>
              <a:rPr kumimoji="0" lang="en-SG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Looking to Purchase?</a:t>
            </a:r>
          </a:p>
          <a:p>
            <a:pPr algn="just"/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Ready to upgrade your calibration precision? Contact us today for quotes, samples, or SEM-verified data on the Anoton </a:t>
            </a:r>
            <a:r>
              <a:rPr kumimoji="0" lang="en-SG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GridCal</a:t>
            </a:r>
            <a:r>
              <a:rPr lang="en-SG" altLang="en-US" sz="1200" dirty="0"/>
              <a:t> –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premium grid with near-vertical sidewalls exceeding 89.5°.-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E53CB-80AF-8F3A-EF44-1105BAE6297B}"/>
              </a:ext>
            </a:extLst>
          </p:cNvPr>
          <p:cNvSpPr txBox="1"/>
          <p:nvPr/>
        </p:nvSpPr>
        <p:spPr>
          <a:xfrm>
            <a:off x="372979" y="1306185"/>
            <a:ext cx="54112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Premium Orthogonal Grid Resolution Standard</a:t>
            </a:r>
          </a:p>
          <a:p>
            <a:r>
              <a:rPr lang="en-SG" sz="1200" dirty="0">
                <a:effectLst/>
              </a:rPr>
              <a:t>Proton Beam Written for Exceptional Straightness, Edge Quality, and Metrology Precision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987E86-2BA7-F0FC-BC2A-D1D165375CCE}"/>
              </a:ext>
            </a:extLst>
          </p:cNvPr>
          <p:cNvSpPr txBox="1"/>
          <p:nvPr/>
        </p:nvSpPr>
        <p:spPr>
          <a:xfrm>
            <a:off x="372979" y="2044849"/>
            <a:ext cx="54112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1200" dirty="0">
                <a:effectLst/>
              </a:rPr>
              <a:t>The </a:t>
            </a:r>
            <a:r>
              <a:rPr lang="en-SG" sz="1200" dirty="0" err="1">
                <a:effectLst/>
              </a:rPr>
              <a:t>Anoton</a:t>
            </a:r>
            <a:r>
              <a:rPr lang="en-SG" sz="1200" dirty="0">
                <a:effectLst/>
              </a:rPr>
              <a:t> </a:t>
            </a:r>
            <a:r>
              <a:rPr lang="en-SG" sz="1200" dirty="0" err="1">
                <a:effectLst/>
              </a:rPr>
              <a:t>GridCal</a:t>
            </a:r>
            <a:r>
              <a:rPr lang="en-SG" sz="1200" dirty="0"/>
              <a:t> </a:t>
            </a:r>
            <a:r>
              <a:rPr lang="en-SG" sz="1200" dirty="0">
                <a:effectLst/>
              </a:rPr>
              <a:t>is a high-contrast resolution standard fabricated using proton beam writing (PBW) on a silicon substrate, with a deposited 2 nm titanium adhesion layer and 100 nm palladium top layer.</a:t>
            </a:r>
          </a:p>
          <a:p>
            <a:pPr algn="just"/>
            <a:endParaRPr lang="en-SG" sz="1200" dirty="0">
              <a:effectLst/>
            </a:endParaRPr>
          </a:p>
          <a:p>
            <a:pPr algn="just"/>
            <a:r>
              <a:rPr lang="en-SG" sz="1200" dirty="0">
                <a:effectLst/>
              </a:rPr>
              <a:t>This method produces straight lines with near-vertical side walls exceeding 89.5° 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</a:t>
            </a:r>
            <a:r>
              <a:rPr lang="en-SG" sz="1200" dirty="0">
                <a:effectLst/>
              </a:rPr>
              <a:t>surpassing typical industrial standards</a:t>
            </a:r>
            <a:r>
              <a:rPr kumimoji="0" lang="en-SG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lang="en-SG" sz="1200" dirty="0">
                <a:effectLst/>
              </a:rPr>
              <a:t>along with minimal edge roughness, making it ideal for the most precise microscopy and metrology applications.</a:t>
            </a:r>
          </a:p>
          <a:p>
            <a:pPr algn="just"/>
            <a:endParaRPr lang="en-SG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Central orthogonal grid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horizontal + vertical lines forming a precise cross array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Nominal line width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2-5 </a:t>
            </a:r>
            <a:r>
              <a:rPr kumimoji="0" lang="el-G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m, provided for each sample and consistent within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Nominal pitch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25 </a:t>
            </a:r>
            <a:r>
              <a:rPr kumimoji="0" lang="el-G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Active central area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Ranging from 100 </a:t>
            </a:r>
            <a:r>
              <a:rPr kumimoji="0" lang="el-G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 to 200 </a:t>
            </a:r>
            <a:r>
              <a:rPr kumimoji="0" lang="el-G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Guiding markers</a:t>
            </a:r>
            <a:r>
              <a:rPr lang="en-US" altLang="en-US" sz="1200" dirty="0"/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1-2 </a:t>
            </a:r>
            <a:r>
              <a:rPr kumimoji="0" lang="el-G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 wide lines extending to 1 mm in both X and Y directions for fast location at low magnification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Material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Roughly 2 nm Ti + 100 nm Pd on Si substrate, providing </a:t>
            </a:r>
            <a:r>
              <a:rPr lang="en-US" altLang="en-US" sz="1200" dirty="0"/>
              <a:t>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igh secondary electron contrast and electrical conductivity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/>
              <a:t>Typical applications</a:t>
            </a:r>
            <a:r>
              <a:rPr lang="en-US" altLang="en-US" sz="1200" dirty="0"/>
              <a:t> Magnification, distortion, orthogonality, resolution testing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3F309B-DDED-2ABF-44D1-D4A9D2CB72F2}"/>
              </a:ext>
            </a:extLst>
          </p:cNvPr>
          <p:cNvSpPr txBox="1"/>
          <p:nvPr/>
        </p:nvSpPr>
        <p:spPr>
          <a:xfrm>
            <a:off x="372979" y="473501"/>
            <a:ext cx="54112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6000" dirty="0" err="1">
                <a:effectLst/>
              </a:rPr>
              <a:t>Anoton</a:t>
            </a:r>
            <a:r>
              <a:rPr lang="en-SG" sz="6000" dirty="0">
                <a:effectLst/>
              </a:rPr>
              <a:t> </a:t>
            </a:r>
            <a:r>
              <a:rPr lang="en-SG" sz="6000" dirty="0" err="1">
                <a:effectLst/>
              </a:rPr>
              <a:t>GridCal</a:t>
            </a:r>
            <a:r>
              <a:rPr lang="en-SG" sz="6000" dirty="0">
                <a:effectLst/>
              </a:rPr>
              <a:t> </a:t>
            </a:r>
            <a:endParaRPr lang="en-SG" sz="6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5CBFE-6F85-E9F8-C2F5-9D65F39F36B9}"/>
              </a:ext>
            </a:extLst>
          </p:cNvPr>
          <p:cNvCxnSpPr>
            <a:cxnSpLocks/>
          </p:cNvCxnSpPr>
          <p:nvPr/>
        </p:nvCxnSpPr>
        <p:spPr>
          <a:xfrm>
            <a:off x="372979" y="2053233"/>
            <a:ext cx="54112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179F63C-327F-E85E-25DF-623418BBE907}"/>
              </a:ext>
            </a:extLst>
          </p:cNvPr>
          <p:cNvCxnSpPr>
            <a:cxnSpLocks/>
          </p:cNvCxnSpPr>
          <p:nvPr/>
        </p:nvCxnSpPr>
        <p:spPr>
          <a:xfrm flipV="1">
            <a:off x="6096000" y="479889"/>
            <a:ext cx="0" cy="58982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F69B0E6-6B12-FF8E-9519-DE9440522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99" t="22164" r="25308" b="10336"/>
          <a:stretch>
            <a:fillRect/>
          </a:stretch>
        </p:blipFill>
        <p:spPr>
          <a:xfrm>
            <a:off x="9341344" y="479891"/>
            <a:ext cx="2477676" cy="24474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2446AD-41EC-C508-7846-13D7DE98CBB1}"/>
              </a:ext>
            </a:extLst>
          </p:cNvPr>
          <p:cNvSpPr txBox="1"/>
          <p:nvPr/>
        </p:nvSpPr>
        <p:spPr>
          <a:xfrm>
            <a:off x="6407818" y="613688"/>
            <a:ext cx="2849956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en-SG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Benefits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SG" altLang="en-US" sz="1050" b="1" dirty="0"/>
              <a:t>Near-vertical sidewalls exceeding 89.5°</a:t>
            </a:r>
            <a:r>
              <a:rPr lang="en-SG" altLang="en-US" sz="1050" dirty="0"/>
              <a:t> surpassing typical industrial standards for etched or conventional grids, ensuring exceptional geometric fidelity and minimal profile distortion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SG" altLang="en-US" sz="1050" b="1" dirty="0"/>
              <a:t>Outstanding line straightness and orthogonality</a:t>
            </a:r>
            <a:r>
              <a:rPr lang="en-SG" altLang="en-US" sz="1050" dirty="0"/>
              <a:t> enabled by the straight trajectories and low scattering inherent to proton beam writing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SG" altLang="en-US" sz="1050" b="1" dirty="0"/>
              <a:t>Sharp, well-defined edges with low line-edge roughness</a:t>
            </a:r>
            <a:r>
              <a:rPr lang="en-SG" altLang="en-US" sz="1050" dirty="0"/>
              <a:t> delivering cleaner features for precise calibration measurements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82C748-82EE-D056-4CD5-F974C461146A}"/>
              </a:ext>
            </a:extLst>
          </p:cNvPr>
          <p:cNvSpPr txBox="1"/>
          <p:nvPr/>
        </p:nvSpPr>
        <p:spPr>
          <a:xfrm>
            <a:off x="6407817" y="2927351"/>
            <a:ext cx="5411197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SG" altLang="en-US" sz="1050" b="1" dirty="0"/>
              <a:t>Durable, corrosion-resistant Pd surface </a:t>
            </a:r>
            <a:r>
              <a:rPr lang="en-SG" altLang="en-US" sz="1050" dirty="0"/>
              <a:t>optimised for reliable, repeated SEM imaging, including low-kV modes, with high secondary electron contrast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SG" altLang="en-US" sz="1050" b="1" dirty="0"/>
              <a:t>User-friendly hierarchical design</a:t>
            </a:r>
            <a:r>
              <a:rPr lang="en-SG" altLang="en-US" sz="1050" dirty="0"/>
              <a:t> coarse 2 </a:t>
            </a:r>
            <a:r>
              <a:rPr lang="en-SG" altLang="en-US" sz="1050" dirty="0" err="1"/>
              <a:t>μm</a:t>
            </a:r>
            <a:r>
              <a:rPr lang="en-SG" altLang="en-US" sz="1050" dirty="0"/>
              <a:t> fiducials spanning 1-2 mm allow rapid navigation from low to high magnification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SG" altLang="en-US" sz="1050" b="1" dirty="0"/>
              <a:t>Broad compatibility </a:t>
            </a:r>
            <a:r>
              <a:rPr lang="en-SG" altLang="en-US" sz="1050" dirty="0"/>
              <a:t>seamless use with SEM, AFM, optical metrology systems, and standard holders/stubs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43D998-C4C0-4D3B-9EBD-C672D02DDD9B}"/>
              </a:ext>
            </a:extLst>
          </p:cNvPr>
          <p:cNvSpPr/>
          <p:nvPr/>
        </p:nvSpPr>
        <p:spPr>
          <a:xfrm>
            <a:off x="10947400" y="2628900"/>
            <a:ext cx="37465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4ADAD-4547-543F-A76A-88FA0B7E92DC}"/>
              </a:ext>
            </a:extLst>
          </p:cNvPr>
          <p:cNvSpPr txBox="1"/>
          <p:nvPr/>
        </p:nvSpPr>
        <p:spPr>
          <a:xfrm>
            <a:off x="10831597" y="2628900"/>
            <a:ext cx="606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1200" b="1" dirty="0"/>
              <a:t>25 </a:t>
            </a:r>
            <a:r>
              <a:rPr lang="el-GR" sz="1200" b="1" dirty="0"/>
              <a:t>μ</a:t>
            </a:r>
            <a:r>
              <a:rPr lang="en-SG" sz="1200" b="1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4075818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0CB9A70ABD934AB75DB6E64DCC563E" ma:contentTypeVersion="18" ma:contentTypeDescription="Create a new document." ma:contentTypeScope="" ma:versionID="d1d91ea53b9b7bf9fd6a6b6ea9594d35">
  <xsd:schema xmlns:xsd="http://www.w3.org/2001/XMLSchema" xmlns:xs="http://www.w3.org/2001/XMLSchema" xmlns:p="http://schemas.microsoft.com/office/2006/metadata/properties" xmlns:ns2="d57804ca-f4b6-4d1a-bc7b-09e1480f5f77" xmlns:ns3="a67a9ec7-d99c-4343-a116-3e51ba2009d6" targetNamespace="http://schemas.microsoft.com/office/2006/metadata/properties" ma:root="true" ma:fieldsID="f5627cd3b8217e15a0749f2218d22b14" ns2:_="" ns3:_="">
    <xsd:import namespace="d57804ca-f4b6-4d1a-bc7b-09e1480f5f77"/>
    <xsd:import namespace="a67a9ec7-d99c-4343-a116-3e51ba2009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7804ca-f4b6-4d1a-bc7b-09e1480f5f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cca7581-5256-458a-b218-643d9525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7a9ec7-d99c-4343-a116-3e51ba2009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6d9742c-e832-40f1-814f-5ece4a5cce65}" ma:internalName="TaxCatchAll" ma:showField="CatchAllData" ma:web="a67a9ec7-d99c-4343-a116-3e51ba200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7a9ec7-d99c-4343-a116-3e51ba2009d6" xsi:nil="true"/>
    <lcf76f155ced4ddcb4097134ff3c332f xmlns="d57804ca-f4b6-4d1a-bc7b-09e1480f5f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16AA5A6-9604-4DCF-91E1-C044E7880A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7804ca-f4b6-4d1a-bc7b-09e1480f5f77"/>
    <ds:schemaRef ds:uri="a67a9ec7-d99c-4343-a116-3e51ba2009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38E528-C23E-4D32-A897-E5B4D54D80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7E7749-B4EE-44D3-87A6-88325FBA5294}">
  <ds:schemaRefs>
    <ds:schemaRef ds:uri="http://purl.org/dc/elements/1.1/"/>
    <ds:schemaRef ds:uri="http://schemas.microsoft.com/office/2006/metadata/properties"/>
    <ds:schemaRef ds:uri="http://www.w3.org/XML/1998/namespace"/>
    <ds:schemaRef ds:uri="d57804ca-f4b6-4d1a-bc7b-09e1480f5f77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a67a9ec7-d99c-4343-a116-3e51ba2009d6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759</Words>
  <Application>Microsoft Office PowerPoint</Application>
  <PresentationFormat>Widescreen</PresentationFormat>
  <Paragraphs>73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 Chuan Jie</dc:creator>
  <cp:lastModifiedBy>Tan Chuan Jie</cp:lastModifiedBy>
  <cp:revision>1</cp:revision>
  <dcterms:created xsi:type="dcterms:W3CDTF">2026-03-05T06:54:45Z</dcterms:created>
  <dcterms:modified xsi:type="dcterms:W3CDTF">2026-03-25T05:12:36Z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0x010100CE0CB9A70ABD934AB75DB6E64DCC563E</vt:lpwstr>
  </property>
  <property fmtid="{D5CDD505-2E9C-101B-9397-08002B2CF9AE}" pid="3" name="MediaServiceImageTags">
    <vt:lpwstr/>
  </property>
</Properties>
</file>